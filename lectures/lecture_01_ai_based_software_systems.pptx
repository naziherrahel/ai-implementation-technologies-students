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5f47ea542c4ee3" /><Relationship Type="http://schemas.openxmlformats.org/officeDocument/2006/relationships/extended-properties" Target="/docProps/app.xml" Id="Rd80d25c2b7fc4683" /><Relationship Type="http://schemas.openxmlformats.org/officeDocument/2006/relationships/officeDocument" Target="/ppt/presentation.xml" Id="R16a661fc550545a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4ca2f94173b4e0b"/>
  </p:sldMasterIdLst>
  <p:notesMasterIdLst>
    <p:notesMasterId xmlns:r="http://schemas.openxmlformats.org/officeDocument/2006/relationships" r:id="R91e944b13a3b44b0"/>
  </p:notesMasterIdLst>
  <p:sldIdLst>
    <p:sldId xmlns:r="http://schemas.openxmlformats.org/officeDocument/2006/relationships" id="256" r:id="R05faa26cd8f844b5"/>
    <p:sldId xmlns:r="http://schemas.openxmlformats.org/officeDocument/2006/relationships" id="257" r:id="Rb27d3d6f9ffd4b37"/>
    <p:sldId xmlns:r="http://schemas.openxmlformats.org/officeDocument/2006/relationships" id="258" r:id="Rcfc11884db8842b1"/>
    <p:sldId xmlns:r="http://schemas.openxmlformats.org/officeDocument/2006/relationships" id="259" r:id="R51b7ae1b080f4df8"/>
    <p:sldId xmlns:r="http://schemas.openxmlformats.org/officeDocument/2006/relationships" id="260" r:id="Ra3235e6f1ec7473c"/>
    <p:sldId xmlns:r="http://schemas.openxmlformats.org/officeDocument/2006/relationships" id="261" r:id="R686b97430f274f10"/>
    <p:sldId xmlns:r="http://schemas.openxmlformats.org/officeDocument/2006/relationships" id="262" r:id="R875b7594a66a47fa"/>
    <p:sldId xmlns:r="http://schemas.openxmlformats.org/officeDocument/2006/relationships" id="263" r:id="Re3db2c3b866e4985"/>
    <p:sldId xmlns:r="http://schemas.openxmlformats.org/officeDocument/2006/relationships" id="264" r:id="R1c7fca82151b41d3"/>
    <p:sldId xmlns:r="http://schemas.openxmlformats.org/officeDocument/2006/relationships" id="265" r:id="Rb9b1e0bd2a8f4268"/>
    <p:sldId xmlns:r="http://schemas.openxmlformats.org/officeDocument/2006/relationships" id="266" r:id="R919965e210544ffa"/>
    <p:sldId xmlns:r="http://schemas.openxmlformats.org/officeDocument/2006/relationships" id="267" r:id="R541f532799984fbc"/>
    <p:sldId xmlns:r="http://schemas.openxmlformats.org/officeDocument/2006/relationships" id="268" r:id="R964bd68e7b3b4625"/>
    <p:sldId xmlns:r="http://schemas.openxmlformats.org/officeDocument/2006/relationships" id="269" r:id="Rfa604b2945284b09"/>
    <p:sldId xmlns:r="http://schemas.openxmlformats.org/officeDocument/2006/relationships" id="270" r:id="Ra5a722d99639403d"/>
    <p:sldId xmlns:r="http://schemas.openxmlformats.org/officeDocument/2006/relationships" id="271" r:id="Rcb44104daf324397"/>
    <p:sldId xmlns:r="http://schemas.openxmlformats.org/officeDocument/2006/relationships" id="272" r:id="R658c30d8a1324cd0"/>
    <p:sldId xmlns:r="http://schemas.openxmlformats.org/officeDocument/2006/relationships" id="273" r:id="R74f5058b30224ca8"/>
    <p:sldId xmlns:r="http://schemas.openxmlformats.org/officeDocument/2006/relationships" id="274" r:id="R183ddd77c25541b9"/>
    <p:sldId xmlns:r="http://schemas.openxmlformats.org/officeDocument/2006/relationships" id="275" r:id="R590d4f50f339438c"/>
    <p:sldId xmlns:r="http://schemas.openxmlformats.org/officeDocument/2006/relationships" id="276" r:id="R8310e71f3525427f"/>
    <p:sldId xmlns:r="http://schemas.openxmlformats.org/officeDocument/2006/relationships" id="277" r:id="R0ed480fc9a3f4c2a"/>
    <p:sldId xmlns:r="http://schemas.openxmlformats.org/officeDocument/2006/relationships" id="278" r:id="R77d51e1487664311"/>
  </p:sldIdLst>
  <p:sldSz cx="12192000" cy="6858000"/>
  <p:notesSz cx="6858000" cy="9144000"/>
  <p:embeddedFontLst>
    <p:embeddedFont>
      <p:font typeface="Play"/>
      <p:regular xmlns:r="http://schemas.openxmlformats.org/officeDocument/2006/relationships" r:id="R6ff32543caab4920"/>
      <p:bold xmlns:r="http://schemas.openxmlformats.org/officeDocument/2006/relationships" r:id="R091150591134486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95ea972bef4ef4" /><Relationship Type="http://schemas.openxmlformats.org/officeDocument/2006/relationships/slideMaster" Target="/ppt/slideMasters/slideMaster1.xml" Id="Rb4ca2f94173b4e0b" /><Relationship Type="http://schemas.openxmlformats.org/officeDocument/2006/relationships/notesMaster" Target="/ppt/notesMasters/notesMaster1.xml" Id="R91e944b13a3b44b0" /><Relationship Type="http://schemas.openxmlformats.org/officeDocument/2006/relationships/presProps" Target="/ppt/presProps.xml" Id="Reec3dd4fcae8412a" /><Relationship Type="http://schemas.openxmlformats.org/officeDocument/2006/relationships/tableStyles" Target="/ppt/tableStyles.xml" Id="Rf7cf6040e69740ea" /><Relationship Type="http://schemas.openxmlformats.org/officeDocument/2006/relationships/font" Target="/ppt/fonts/font.dat" Id="R6ff32543caab4920" /><Relationship Type="http://schemas.openxmlformats.org/officeDocument/2006/relationships/font" Target="/ppt/fonts/font2.dat" Id="R0911505911344866" /><Relationship Type="http://schemas.openxmlformats.org/officeDocument/2006/relationships/slide" Target="/ppt/slides/slide1.xml" Id="R05faa26cd8f844b5" /><Relationship Type="http://schemas.openxmlformats.org/officeDocument/2006/relationships/slide" Target="/ppt/slides/slide2.xml" Id="Rb27d3d6f9ffd4b37" /><Relationship Type="http://schemas.openxmlformats.org/officeDocument/2006/relationships/slide" Target="/ppt/slides/slide3.xml" Id="Rcfc11884db8842b1" /><Relationship Type="http://schemas.openxmlformats.org/officeDocument/2006/relationships/slide" Target="/ppt/slides/slide4.xml" Id="R51b7ae1b080f4df8" /><Relationship Type="http://schemas.openxmlformats.org/officeDocument/2006/relationships/slide" Target="/ppt/slides/slide5.xml" Id="Ra3235e6f1ec7473c" /><Relationship Type="http://schemas.openxmlformats.org/officeDocument/2006/relationships/slide" Target="/ppt/slides/slide6.xml" Id="R686b97430f274f10" /><Relationship Type="http://schemas.openxmlformats.org/officeDocument/2006/relationships/slide" Target="/ppt/slides/slide7.xml" Id="R875b7594a66a47fa" /><Relationship Type="http://schemas.openxmlformats.org/officeDocument/2006/relationships/slide" Target="/ppt/slides/slide8.xml" Id="Re3db2c3b866e4985" /><Relationship Type="http://schemas.openxmlformats.org/officeDocument/2006/relationships/slide" Target="/ppt/slides/slide9.xml" Id="R1c7fca82151b41d3" /><Relationship Type="http://schemas.openxmlformats.org/officeDocument/2006/relationships/slide" Target="/ppt/slides/slide10.xml" Id="Rb9b1e0bd2a8f4268" /><Relationship Type="http://schemas.openxmlformats.org/officeDocument/2006/relationships/slide" Target="/ppt/slides/slide11.xml" Id="R919965e210544ffa" /><Relationship Type="http://schemas.openxmlformats.org/officeDocument/2006/relationships/slide" Target="/ppt/slides/slide12.xml" Id="R541f532799984fbc" /><Relationship Type="http://schemas.openxmlformats.org/officeDocument/2006/relationships/slide" Target="/ppt/slides/slide13.xml" Id="R964bd68e7b3b4625" /><Relationship Type="http://schemas.openxmlformats.org/officeDocument/2006/relationships/slide" Target="/ppt/slides/slide14.xml" Id="Rfa604b2945284b09" /><Relationship Type="http://schemas.openxmlformats.org/officeDocument/2006/relationships/slide" Target="/ppt/slides/slide15.xml" Id="Ra5a722d99639403d" /><Relationship Type="http://schemas.openxmlformats.org/officeDocument/2006/relationships/slide" Target="/ppt/slides/slide16.xml" Id="Rcb44104daf324397" /><Relationship Type="http://schemas.openxmlformats.org/officeDocument/2006/relationships/slide" Target="/ppt/slides/slide17.xml" Id="R658c30d8a1324cd0" /><Relationship Type="http://schemas.openxmlformats.org/officeDocument/2006/relationships/slide" Target="/ppt/slides/slide18.xml" Id="R74f5058b30224ca8" /><Relationship Type="http://schemas.openxmlformats.org/officeDocument/2006/relationships/slide" Target="/ppt/slides/slide19.xml" Id="R183ddd77c25541b9" /><Relationship Type="http://schemas.openxmlformats.org/officeDocument/2006/relationships/slide" Target="/ppt/slides/slide20.xml" Id="R590d4f50f339438c" /><Relationship Type="http://schemas.openxmlformats.org/officeDocument/2006/relationships/slide" Target="/ppt/slides/slide21.xml" Id="R8310e71f3525427f" /><Relationship Type="http://schemas.openxmlformats.org/officeDocument/2006/relationships/slide" Target="/ppt/slides/slide22.xml" Id="R0ed480fc9a3f4c2a" /><Relationship Type="http://schemas.openxmlformats.org/officeDocument/2006/relationships/slide" Target="/ppt/slides/slide23.xml" Id="R77d51e14876643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787f8d752148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c8e5c3d99a4a3c" /><Relationship Type="http://schemas.openxmlformats.org/officeDocument/2006/relationships/notesMaster" Target="/ppt/notesMasters/notesMaster1.xml" Id="R7707c30cdfb149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58b0fe13074c7f" /><Relationship Type="http://schemas.openxmlformats.org/officeDocument/2006/relationships/notesMaster" Target="/ppt/notesMasters/notesMaster1.xml" Id="R00090a354ea64a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d2bf81b93a4bc3" /><Relationship Type="http://schemas.openxmlformats.org/officeDocument/2006/relationships/notesMaster" Target="/ppt/notesMasters/notesMaster1.xml" Id="R2001c520c6764e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10f32948cc489d" /><Relationship Type="http://schemas.openxmlformats.org/officeDocument/2006/relationships/notesMaster" Target="/ppt/notesMasters/notesMaster1.xml" Id="R20f4b2c80a3c46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ea2a50719446f2" /><Relationship Type="http://schemas.openxmlformats.org/officeDocument/2006/relationships/notesMaster" Target="/ppt/notesMasters/notesMaster1.xml" Id="Refa1ce33579441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22db60fd9f46f8" /><Relationship Type="http://schemas.openxmlformats.org/officeDocument/2006/relationships/notesMaster" Target="/ppt/notesMasters/notesMaster1.xml" Id="R971d4b311d7142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64fb0afe92413e" /><Relationship Type="http://schemas.openxmlformats.org/officeDocument/2006/relationships/notesMaster" Target="/ppt/notesMasters/notesMaster1.xml" Id="Rbdff993139c94b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a4921dc9f241e9" /><Relationship Type="http://schemas.openxmlformats.org/officeDocument/2006/relationships/notesMaster" Target="/ppt/notesMasters/notesMaster1.xml" Id="R6ea2bf3a35214a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03be018b034f90" /><Relationship Type="http://schemas.openxmlformats.org/officeDocument/2006/relationships/notesMaster" Target="/ppt/notesMasters/notesMaster1.xml" Id="R32acca04cba349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eaf6b59247443f" /><Relationship Type="http://schemas.openxmlformats.org/officeDocument/2006/relationships/notesMaster" Target="/ppt/notesMasters/notesMaster1.xml" Id="Re86b75f70c9643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7e3277cb774e2a" /><Relationship Type="http://schemas.openxmlformats.org/officeDocument/2006/relationships/notesMaster" Target="/ppt/notesMasters/notesMaster1.xml" Id="R67c24910edfc4e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70b3e887f34daa" /><Relationship Type="http://schemas.openxmlformats.org/officeDocument/2006/relationships/notesMaster" Target="/ppt/notesMasters/notesMaster1.xml" Id="R406503b88bf842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7d740773eb433c" /><Relationship Type="http://schemas.openxmlformats.org/officeDocument/2006/relationships/notesMaster" Target="/ppt/notesMasters/notesMaster1.xml" Id="Re71e0b494bb747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a9766cf0a74936" /><Relationship Type="http://schemas.openxmlformats.org/officeDocument/2006/relationships/notesMaster" Target="/ppt/notesMasters/notesMaster1.xml" Id="R72a260101fe747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c12a031faac46f8" /><Relationship Type="http://schemas.openxmlformats.org/officeDocument/2006/relationships/notesMaster" Target="/ppt/notesMasters/notesMaster1.xml" Id="R85fe2539f4bb4f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b447725f844119" /><Relationship Type="http://schemas.openxmlformats.org/officeDocument/2006/relationships/notesMaster" Target="/ppt/notesMasters/notesMaster1.xml" Id="Rb0365224425146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23530de8ed846a5" /><Relationship Type="http://schemas.openxmlformats.org/officeDocument/2006/relationships/notesMaster" Target="/ppt/notesMasters/notesMaster1.xml" Id="R0633ba991d2a4f5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8d48e33f2c4783" /><Relationship Type="http://schemas.openxmlformats.org/officeDocument/2006/relationships/notesMaster" Target="/ppt/notesMasters/notesMaster1.xml" Id="R32b1c05cba4a4c0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ac0a2911d814da4" /><Relationship Type="http://schemas.openxmlformats.org/officeDocument/2006/relationships/notesMaster" Target="/ppt/notesMasters/notesMaster1.xml" Id="R310e79c75f7d42a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19b9517ea0940cc" /><Relationship Type="http://schemas.openxmlformats.org/officeDocument/2006/relationships/notesMaster" Target="/ppt/notesMasters/notesMaster1.xml" Id="R64aee1f26c4a406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4624b6cc5684736" /><Relationship Type="http://schemas.openxmlformats.org/officeDocument/2006/relationships/notesMaster" Target="/ppt/notesMasters/notesMaster1.xml" Id="Re00c34f3d342458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edc92bde17648c4" /><Relationship Type="http://schemas.openxmlformats.org/officeDocument/2006/relationships/notesMaster" Target="/ppt/notesMasters/notesMaster1.xml" Id="Re15e1b578a03431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9ed858a203149e4" /><Relationship Type="http://schemas.openxmlformats.org/officeDocument/2006/relationships/notesMaster" Target="/ppt/notesMasters/notesMaster1.xml" Id="Red9315cfdf8a46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026dde9a4c4a79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0c4ee87ace4ee7" /><Relationship Type="http://schemas.openxmlformats.org/officeDocument/2006/relationships/slideLayout" Target="/ppt/slideLayouts/slideLayout1.xml" Id="Ra645ab00ba6d4f4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45ab00ba6d4f40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89ee86e3d4203" /><Relationship Type="http://schemas.openxmlformats.org/officeDocument/2006/relationships/notesSlide" Target="/ppt/notesSlides/notesSlide1.xml" Id="Rd0f345228ac44b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b77d9ae81455e" /><Relationship Type="http://schemas.openxmlformats.org/officeDocument/2006/relationships/notesSlide" Target="/ppt/notesSlides/notesSlide2.xml" Id="R7c92ab10f73f49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284f7713e405f" /><Relationship Type="http://schemas.openxmlformats.org/officeDocument/2006/relationships/notesSlide" Target="/ppt/notesSlides/notesSlide3.xml" Id="R3a4fd608cf6b49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0196ca6bf4cc4" /><Relationship Type="http://schemas.openxmlformats.org/officeDocument/2006/relationships/notesSlide" Target="/ppt/notesSlides/notesSlide4.xml" Id="R46209a45d1db43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6c12d9eb64df2" /><Relationship Type="http://schemas.openxmlformats.org/officeDocument/2006/relationships/notesSlide" Target="/ppt/notesSlides/notesSlide5.xml" Id="Rf3599520089d4e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074a3d0854f05" /><Relationship Type="http://schemas.openxmlformats.org/officeDocument/2006/relationships/notesSlide" Target="/ppt/notesSlides/notesSlide6.xml" Id="R6749cdc9e7f041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cb5062b6344a3" /><Relationship Type="http://schemas.openxmlformats.org/officeDocument/2006/relationships/notesSlide" Target="/ppt/notesSlides/notesSlide7.xml" Id="Rb8315e2c75af45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77c05347c4b9e" /><Relationship Type="http://schemas.openxmlformats.org/officeDocument/2006/relationships/notesSlide" Target="/ppt/notesSlides/notesSlide8.xml" Id="Rd1611d82693746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361da49504d7a" /><Relationship Type="http://schemas.openxmlformats.org/officeDocument/2006/relationships/notesSlide" Target="/ppt/notesSlides/notesSlide9.xml" Id="R7c11e18eb0e04f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daa4f7488488f" /><Relationship Type="http://schemas.openxmlformats.org/officeDocument/2006/relationships/image" Target="/ppt/media/image.png" Id="R005c0b34d78b4f2b" /><Relationship Type="http://schemas.openxmlformats.org/officeDocument/2006/relationships/notesSlide" Target="/ppt/notesSlides/notesSlide10.xml" Id="Rc2959037df3841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390ad215e4e09" /><Relationship Type="http://schemas.openxmlformats.org/officeDocument/2006/relationships/notesSlide" Target="/ppt/notesSlides/notesSlide11.xml" Id="R743a02aa4e9d41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dd3ba9c7a4335" /><Relationship Type="http://schemas.openxmlformats.org/officeDocument/2006/relationships/notesSlide" Target="/ppt/notesSlides/notesSlide12.xml" Id="Rbb2d172f4fe448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8e6a5637c46b2" /><Relationship Type="http://schemas.openxmlformats.org/officeDocument/2006/relationships/image" Target="/ppt/media/image2.png" Id="Rc449e50b8f004eca" /><Relationship Type="http://schemas.openxmlformats.org/officeDocument/2006/relationships/notesSlide" Target="/ppt/notesSlides/notesSlide13.xml" Id="Rf719e86a2b4648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d79a4b0fe45eb" /><Relationship Type="http://schemas.openxmlformats.org/officeDocument/2006/relationships/notesSlide" Target="/ppt/notesSlides/notesSlide14.xml" Id="R8039fedc65f04e5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2218041704349" /><Relationship Type="http://schemas.openxmlformats.org/officeDocument/2006/relationships/notesSlide" Target="/ppt/notesSlides/notesSlide15.xml" Id="Rf9a7b4a0f5b14e6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e3a6672da46cc" /><Relationship Type="http://schemas.openxmlformats.org/officeDocument/2006/relationships/notesSlide" Target="/ppt/notesSlides/notesSlide16.xml" Id="R6efe3658356e4ac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ee4ae82e24791" /><Relationship Type="http://schemas.openxmlformats.org/officeDocument/2006/relationships/notesSlide" Target="/ppt/notesSlides/notesSlide17.xml" Id="Ra4bc861922b7476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5f7ad12a84095" /><Relationship Type="http://schemas.openxmlformats.org/officeDocument/2006/relationships/notesSlide" Target="/ppt/notesSlides/notesSlide18.xml" Id="Redc4c6f934274fd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e5fb1ab0d4148" /><Relationship Type="http://schemas.openxmlformats.org/officeDocument/2006/relationships/notesSlide" Target="/ppt/notesSlides/notesSlide19.xml" Id="R00cf78863351417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ddc61727448c7" /><Relationship Type="http://schemas.openxmlformats.org/officeDocument/2006/relationships/notesSlide" Target="/ppt/notesSlides/notesSlide20.xml" Id="R7fa1a0d5dbe54ad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a98b41a274cda" /><Relationship Type="http://schemas.openxmlformats.org/officeDocument/2006/relationships/notesSlide" Target="/ppt/notesSlides/notesSlide21.xml" Id="Ra6d169e550704be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fd0b4fe034a70" /><Relationship Type="http://schemas.openxmlformats.org/officeDocument/2006/relationships/notesSlide" Target="/ppt/notesSlides/notesSlide22.xml" Id="R2cf81884270c484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95b926e5f4ea6" /><Relationship Type="http://schemas.openxmlformats.org/officeDocument/2006/relationships/notesSlide" Target="/ppt/notesSlides/notesSlide23.xml" Id="R0833611815114f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Google Shape;16;p3"/>
          <p:cNvCxnSpPr/>
          <p:nvPr/>
        </p:nvCxnSpPr>
        <p:spPr>
          <a:xfrm xmlns:a="http://schemas.openxmlformats.org/drawingml/2006/main">
            <a:off x="841248" y="749808"/>
            <a:ext cx="2221992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DFEFB5DB-8FEE-4D5D-9231-C9D81979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060704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50"/>
              <a:buFont typeface="Arial"/>
              <a:buNone/>
            </a:pPr>
            <a:r>
              <a:rPr sz="115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LECTURE 1</a:t>
            </a:r>
            <a:endParaRPr sz="11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6AFED890-BF9D-475B-9CA6-5DF5897A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9052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3100"/>
              <a:buFont typeface="Play"/>
              <a:buNone/>
            </a:pPr>
            <a:r>
              <a:rPr sz="310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AI-Based Software Systems</a:t>
            </a:r>
            <a:endParaRPr sz="31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3100"/>
              <a:buFont typeface="Play"/>
              <a:buNone/>
            </a:pPr>
            <a:r>
              <a:rPr sz="310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and the MLOps Lifecycle</a:t>
            </a:r>
            <a:endParaRPr sz="31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BBADEEEA-7586-4FD9-9BC9-CB71A884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07792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14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FF577538-C48D-437B-9582-262AD434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101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120"/>
              <a:buFont typeface="Arial"/>
              <a:buNone/>
            </a:pPr>
            <a:r>
              <a:rPr sz="11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Senior Lecturer • AI &amp; Computer Vision</a:t>
            </a:r>
            <a:endParaRPr sz="11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273B32A6-0926-42AC-A490-F440B240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639312"/>
            <a:ext cx="65836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60"/>
              <a:buFont typeface="Arial"/>
              <a:buNone/>
            </a:pPr>
            <a:r>
              <a:rPr sz="106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4th-year university course | Production AI systems engineering</a:t>
            </a:r>
            <a:endParaRPr sz="10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6BE8BFD2-493E-46AE-A990-14C6E73A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10912"/>
            <a:ext cx="713232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450"/>
              <a:buFont typeface="Arial"/>
              <a:buNone/>
            </a:pPr>
            <a:r>
              <a:rPr sz="145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From trained models to reliable software systems.</a:t>
            </a:r>
            <a:endParaRPr sz="1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7D77A62F-917F-4D7B-80DA-1662058F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6768" y="786384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CCD5DF"/>
              </a:buClr>
              <a:buSzPts val="1700"/>
              <a:buFont typeface="Arial"/>
              <a:buNone/>
            </a:pPr>
            <a:r>
              <a:rPr sz="1700" b="1" i="0" u="none" cap="none">
                <a:solidFill>
                  <a:srgbClr val="CCD5DF"/>
                </a:solidFill>
                <a:latin typeface="Arial"/>
                <a:ea typeface="Arial"/>
                <a:cs typeface="Arial"/>
              </a:rPr>
              <a:t>01</a:t>
            </a:r>
            <a:endParaRPr sz="17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51291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AE480354-3FF9-4B7D-A5C3-BBB5446C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SCOPE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089C6067-964B-4FDD-A159-6A4EC190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What This Course Is About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6" name="Google Shape;31;p4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E50B966A-1FB6-402D-9329-77DEB41C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02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485D95F6-FF98-4DA2-AB40-1C33ED9E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99451ABC-2DB7-4D14-98B8-E992EE08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64208"/>
            <a:ext cx="67665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380"/>
              <a:buFont typeface="Arial"/>
              <a:buNone/>
            </a:pPr>
            <a:r>
              <a:rPr sz="138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The course starts after two things are already familiar:</a:t>
            </a:r>
            <a:endParaRPr sz="13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0" name="Google Shape;35;p4"/>
          <p:cNvCxnSpPr/>
          <p:nvPr/>
        </p:nvCxnSpPr>
        <p:spPr>
          <a:xfrm xmlns:a="http://schemas.openxmlformats.org/drawingml/2006/main">
            <a:off x="914400" y="2212848"/>
            <a:ext cx="1001268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BF46DF13-0182-4C27-9FE0-5703E81F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59152"/>
            <a:ext cx="3112618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Software foundations</a:t>
            </a:r>
            <a:endParaRPr sz="10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954854C-B8E7-4D10-9A5A-3D1899E0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618" y="2359152"/>
            <a:ext cx="6671462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140"/>
              <a:buFont typeface="Arial"/>
              <a:buNone/>
            </a:pPr>
            <a:r>
              <a:rPr sz="114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repositories, APIs, containers, tests, CI/CD</a:t>
            </a:r>
            <a:endParaRPr sz="11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3" name="Google Shape;38;p4"/>
          <p:cNvCxnSpPr/>
          <p:nvPr/>
        </p:nvCxnSpPr>
        <p:spPr>
          <a:xfrm xmlns:a="http://schemas.openxmlformats.org/drawingml/2006/main">
            <a:off x="914400" y="2944368"/>
            <a:ext cx="10012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04210B4A-063B-44A8-887A-19E86ABD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17520"/>
            <a:ext cx="3112618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Model foundations</a:t>
            </a:r>
            <a:endParaRPr sz="10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BB152D2A-DCB7-4889-A706-42193238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618" y="3017520"/>
            <a:ext cx="6671462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140"/>
              <a:buFont typeface="Arial"/>
              <a:buNone/>
            </a:pPr>
            <a:r>
              <a:rPr sz="114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training, metrics, datasets, CNNs, detection models</a:t>
            </a:r>
            <a:endParaRPr sz="11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6" name="Google Shape;41;p4"/>
          <p:cNvCxnSpPr/>
          <p:nvPr/>
        </p:nvCxnSpPr>
        <p:spPr>
          <a:xfrm xmlns:a="http://schemas.openxmlformats.org/drawingml/2006/main">
            <a:off x="914400" y="3602736"/>
            <a:ext cx="10012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A64C557C-FF54-42A8-9526-ED16FFF9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5888"/>
            <a:ext cx="3112618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This course</a:t>
            </a:r>
            <a:endParaRPr sz="10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E6E31847-689A-4259-A768-34749B15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618" y="3675888"/>
            <a:ext cx="6671462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140"/>
              <a:buFont typeface="Arial"/>
              <a:buNone/>
            </a:pPr>
            <a:r>
              <a:rPr sz="114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contracts, evidence, serving, monitoring, release decisions</a:t>
            </a:r>
            <a:endParaRPr sz="11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9" name="Google Shape;44;p4"/>
          <p:cNvCxnSpPr/>
          <p:nvPr/>
        </p:nvCxnSpPr>
        <p:spPr>
          <a:xfrm xmlns:a="http://schemas.openxmlformats.org/drawingml/2006/main">
            <a:off x="914400" y="4261104"/>
            <a:ext cx="10012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A76089ED-4BE4-424F-8E3F-7A55FA1E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42432"/>
            <a:ext cx="9921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30"/>
              <a:buFont typeface="Arial"/>
              <a:buNone/>
            </a:pPr>
            <a:r>
              <a:rPr sz="103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We use these foundations; we do not reteach them. The target is production evidence.</a:t>
            </a:r>
            <a:endParaRPr sz="10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63134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E0097829-3C9A-4ADB-8B6A-81593C97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CORE IDEA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925DBF04-A25F-4B11-AD2A-0C1ADD3F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The Main Shift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28" name="Google Shape;74;p6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5" name="Google Shape;75;p6">
            <a:extLst xmlns:a="http://schemas.openxmlformats.org/drawingml/2006/main">
              <a:ext uri="{FF2B5EF4-FFF2-40B4-BE49-F238E27FC236}">
                <a16:creationId xmlns:a16="http://schemas.microsoft.com/office/drawing/2014/main" id="{C079C73E-6EA7-425C-92B2-5E5AB446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03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F01BC3C9-4CD7-4FB9-ACA8-47526735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6CA1217C-E333-4F21-9223-5EB6CC93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64208"/>
            <a:ext cx="99669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The engineering question changes because part of the behavior is learned.</a:t>
            </a:r>
            <a:endParaRPr sz="14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2" name="Google Shape;78;p6"/>
          <p:cNvCxnSpPr/>
          <p:nvPr/>
        </p:nvCxnSpPr>
        <p:spPr>
          <a:xfrm xmlns:a="http://schemas.openxmlformats.org/drawingml/2006/main">
            <a:off x="1234440" y="2414016"/>
            <a:ext cx="973836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6B6C4EAD-15FE-40BE-B8D0-DC36529A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560320"/>
            <a:ext cx="3024835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Deterministic software</a:t>
            </a:r>
            <a:endParaRPr sz="11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9DAC2E66-8C60-4630-9961-F7EB07D8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75" y="2560320"/>
            <a:ext cx="6484925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Did the code implement the expected behavior?</a:t>
            </a:r>
            <a:endParaRPr sz="12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5" name="Google Shape;81;p6"/>
          <p:cNvCxnSpPr/>
          <p:nvPr/>
        </p:nvCxnSpPr>
        <p:spPr>
          <a:xfrm xmlns:a="http://schemas.openxmlformats.org/drawingml/2006/main">
            <a:off x="1234440" y="3355848"/>
            <a:ext cx="973836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A854F0A2-3422-4885-A48F-1E20CF87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29000"/>
            <a:ext cx="3024835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Production AI system</a:t>
            </a:r>
            <a:endParaRPr sz="11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11FDD524-D2AE-4E75-87D2-037B37AE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75" y="3429000"/>
            <a:ext cx="6484925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Is learned behavior still acceptable under changing data, users, models, and environments?</a:t>
            </a:r>
            <a:endParaRPr sz="12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8" name="Google Shape;84;p6"/>
          <p:cNvCxnSpPr/>
          <p:nvPr/>
        </p:nvCxnSpPr>
        <p:spPr>
          <a:xfrm xmlns:a="http://schemas.openxmlformats.org/drawingml/2006/main">
            <a:off x="1234440" y="4224528"/>
            <a:ext cx="973836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B12FBFB6-E418-4B5E-B69C-A3589ADB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650992"/>
            <a:ext cx="1001268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D2D5F0DC-F4BD-486F-A6D0-4EF798E3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69864"/>
            <a:ext cx="9555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220"/>
              <a:buFont typeface="Arial"/>
              <a:buNone/>
            </a:pPr>
            <a:r>
              <a:rPr sz="122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The question changes because part of the behavior is learned.</a:t>
            </a:r>
            <a:endParaRPr sz="12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6787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3" name="Google Shape;243;p10">
            <a:extLst xmlns:a="http://schemas.openxmlformats.org/drawingml/2006/main">
              <a:ext uri="{FF2B5EF4-FFF2-40B4-BE49-F238E27FC236}">
                <a16:creationId xmlns:a16="http://schemas.microsoft.com/office/drawing/2014/main" id="{6AABC653-ADAA-49C2-8516-2B5C091D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9456"/>
            <a:ext cx="43891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PRODUCTION RISK</a:t>
            </a:r>
            <a:endParaRPr/>
          </a:p>
        </p:txBody>
      </p:sp>
      <p:sp>
        <p:nvSpPr>
          <p:cNvPr id="244" name="Google Shape;244;p10">
            <a:extLst xmlns:a="http://schemas.openxmlformats.org/drawingml/2006/main">
              <a:ext uri="{FF2B5EF4-FFF2-40B4-BE49-F238E27FC236}">
                <a16:creationId xmlns:a16="http://schemas.microsoft.com/office/drawing/2014/main" id="{AC980490-6893-408A-A5BE-16B79A38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3776"/>
            <a:ext cx="98755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 Green Service Can Hide a Bad Decision</a:t>
            </a:r>
            <a:endParaRPr/>
          </a:p>
        </p:txBody>
      </p:sp>
      <p:cxnSp>
        <p:nvCxnSpPr>
          <p:cNvPr id="285" name="Google Shape;245;p10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246" name="Google Shape;246;p10">
            <a:extLst xmlns:a="http://schemas.openxmlformats.org/drawingml/2006/main">
              <a:ext uri="{FF2B5EF4-FFF2-40B4-BE49-F238E27FC236}">
                <a16:creationId xmlns:a16="http://schemas.microsoft.com/office/drawing/2014/main" id="{83ECB3AB-C5C8-48C4-A50D-317A270D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55664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/>
          </a:p>
        </p:txBody>
      </p:sp>
      <p:sp>
        <p:nvSpPr>
          <p:cNvPr id="247" name="Google Shape;247;p10">
            <a:extLst xmlns:a="http://schemas.openxmlformats.org/drawingml/2006/main">
              <a:ext uri="{FF2B5EF4-FFF2-40B4-BE49-F238E27FC236}">
                <a16:creationId xmlns:a16="http://schemas.microsoft.com/office/drawing/2014/main" id="{F2922C42-3A59-4275-80FC-F9C6EA73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55664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04</a:t>
            </a:r>
            <a:endParaRPr/>
          </a:p>
        </p:txBody>
      </p:sp>
      <p:sp>
        <p:nvSpPr>
          <p:cNvPr id="248" name="Google Shape;248;p10">
            <a:extLst xmlns:a="http://schemas.openxmlformats.org/drawingml/2006/main">
              <a:ext uri="{FF2B5EF4-FFF2-40B4-BE49-F238E27FC236}">
                <a16:creationId xmlns:a16="http://schemas.microsoft.com/office/drawing/2014/main" id="{96331F1E-0C07-46BF-A232-526B7A95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28016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FireWatch can return HTTP 200 while missed smoke alerts are already increasing.</a:t>
            </a:r>
            <a:endParaRPr/>
          </a:p>
        </p:txBody>
      </p:sp>
      <p:sp>
        <p:nvSpPr>
          <p:cNvPr id="249" name="Google Shape;249;p10">
            <a:extLst xmlns:a="http://schemas.openxmlformats.org/drawingml/2006/main">
              <a:ext uri="{FF2B5EF4-FFF2-40B4-BE49-F238E27FC236}">
                <a16:creationId xmlns:a16="http://schemas.microsoft.com/office/drawing/2014/main" id="{68479818-0855-4C54-8441-2C7A7B03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01952"/>
            <a:ext cx="4389120" cy="2286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6EF"/>
          </a:solidFill>
          <a:ln xmlns:a="http://schemas.openxmlformats.org/drawingml/2006/main" w="184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Google Shape;250;p10">
            <a:extLst xmlns:a="http://schemas.openxmlformats.org/drawingml/2006/main">
              <a:ext uri="{FF2B5EF4-FFF2-40B4-BE49-F238E27FC236}">
                <a16:creationId xmlns:a16="http://schemas.microsoft.com/office/drawing/2014/main" id="{07AD4C4F-762A-4188-99E9-A9EDF156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03120"/>
            <a:ext cx="387705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VISIBLE SERVICE EVIDENCE</a:t>
            </a:r>
            <a:endParaRPr/>
          </a:p>
        </p:txBody>
      </p:sp>
      <p:sp>
        <p:nvSpPr>
          <p:cNvPr id="251" name="Google Shape;251;p10">
            <a:extLst xmlns:a="http://schemas.openxmlformats.org/drawingml/2006/main">
              <a:ext uri="{FF2B5EF4-FFF2-40B4-BE49-F238E27FC236}">
                <a16:creationId xmlns:a16="http://schemas.microsoft.com/office/drawing/2014/main" id="{A4EBE0E4-C70A-4A2F-A592-D4C499C6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06040"/>
            <a:ext cx="1874519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HTTP STATUS</a:t>
            </a:r>
            <a:endParaRPr/>
          </a:p>
        </p:txBody>
      </p:sp>
      <p:sp>
        <p:nvSpPr>
          <p:cNvPr id="252" name="Google Shape;252;p10">
            <a:extLst xmlns:a="http://schemas.openxmlformats.org/drawingml/2006/main">
              <a:ext uri="{FF2B5EF4-FFF2-40B4-BE49-F238E27FC236}">
                <a16:creationId xmlns:a16="http://schemas.microsoft.com/office/drawing/2014/main" id="{640468AF-12E9-4CE9-AAF0-3C6A0912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2578608"/>
            <a:ext cx="1371600" cy="310896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Google Shape;253;p10">
            <a:extLst xmlns:a="http://schemas.openxmlformats.org/drawingml/2006/main">
              <a:ext uri="{FF2B5EF4-FFF2-40B4-BE49-F238E27FC236}">
                <a16:creationId xmlns:a16="http://schemas.microsoft.com/office/drawing/2014/main" id="{8FFC58DA-9447-4C51-B3A1-5EF7DCAC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3" y="2596896"/>
            <a:ext cx="1280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200</a:t>
            </a:r>
            <a:endParaRPr/>
          </a:p>
        </p:txBody>
      </p:sp>
      <p:sp>
        <p:nvSpPr>
          <p:cNvPr id="254" name="Google Shape;254;p10">
            <a:extLst xmlns:a="http://schemas.openxmlformats.org/drawingml/2006/main">
              <a:ext uri="{FF2B5EF4-FFF2-40B4-BE49-F238E27FC236}">
                <a16:creationId xmlns:a16="http://schemas.microsoft.com/office/drawing/2014/main" id="{F6D46F0F-DBBF-41BC-8647-5507E674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127248"/>
            <a:ext cx="1874519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P95 LATENCY</a:t>
            </a:r>
            <a:endParaRPr/>
          </a:p>
        </p:txBody>
      </p:sp>
      <p:sp>
        <p:nvSpPr>
          <p:cNvPr id="255" name="Google Shape;255;p10">
            <a:extLst xmlns:a="http://schemas.openxmlformats.org/drawingml/2006/main">
              <a:ext uri="{FF2B5EF4-FFF2-40B4-BE49-F238E27FC236}">
                <a16:creationId xmlns:a16="http://schemas.microsoft.com/office/drawing/2014/main" id="{23074722-1808-4385-B8E6-202CD5E9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3099816"/>
            <a:ext cx="1371600" cy="310896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Google Shape;256;p10">
            <a:extLst xmlns:a="http://schemas.openxmlformats.org/drawingml/2006/main">
              <a:ext uri="{FF2B5EF4-FFF2-40B4-BE49-F238E27FC236}">
                <a16:creationId xmlns:a16="http://schemas.microsoft.com/office/drawing/2014/main" id="{A48B1B1F-21B5-48C5-84F5-F3C04B7C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3" y="3118104"/>
            <a:ext cx="1280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NORMAL</a:t>
            </a:r>
            <a:endParaRPr/>
          </a:p>
        </p:txBody>
      </p:sp>
      <p:sp>
        <p:nvSpPr>
          <p:cNvPr id="257" name="Google Shape;257;p10">
            <a:extLst xmlns:a="http://schemas.openxmlformats.org/drawingml/2006/main">
              <a:ext uri="{FF2B5EF4-FFF2-40B4-BE49-F238E27FC236}">
                <a16:creationId xmlns:a16="http://schemas.microsoft.com/office/drawing/2014/main" id="{3A519A5B-C792-4B30-88D4-3966283D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648456"/>
            <a:ext cx="1874519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DASHBOARD</a:t>
            </a:r>
            <a:endParaRPr/>
          </a:p>
        </p:txBody>
      </p:sp>
      <p:sp>
        <p:nvSpPr>
          <p:cNvPr id="258" name="Google Shape;258;p10">
            <a:extLst xmlns:a="http://schemas.openxmlformats.org/drawingml/2006/main">
              <a:ext uri="{FF2B5EF4-FFF2-40B4-BE49-F238E27FC236}">
                <a16:creationId xmlns:a16="http://schemas.microsoft.com/office/drawing/2014/main" id="{BD3059A1-FB5D-46B9-813C-3E7C898B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3621024"/>
            <a:ext cx="1371600" cy="310896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Google Shape;259;p10">
            <a:extLst xmlns:a="http://schemas.openxmlformats.org/drawingml/2006/main">
              <a:ext uri="{FF2B5EF4-FFF2-40B4-BE49-F238E27FC236}">
                <a16:creationId xmlns:a16="http://schemas.microsoft.com/office/drawing/2014/main" id="{08D9CD33-4F47-491C-A10E-2307286A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3" y="3639312"/>
            <a:ext cx="1280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GREEN</a:t>
            </a:r>
            <a:endParaRPr/>
          </a:p>
        </p:txBody>
      </p:sp>
      <p:sp>
        <p:nvSpPr>
          <p:cNvPr id="260" name="Google Shape;260;p10">
            <a:extLst xmlns:a="http://schemas.openxmlformats.org/drawingml/2006/main">
              <a:ext uri="{FF2B5EF4-FFF2-40B4-BE49-F238E27FC236}">
                <a16:creationId xmlns:a16="http://schemas.microsoft.com/office/drawing/2014/main" id="{3D0A8F3A-0A62-4361-875B-4EB8E7DC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2514600"/>
            <a:ext cx="1463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6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≠</a:t>
            </a:r>
            <a:endParaRPr/>
          </a:p>
        </p:txBody>
      </p:sp>
      <p:sp>
        <p:nvSpPr>
          <p:cNvPr id="261" name="Google Shape;261;p10">
            <a:extLst xmlns:a="http://schemas.openxmlformats.org/drawingml/2006/main">
              <a:ext uri="{FF2B5EF4-FFF2-40B4-BE49-F238E27FC236}">
                <a16:creationId xmlns:a16="http://schemas.microsoft.com/office/drawing/2014/main" id="{2B3184B2-6E8F-495C-813E-D6BA77E0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65576"/>
            <a:ext cx="173736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4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NOT THE SAME SIGNAL</a:t>
            </a:r>
            <a:endParaRPr/>
          </a:p>
        </p:txBody>
      </p:sp>
      <p:sp>
        <p:nvSpPr>
          <p:cNvPr id="262" name="Google Shape;262;p10">
            <a:extLst xmlns:a="http://schemas.openxmlformats.org/drawingml/2006/main">
              <a:ext uri="{FF2B5EF4-FFF2-40B4-BE49-F238E27FC236}">
                <a16:creationId xmlns:a16="http://schemas.microsoft.com/office/drawing/2014/main" id="{DD37897D-DDCD-4BCD-A902-9848DD4F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1901952"/>
            <a:ext cx="4389120" cy="2286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18400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Google Shape;263;p10">
            <a:extLst xmlns:a="http://schemas.openxmlformats.org/drawingml/2006/main">
              <a:ext uri="{FF2B5EF4-FFF2-40B4-BE49-F238E27FC236}">
                <a16:creationId xmlns:a16="http://schemas.microsoft.com/office/drawing/2014/main" id="{27535B27-E88C-4125-961D-8845AF3C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103120"/>
            <a:ext cx="387705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HIDDEN PRODUCT EVIDENCE</a:t>
            </a:r>
            <a:endParaRPr/>
          </a:p>
        </p:txBody>
      </p:sp>
      <p:sp>
        <p:nvSpPr>
          <p:cNvPr id="264" name="Google Shape;264;p10">
            <a:extLst xmlns:a="http://schemas.openxmlformats.org/drawingml/2006/main">
              <a:ext uri="{FF2B5EF4-FFF2-40B4-BE49-F238E27FC236}">
                <a16:creationId xmlns:a16="http://schemas.microsoft.com/office/drawing/2014/main" id="{698E8AC2-0C0C-4E06-B46E-D38EAD03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679192"/>
            <a:ext cx="34015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OPERATOR RECEIVES</a:t>
            </a:r>
            <a:endParaRPr/>
          </a:p>
        </p:txBody>
      </p:sp>
      <p:sp>
        <p:nvSpPr>
          <p:cNvPr id="265" name="Google Shape;265;p10">
            <a:extLst xmlns:a="http://schemas.openxmlformats.org/drawingml/2006/main">
              <a:ext uri="{FF2B5EF4-FFF2-40B4-BE49-F238E27FC236}">
                <a16:creationId xmlns:a16="http://schemas.microsoft.com/office/drawing/2014/main" id="{EC29AE4E-A947-4663-869D-AE4186EF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980944"/>
            <a:ext cx="358444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FEWER TRUE ALERTS</a:t>
            </a:r>
            <a:endParaRPr/>
          </a:p>
        </p:txBody>
      </p:sp>
      <p:sp>
        <p:nvSpPr>
          <p:cNvPr id="266" name="Google Shape;266;p10">
            <a:extLst xmlns:a="http://schemas.openxmlformats.org/drawingml/2006/main">
              <a:ext uri="{FF2B5EF4-FFF2-40B4-BE49-F238E27FC236}">
                <a16:creationId xmlns:a16="http://schemas.microsoft.com/office/drawing/2014/main" id="{B01D9512-BAA5-4EA3-81FD-AECE052A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639312"/>
            <a:ext cx="2670048" cy="32918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Google Shape;267;p10">
            <a:extLst xmlns:a="http://schemas.openxmlformats.org/drawingml/2006/main">
              <a:ext uri="{FF2B5EF4-FFF2-40B4-BE49-F238E27FC236}">
                <a16:creationId xmlns:a16="http://schemas.microsoft.com/office/drawing/2014/main" id="{40D60A42-CD86-478C-93A3-F6846A6F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3657600"/>
            <a:ext cx="2578608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NO SIGNAL EXPLAINS THE DROP</a:t>
            </a:r>
            <a:endParaRPr/>
          </a:p>
        </p:txBody>
      </p:sp>
      <p:sp>
        <p:nvSpPr>
          <p:cNvPr id="268" name="Google Shape;268;p10">
            <a:extLst xmlns:a="http://schemas.openxmlformats.org/drawingml/2006/main">
              <a:ext uri="{FF2B5EF4-FFF2-40B4-BE49-F238E27FC236}">
                <a16:creationId xmlns:a16="http://schemas.microsoft.com/office/drawing/2014/main" id="{450A6694-FE12-4F12-B171-76650094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498848"/>
            <a:ext cx="9189720" cy="78638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Google Shape;269;p10">
            <a:extLst xmlns:a="http://schemas.openxmlformats.org/drawingml/2006/main">
              <a:ext uri="{FF2B5EF4-FFF2-40B4-BE49-F238E27FC236}">
                <a16:creationId xmlns:a16="http://schemas.microsoft.com/office/drawing/2014/main" id="{FA8618E5-BD7A-464D-A9E1-61402DED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4645152"/>
            <a:ext cx="868680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PREDICTION LOGS</a:t>
            </a:r>
            <a:r>
              <a:rPr sz="10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  +  </a:t>
            </a:r>
            <a:r>
              <a:rPr sz="10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EXPECTED OUTCOMES</a:t>
            </a:r>
            <a:r>
              <a:rPr sz="105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  →  </a:t>
            </a:r>
            <a:r>
              <a:rPr sz="10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BEHAVIOR COMPARISON</a:t>
            </a:r>
            <a:endParaRPr/>
          </a:p>
        </p:txBody>
      </p:sp>
      <p:sp>
        <p:nvSpPr>
          <p:cNvPr id="270" name="Google Shape;270;p10">
            <a:extLst xmlns:a="http://schemas.openxmlformats.org/drawingml/2006/main">
              <a:ext uri="{FF2B5EF4-FFF2-40B4-BE49-F238E27FC236}">
                <a16:creationId xmlns:a16="http://schemas.microsoft.com/office/drawing/2014/main" id="{19015F1E-590E-4C68-B2FB-A55CD7A5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91947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The missing evidence links each alert to the expected outcome and the operator's decision.</a:t>
            </a:r>
            <a:endParaRPr/>
          </a:p>
        </p:txBody>
      </p:sp>
      <p:sp>
        <p:nvSpPr>
          <p:cNvPr id="271" name="Google Shape;271;p10">
            <a:extLst xmlns:a="http://schemas.openxmlformats.org/drawingml/2006/main">
              <a:ext uri="{FF2B5EF4-FFF2-40B4-BE49-F238E27FC236}">
                <a16:creationId xmlns:a16="http://schemas.microsoft.com/office/drawing/2014/main" id="{D1F1FA42-A32F-426A-946C-2FB016F7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10469880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2" name="Google Shape;272;p10">
            <a:extLst xmlns:a="http://schemas.openxmlformats.org/drawingml/2006/main">
              <a:ext uri="{FF2B5EF4-FFF2-40B4-BE49-F238E27FC236}">
                <a16:creationId xmlns:a16="http://schemas.microsoft.com/office/drawing/2014/main" id="{ECE745F3-0BC5-4B5F-B79C-88F62A9F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79008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47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3" name="Google Shape;273;p10">
            <a:extLst xmlns:a="http://schemas.openxmlformats.org/drawingml/2006/main">
              <a:ext uri="{FF2B5EF4-FFF2-40B4-BE49-F238E27FC236}">
                <a16:creationId xmlns:a16="http://schemas.microsoft.com/office/drawing/2014/main" id="{FD7AA8C8-36CB-4D00-ACA1-DF2E6B99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715000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3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The most dangerous AI failure is often a working service with worse decisions.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68498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Google Shape;92;p7">
            <a:extLst xmlns:a="http://schemas.openxmlformats.org/drawingml/2006/main">
              <a:ext uri="{FF2B5EF4-FFF2-40B4-BE49-F238E27FC236}">
                <a16:creationId xmlns:a16="http://schemas.microsoft.com/office/drawing/2014/main" id="{9C7D4AAD-F6E2-41E4-B249-3CED643E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9456"/>
            <a:ext cx="43891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SYSTEM BOUNDARY</a:t>
            </a:r>
            <a:endParaRPr/>
          </a:p>
        </p:txBody>
      </p:sp>
      <p:sp>
        <p:nvSpPr>
          <p:cNvPr id="93" name="Google Shape;93;p7">
            <a:extLst xmlns:a="http://schemas.openxmlformats.org/drawingml/2006/main">
              <a:ext uri="{FF2B5EF4-FFF2-40B4-BE49-F238E27FC236}">
                <a16:creationId xmlns:a16="http://schemas.microsoft.com/office/drawing/2014/main" id="{1980E4AA-CDC9-4203-8740-88FBBFE1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3776"/>
            <a:ext cx="98755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 Model Is Not The System</a:t>
            </a:r>
            <a:endParaRPr/>
          </a:p>
        </p:txBody>
      </p:sp>
      <p:cxnSp>
        <p:nvCxnSpPr>
          <p:cNvPr id="312" name="Google Shape;94;p7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95" name="Google Shape;95;p7">
            <a:extLst xmlns:a="http://schemas.openxmlformats.org/drawingml/2006/main">
              <a:ext uri="{FF2B5EF4-FFF2-40B4-BE49-F238E27FC236}">
                <a16:creationId xmlns:a16="http://schemas.microsoft.com/office/drawing/2014/main" id="{9A4D129A-C0F0-4ED6-8B4D-0ECFDBE7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55664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/>
          </a:p>
        </p:txBody>
      </p:sp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483F9A6C-C5AE-46AC-A495-3F89308F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55664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05</a:t>
            </a:r>
            <a:endParaRPr/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66AD620D-D351-40DD-8E00-CB2E74C3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89888"/>
            <a:ext cx="6720840" cy="3657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7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Google Shape;98;p7">
            <a:extLst xmlns:a="http://schemas.openxmlformats.org/drawingml/2006/main">
              <a:ext uri="{FF2B5EF4-FFF2-40B4-BE49-F238E27FC236}">
                <a16:creationId xmlns:a16="http://schemas.microsoft.com/office/drawing/2014/main" id="{ABBEB4DC-057C-4F76-AEC9-9909D4AD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572768"/>
            <a:ext cx="2057400" cy="32918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45C5340D-CB96-48C0-BCDB-25A34243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591056"/>
            <a:ext cx="19659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PRODUCTION AI SYSTEM</a:t>
            </a:r>
            <a:endParaRPr/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52259C8D-7C86-4232-9047-50961062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258568"/>
            <a:ext cx="1042415" cy="96926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02FF6C64-AAAB-4045-BF3B-60771275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386584"/>
            <a:ext cx="896111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INPUT</a:t>
            </a:r>
            <a:endParaRPr/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FF7F9AEF-0DF2-4548-A4C0-47F5E08D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651760"/>
            <a:ext cx="896111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data</a:t>
            </a:r>
            <a:endParaRPr/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7912F753-ACC7-4F23-8724-575C861C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2258568"/>
            <a:ext cx="1042415" cy="96926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32E4EC1C-E24E-494E-AB0A-9D26C376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1136" y="2386584"/>
            <a:ext cx="896111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VALIDATE</a:t>
            </a:r>
            <a:endParaRPr/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42C3786E-783B-47F1-8939-FBC414F1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1136" y="2651760"/>
            <a:ext cx="896111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contract</a:t>
            </a:r>
            <a:endParaRPr/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82C19660-19F7-43A0-8E1F-D43EFA6C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258568"/>
            <a:ext cx="1042415" cy="96926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 w="171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CDFE67EE-8BC0-4184-A0D7-5374E324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386584"/>
            <a:ext cx="896111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</a:t>
            </a:r>
            <a:endParaRPr/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132307AD-544B-469E-8567-B013B68A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651760"/>
            <a:ext cx="896111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learned behavior</a:t>
            </a:r>
            <a:endParaRPr/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16CFED1A-F994-4DDB-8722-5A787BD5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258568"/>
            <a:ext cx="1042415" cy="96926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7125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5BC82556-5175-4DA9-9D20-FC1EE56D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386584"/>
            <a:ext cx="896111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POLICY</a:t>
            </a:r>
            <a:endParaRPr/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A43506B2-79A4-48F8-99C0-8B48C26C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651760"/>
            <a:ext cx="896111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fallback</a:t>
            </a:r>
            <a:endParaRPr/>
          </a:p>
        </p:txBody>
      </p:sp>
      <p:sp>
        <p:nvSpPr>
          <p:cNvPr id="112" name="Google Shape;112;p7">
            <a:extLst xmlns:a="http://schemas.openxmlformats.org/drawingml/2006/main">
              <a:ext uri="{FF2B5EF4-FFF2-40B4-BE49-F238E27FC236}">
                <a16:creationId xmlns:a16="http://schemas.microsoft.com/office/drawing/2014/main" id="{8CF161D9-4755-47A5-852A-76D90B60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58568"/>
            <a:ext cx="1042415" cy="96926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Google Shape;113;p7">
            <a:extLst xmlns:a="http://schemas.openxmlformats.org/drawingml/2006/main">
              <a:ext uri="{FF2B5EF4-FFF2-40B4-BE49-F238E27FC236}">
                <a16:creationId xmlns:a16="http://schemas.microsoft.com/office/drawing/2014/main" id="{7BE51DAE-876B-4C10-AB32-54C6892B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386584"/>
            <a:ext cx="896111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USER</a:t>
            </a:r>
            <a:endParaRPr/>
          </a:p>
        </p:txBody>
      </p:sp>
      <p:sp>
        <p:nvSpPr>
          <p:cNvPr id="114" name="Google Shape;114;p7">
            <a:extLst xmlns:a="http://schemas.openxmlformats.org/drawingml/2006/main">
              <a:ext uri="{FF2B5EF4-FFF2-40B4-BE49-F238E27FC236}">
                <a16:creationId xmlns:a16="http://schemas.microsoft.com/office/drawing/2014/main" id="{65A954B1-7871-4840-9BDF-9C370907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651760"/>
            <a:ext cx="896111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decision</a:t>
            </a:r>
            <a:endParaRPr/>
          </a:p>
        </p:txBody>
      </p:sp>
      <p:cxnSp>
        <p:nvCxnSpPr>
          <p:cNvPr id="333" name="Google Shape;115;p7"/>
          <p:cNvCxnSpPr/>
          <p:nvPr/>
        </p:nvCxnSpPr>
        <p:spPr>
          <a:xfrm xmlns:a="http://schemas.openxmlformats.org/drawingml/2006/main">
            <a:off x="1938528" y="2743200"/>
            <a:ext cx="109727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16" name="Google Shape;116;p7">
            <a:extLst xmlns:a="http://schemas.openxmlformats.org/drawingml/2006/main">
              <a:ext uri="{FF2B5EF4-FFF2-40B4-BE49-F238E27FC236}">
                <a16:creationId xmlns:a16="http://schemas.microsoft.com/office/drawing/2014/main" id="{A54957D7-3C02-4BB3-B3A0-23CA66BC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2536" y="267919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5" name="Google Shape;117;p7"/>
          <p:cNvCxnSpPr/>
          <p:nvPr/>
        </p:nvCxnSpPr>
        <p:spPr>
          <a:xfrm xmlns:a="http://schemas.openxmlformats.org/drawingml/2006/main">
            <a:off x="3200400" y="2743200"/>
            <a:ext cx="109728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18" name="Google Shape;118;p7">
            <a:extLst xmlns:a="http://schemas.openxmlformats.org/drawingml/2006/main">
              <a:ext uri="{FF2B5EF4-FFF2-40B4-BE49-F238E27FC236}">
                <a16:creationId xmlns:a16="http://schemas.microsoft.com/office/drawing/2014/main" id="{24744D08-1680-4A5B-8886-9D9198C6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64408" y="267919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7" name="Google Shape;119;p7"/>
          <p:cNvCxnSpPr/>
          <p:nvPr/>
        </p:nvCxnSpPr>
        <p:spPr>
          <a:xfrm xmlns:a="http://schemas.openxmlformats.org/drawingml/2006/main">
            <a:off x="4462272" y="2743200"/>
            <a:ext cx="109728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20" name="Google Shape;120;p7">
            <a:extLst xmlns:a="http://schemas.openxmlformats.org/drawingml/2006/main">
              <a:ext uri="{FF2B5EF4-FFF2-40B4-BE49-F238E27FC236}">
                <a16:creationId xmlns:a16="http://schemas.microsoft.com/office/drawing/2014/main" id="{67988760-AFB3-4307-A705-F00C5D49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26280" y="267919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9" name="Google Shape;121;p7"/>
          <p:cNvCxnSpPr/>
          <p:nvPr/>
        </p:nvCxnSpPr>
        <p:spPr>
          <a:xfrm xmlns:a="http://schemas.openxmlformats.org/drawingml/2006/main">
            <a:off x="5724144" y="2743200"/>
            <a:ext cx="109728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88E99278-1E29-4A47-A202-F01E5EC0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88152" y="267919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B5B3117E-70B5-474A-9F11-06719007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20440"/>
            <a:ext cx="612648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SURROUNDING SOFTWARE RESPONSIBILITY</a:t>
            </a:r>
            <a:endParaRPr/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53B8C7EB-CEA2-445F-9B4C-A7ECFD7D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58768"/>
            <a:ext cx="1353312" cy="8229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88AD0881-55FB-42A3-AD20-182D9D26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986783"/>
            <a:ext cx="120700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TESTS</a:t>
            </a:r>
            <a:endParaRPr/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C19E986-B7E8-43A8-8301-57F8FC06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251959"/>
            <a:ext cx="120700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assumptions</a:t>
            </a:r>
            <a:endParaRPr/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1B8ABCC5-95F4-4F9C-9401-B284ABA7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858768"/>
            <a:ext cx="1353312" cy="8229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D846D6E9-4484-4683-84C2-178744E7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86783"/>
            <a:ext cx="120700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LOGS</a:t>
            </a:r>
            <a:endParaRPr/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11DF22EE-F50C-4D7D-BBB1-67868F5F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251959"/>
            <a:ext cx="120700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evidence</a:t>
            </a:r>
            <a:endParaRPr/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87D8F6CB-8E4D-4C3E-85E1-4F7C9D7A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1376" y="3858768"/>
            <a:ext cx="1353312" cy="8229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C7071C44-DA4E-4E34-BD4E-4BBC7016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3986783"/>
            <a:ext cx="120700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MONITORING</a:t>
            </a:r>
            <a:endParaRPr/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95403CB4-5A78-4C74-862B-7465E4D1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4251959"/>
            <a:ext cx="120700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signals</a:t>
            </a:r>
            <a:endParaRPr/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BF9F59E3-866D-4180-BFB0-38812653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144" y="3858768"/>
            <a:ext cx="1353312" cy="8229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1AE21E54-C823-439D-9BF3-25A520FB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3986783"/>
            <a:ext cx="120700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OWNER</a:t>
            </a:r>
            <a:endParaRPr/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11ADEC2C-89DE-4D9A-B855-4C47AFE2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251959"/>
            <a:ext cx="120700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next action</a:t>
            </a:r>
            <a:endParaRPr/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DC686DE9-B91D-427A-80CB-12C8F138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481328"/>
            <a:ext cx="34747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INTERPRETATION</a:t>
            </a:r>
            <a:endParaRPr/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76EF4F5E-EDF4-49F5-89C2-A19B5D8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773936"/>
            <a:ext cx="3749039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4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The model is not the product, the service, or the production responsibility.</a:t>
            </a:r>
            <a:endParaRPr/>
          </a:p>
        </p:txBody>
      </p:sp>
      <p:cxnSp>
        <p:nvCxnSpPr>
          <p:cNvPr id="356" name="Google Shape;138;p7"/>
          <p:cNvCxnSpPr/>
          <p:nvPr/>
        </p:nvCxnSpPr>
        <p:spPr>
          <a:xfrm xmlns:a="http://schemas.openxmlformats.org/drawingml/2006/main">
            <a:off x="7726679" y="3364992"/>
            <a:ext cx="3611881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6F1B091F-5B07-4A05-B83C-C404ECE4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2761488"/>
            <a:ext cx="1353312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AI COMPONENT</a:t>
            </a:r>
            <a:endParaRPr/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5EFBC3D2-6006-4A01-BA77-C22028CF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34056"/>
            <a:ext cx="224028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learned behavior used inside the system</a:t>
            </a:r>
            <a:endParaRPr/>
          </a:p>
        </p:txBody>
      </p:sp>
      <p:cxnSp>
        <p:nvCxnSpPr>
          <p:cNvPr id="359" name="Google Shape;141;p7"/>
          <p:cNvCxnSpPr/>
          <p:nvPr/>
        </p:nvCxnSpPr>
        <p:spPr>
          <a:xfrm xmlns:a="http://schemas.openxmlformats.org/drawingml/2006/main">
            <a:off x="7726679" y="4133087"/>
            <a:ext cx="3611881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407544EE-AAAE-4B1E-B91A-2C331B00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3529584"/>
            <a:ext cx="1353312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OTHER COMPONENTS</a:t>
            </a:r>
            <a:endParaRPr/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94EAB95C-01D4-4B3A-88EC-2306ADB6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502152"/>
            <a:ext cx="224028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data, code, interface, runtime, logs, owners</a:t>
            </a:r>
            <a:endParaRPr/>
          </a:p>
        </p:txBody>
      </p:sp>
      <p:cxnSp>
        <p:nvCxnSpPr>
          <p:cNvPr id="362" name="Google Shape;144;p7"/>
          <p:cNvCxnSpPr/>
          <p:nvPr/>
        </p:nvCxnSpPr>
        <p:spPr>
          <a:xfrm xmlns:a="http://schemas.openxmlformats.org/drawingml/2006/main">
            <a:off x="7726679" y="4901184"/>
            <a:ext cx="3611881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5FA5AAD6-1DC5-4D52-B18B-AD4E4DC9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4297680"/>
            <a:ext cx="1353312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SYSTEM CLAIM</a:t>
            </a:r>
            <a:endParaRPr/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6CBB1CFA-2B8B-45A7-BA04-C179A2E7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4270248"/>
            <a:ext cx="224028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behavior must be justified across the boundary</a:t>
            </a:r>
            <a:endParaRPr/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17AFE6F1-D3B3-4F58-AF7A-19710076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4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SE4AI source definition: AI-based systems include AI and other components</a:t>
            </a:r>
            <a:endParaRPr/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DCFFB91-6B2A-49EE-BAC6-CA72C78B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10469880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EA317DE8-1A4D-4FF6-B82F-4897DF17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79008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9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80F30EE2-A95D-40CC-965E-EFD14230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715000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A production AI system includes the model and the surrounding software responsibility.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0692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9" name="Google Shape;279;p11">
            <a:extLst xmlns:a="http://schemas.openxmlformats.org/drawingml/2006/main">
              <a:ext uri="{FF2B5EF4-FFF2-40B4-BE49-F238E27FC236}">
                <a16:creationId xmlns:a16="http://schemas.microsoft.com/office/drawing/2014/main" id="{9DBEDCE8-D71E-4672-8F44-093FFA9F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9456"/>
            <a:ext cx="43891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RECURRING MODEL</a:t>
            </a:r>
            <a:endParaRPr/>
          </a:p>
        </p:txBody>
      </p:sp>
      <p:sp>
        <p:nvSpPr>
          <p:cNvPr id="280" name="Google Shape;280;p11">
            <a:extLst xmlns:a="http://schemas.openxmlformats.org/drawingml/2006/main">
              <a:ext uri="{FF2B5EF4-FFF2-40B4-BE49-F238E27FC236}">
                <a16:creationId xmlns:a16="http://schemas.microsoft.com/office/drawing/2014/main" id="{E133551E-AB6E-436F-B060-7DB8354C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3776"/>
            <a:ext cx="98755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FireWatch: One System Boundary</a:t>
            </a:r>
            <a:endParaRPr/>
          </a:p>
        </p:txBody>
      </p:sp>
      <p:cxnSp>
        <p:nvCxnSpPr>
          <p:cNvPr id="430" name="Google Shape;281;p11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282" name="Google Shape;282;p11">
            <a:extLst xmlns:a="http://schemas.openxmlformats.org/drawingml/2006/main">
              <a:ext uri="{FF2B5EF4-FFF2-40B4-BE49-F238E27FC236}">
                <a16:creationId xmlns:a16="http://schemas.microsoft.com/office/drawing/2014/main" id="{72103C81-80A7-4DED-A636-349D5F43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55664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/>
          </a:p>
        </p:txBody>
      </p:sp>
      <p:sp>
        <p:nvSpPr>
          <p:cNvPr id="283" name="Google Shape;283;p11">
            <a:extLst xmlns:a="http://schemas.openxmlformats.org/drawingml/2006/main">
              <a:ext uri="{FF2B5EF4-FFF2-40B4-BE49-F238E27FC236}">
                <a16:creationId xmlns:a16="http://schemas.microsoft.com/office/drawing/2014/main" id="{731E89D5-5DF4-4139-A58E-099EE170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55664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06</a:t>
            </a:r>
            <a:endParaRPr/>
          </a:p>
        </p:txBody>
      </p:sp>
      <p:sp>
        <p:nvSpPr>
          <p:cNvPr id="284" name="Google Shape;284;p11">
            <a:extLst xmlns:a="http://schemas.openxmlformats.org/drawingml/2006/main">
              <a:ext uri="{FF2B5EF4-FFF2-40B4-BE49-F238E27FC236}">
                <a16:creationId xmlns:a16="http://schemas.microsoft.com/office/drawing/2014/main" id="{5802C0A6-529A-48DF-9B7A-F335BC82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71600"/>
            <a:ext cx="10881360" cy="2139696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Google Shape;285;p11">
            <a:extLst xmlns:a="http://schemas.openxmlformats.org/drawingml/2006/main">
              <a:ext uri="{FF2B5EF4-FFF2-40B4-BE49-F238E27FC236}">
                <a16:creationId xmlns:a16="http://schemas.microsoft.com/office/drawing/2014/main" id="{BEB376BF-32AD-4C14-966A-5CC5B08D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545336"/>
            <a:ext cx="1591056" cy="310896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6" name="Google Shape;286;p11">
            <a:extLst xmlns:a="http://schemas.openxmlformats.org/drawingml/2006/main">
              <a:ext uri="{FF2B5EF4-FFF2-40B4-BE49-F238E27FC236}">
                <a16:creationId xmlns:a16="http://schemas.microsoft.com/office/drawing/2014/main" id="{D3D7BE41-8474-4C70-A2D1-DC071C17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563624"/>
            <a:ext cx="1499616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PRODUCTION PATH</a:t>
            </a:r>
            <a:endParaRPr/>
          </a:p>
        </p:txBody>
      </p:sp>
      <p:sp>
        <p:nvSpPr>
          <p:cNvPr id="287" name="Google Shape;287;p11">
            <a:extLst xmlns:a="http://schemas.openxmlformats.org/drawingml/2006/main">
              <a:ext uri="{FF2B5EF4-FFF2-40B4-BE49-F238E27FC236}">
                <a16:creationId xmlns:a16="http://schemas.microsoft.com/office/drawing/2014/main" id="{73A242F1-44B7-4C4C-A608-63D4CC27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8" name="Google Shape;288;p11">
            <a:extLst xmlns:a="http://schemas.openxmlformats.org/drawingml/2006/main">
              <a:ext uri="{FF2B5EF4-FFF2-40B4-BE49-F238E27FC236}">
                <a16:creationId xmlns:a16="http://schemas.microsoft.com/office/drawing/2014/main" id="{27AB9478-2433-4596-99F7-C2322F20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04288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CAMERA</a:t>
            </a:r>
            <a:endParaRPr/>
          </a:p>
        </p:txBody>
      </p:sp>
      <p:sp>
        <p:nvSpPr>
          <p:cNvPr id="289" name="Google Shape;289;p11">
            <a:extLst xmlns:a="http://schemas.openxmlformats.org/drawingml/2006/main">
              <a:ext uri="{FF2B5EF4-FFF2-40B4-BE49-F238E27FC236}">
                <a16:creationId xmlns:a16="http://schemas.microsoft.com/office/drawing/2014/main" id="{385980FD-7024-42BA-9F08-57A4DB5A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0" name="Google Shape;290;p11">
            <a:extLst xmlns:a="http://schemas.openxmlformats.org/drawingml/2006/main">
              <a:ext uri="{FF2B5EF4-FFF2-40B4-BE49-F238E27FC236}">
                <a16:creationId xmlns:a16="http://schemas.microsoft.com/office/drawing/2014/main" id="{FC6ECE3E-7748-4F79-8094-9BEEC42E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304288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FRAME CHECK</a:t>
            </a:r>
            <a:endParaRPr/>
          </a:p>
        </p:txBody>
      </p:sp>
      <p:sp>
        <p:nvSpPr>
          <p:cNvPr id="291" name="Google Shape;291;p11">
            <a:extLst xmlns:a="http://schemas.openxmlformats.org/drawingml/2006/main">
              <a:ext uri="{FF2B5EF4-FFF2-40B4-BE49-F238E27FC236}">
                <a16:creationId xmlns:a16="http://schemas.microsoft.com/office/drawing/2014/main" id="{4BCF7D3E-9ED1-451C-B6B3-4BABB036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2" name="Google Shape;292;p11">
            <a:extLst xmlns:a="http://schemas.openxmlformats.org/drawingml/2006/main">
              <a:ext uri="{FF2B5EF4-FFF2-40B4-BE49-F238E27FC236}">
                <a16:creationId xmlns:a16="http://schemas.microsoft.com/office/drawing/2014/main" id="{BE9424BD-4DEE-4962-9D8A-62D7BF5A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04288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PREPROCESS</a:t>
            </a:r>
            <a:endParaRPr/>
          </a:p>
        </p:txBody>
      </p:sp>
      <p:sp>
        <p:nvSpPr>
          <p:cNvPr id="293" name="Google Shape;293;p11">
            <a:extLst xmlns:a="http://schemas.openxmlformats.org/drawingml/2006/main">
              <a:ext uri="{FF2B5EF4-FFF2-40B4-BE49-F238E27FC236}">
                <a16:creationId xmlns:a16="http://schemas.microsoft.com/office/drawing/2014/main" id="{F5935043-333F-4EEF-8544-2A87E8BB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 w="171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4" name="Google Shape;294;p11">
            <a:extLst xmlns:a="http://schemas.openxmlformats.org/drawingml/2006/main">
              <a:ext uri="{FF2B5EF4-FFF2-40B4-BE49-F238E27FC236}">
                <a16:creationId xmlns:a16="http://schemas.microsoft.com/office/drawing/2014/main" id="{19CBB158-7862-4624-BA39-0FCD530D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2304288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</a:t>
            </a:r>
            <a:endParaRPr/>
          </a:p>
        </p:txBody>
      </p:sp>
      <p:sp>
        <p:nvSpPr>
          <p:cNvPr id="295" name="Google Shape;295;p11">
            <a:extLst xmlns:a="http://schemas.openxmlformats.org/drawingml/2006/main">
              <a:ext uri="{FF2B5EF4-FFF2-40B4-BE49-F238E27FC236}">
                <a16:creationId xmlns:a16="http://schemas.microsoft.com/office/drawing/2014/main" id="{E144FDAE-7E29-472A-A48A-5B794E14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6" name="Google Shape;296;p11">
            <a:extLst xmlns:a="http://schemas.openxmlformats.org/drawingml/2006/main">
              <a:ext uri="{FF2B5EF4-FFF2-40B4-BE49-F238E27FC236}">
                <a16:creationId xmlns:a16="http://schemas.microsoft.com/office/drawing/2014/main" id="{79F07C06-0614-44E4-9599-03E0FAA0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456" y="2304288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ALERT POLICY</a:t>
            </a:r>
            <a:endParaRPr/>
          </a:p>
        </p:txBody>
      </p:sp>
      <p:sp>
        <p:nvSpPr>
          <p:cNvPr id="297" name="Google Shape;297;p11">
            <a:extLst xmlns:a="http://schemas.openxmlformats.org/drawingml/2006/main">
              <a:ext uri="{FF2B5EF4-FFF2-40B4-BE49-F238E27FC236}">
                <a16:creationId xmlns:a16="http://schemas.microsoft.com/office/drawing/2014/main" id="{C4F0E7C8-C50A-45C4-988E-0EDD72A8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8" name="Google Shape;298;p11">
            <a:extLst xmlns:a="http://schemas.openxmlformats.org/drawingml/2006/main">
              <a:ext uri="{FF2B5EF4-FFF2-40B4-BE49-F238E27FC236}">
                <a16:creationId xmlns:a16="http://schemas.microsoft.com/office/drawing/2014/main" id="{45435D4E-47F7-4643-87E6-1FD9EB9A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04288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EVENT LOG</a:t>
            </a:r>
            <a:endParaRPr/>
          </a:p>
        </p:txBody>
      </p:sp>
      <p:sp>
        <p:nvSpPr>
          <p:cNvPr id="299" name="Google Shape;299;p11">
            <a:extLst xmlns:a="http://schemas.openxmlformats.org/drawingml/2006/main">
              <a:ext uri="{FF2B5EF4-FFF2-40B4-BE49-F238E27FC236}">
                <a16:creationId xmlns:a16="http://schemas.microsoft.com/office/drawing/2014/main" id="{44CDC053-5E58-4CC5-AE62-6FEB2ADA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2176272"/>
            <a:ext cx="1170432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2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0" name="Google Shape;300;p11">
            <a:extLst xmlns:a="http://schemas.openxmlformats.org/drawingml/2006/main">
              <a:ext uri="{FF2B5EF4-FFF2-40B4-BE49-F238E27FC236}">
                <a16:creationId xmlns:a16="http://schemas.microsoft.com/office/drawing/2014/main" id="{2A32CE30-5446-40B4-9F8A-9247A773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0" y="2304288"/>
            <a:ext cx="1024128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OUTCOME CHECK</a:t>
            </a:r>
            <a:endParaRPr/>
          </a:p>
        </p:txBody>
      </p:sp>
      <p:cxnSp>
        <p:nvCxnSpPr>
          <p:cNvPr id="450" name="Google Shape;301;p11"/>
          <p:cNvCxnSpPr/>
          <p:nvPr/>
        </p:nvCxnSpPr>
        <p:spPr>
          <a:xfrm xmlns:a="http://schemas.openxmlformats.org/drawingml/2006/main">
            <a:off x="2029968" y="2551176"/>
            <a:ext cx="25603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02" name="Google Shape;302;p11">
            <a:extLst xmlns:a="http://schemas.openxmlformats.org/drawingml/2006/main">
              <a:ext uri="{FF2B5EF4-FFF2-40B4-BE49-F238E27FC236}">
                <a16:creationId xmlns:a16="http://schemas.microsoft.com/office/drawing/2014/main" id="{C4B3B264-7D57-4B25-8A63-4880673C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0280" y="248716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2" name="Google Shape;303;p11"/>
          <p:cNvCxnSpPr/>
          <p:nvPr/>
        </p:nvCxnSpPr>
        <p:spPr>
          <a:xfrm xmlns:a="http://schemas.openxmlformats.org/drawingml/2006/main">
            <a:off x="3566160" y="2551176"/>
            <a:ext cx="256031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04" name="Google Shape;304;p11">
            <a:extLst xmlns:a="http://schemas.openxmlformats.org/drawingml/2006/main">
              <a:ext uri="{FF2B5EF4-FFF2-40B4-BE49-F238E27FC236}">
                <a16:creationId xmlns:a16="http://schemas.microsoft.com/office/drawing/2014/main" id="{D3738BD9-DC05-4B3B-826E-DF73DE0F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776472" y="248716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4" name="Google Shape;305;p11"/>
          <p:cNvCxnSpPr/>
          <p:nvPr/>
        </p:nvCxnSpPr>
        <p:spPr>
          <a:xfrm xmlns:a="http://schemas.openxmlformats.org/drawingml/2006/main">
            <a:off x="5102352" y="2551176"/>
            <a:ext cx="25603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06" name="Google Shape;306;p11">
            <a:extLst xmlns:a="http://schemas.openxmlformats.org/drawingml/2006/main">
              <a:ext uri="{FF2B5EF4-FFF2-40B4-BE49-F238E27FC236}">
                <a16:creationId xmlns:a16="http://schemas.microsoft.com/office/drawing/2014/main" id="{B75B749E-1E32-4B11-9C74-F0BE476D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12664" y="248716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6" name="Google Shape;307;p11"/>
          <p:cNvCxnSpPr/>
          <p:nvPr/>
        </p:nvCxnSpPr>
        <p:spPr>
          <a:xfrm xmlns:a="http://schemas.openxmlformats.org/drawingml/2006/main">
            <a:off x="6638544" y="2551176"/>
            <a:ext cx="25603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08" name="Google Shape;308;p11">
            <a:extLst xmlns:a="http://schemas.openxmlformats.org/drawingml/2006/main">
              <a:ext uri="{FF2B5EF4-FFF2-40B4-BE49-F238E27FC236}">
                <a16:creationId xmlns:a16="http://schemas.microsoft.com/office/drawing/2014/main" id="{5ED2644A-494E-41FC-B8D5-72ECF7CC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48856" y="248716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8" name="Google Shape;309;p11"/>
          <p:cNvCxnSpPr/>
          <p:nvPr/>
        </p:nvCxnSpPr>
        <p:spPr>
          <a:xfrm xmlns:a="http://schemas.openxmlformats.org/drawingml/2006/main">
            <a:off x="8174736" y="2551176"/>
            <a:ext cx="25603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10" name="Google Shape;310;p11">
            <a:extLst xmlns:a="http://schemas.openxmlformats.org/drawingml/2006/main">
              <a:ext uri="{FF2B5EF4-FFF2-40B4-BE49-F238E27FC236}">
                <a16:creationId xmlns:a16="http://schemas.microsoft.com/office/drawing/2014/main" id="{BD3135CB-D346-4078-93AB-CA453EEE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85048" y="248716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60" name="Google Shape;311;p11"/>
          <p:cNvCxnSpPr/>
          <p:nvPr/>
        </p:nvCxnSpPr>
        <p:spPr>
          <a:xfrm xmlns:a="http://schemas.openxmlformats.org/drawingml/2006/main">
            <a:off x="9710928" y="2551176"/>
            <a:ext cx="25603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12" name="Google Shape;312;p11">
            <a:extLst xmlns:a="http://schemas.openxmlformats.org/drawingml/2006/main">
              <a:ext uri="{FF2B5EF4-FFF2-40B4-BE49-F238E27FC236}">
                <a16:creationId xmlns:a16="http://schemas.microsoft.com/office/drawing/2014/main" id="{854435E7-07A6-4BE5-B9E3-7E1343FF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921240" y="248716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3" name="Google Shape;313;p11">
            <a:extLst xmlns:a="http://schemas.openxmlformats.org/drawingml/2006/main">
              <a:ext uri="{FF2B5EF4-FFF2-40B4-BE49-F238E27FC236}">
                <a16:creationId xmlns:a16="http://schemas.microsoft.com/office/drawing/2014/main" id="{810F773B-CF8B-423D-87DE-CC6C0E88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67328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CONTROLS AROUND THE PATH</a:t>
            </a:r>
            <a:endParaRPr/>
          </a:p>
        </p:txBody>
      </p:sp>
      <p:sp>
        <p:nvSpPr>
          <p:cNvPr id="314" name="Google Shape;314;p11">
            <a:extLst xmlns:a="http://schemas.openxmlformats.org/drawingml/2006/main">
              <a:ext uri="{FF2B5EF4-FFF2-40B4-BE49-F238E27FC236}">
                <a16:creationId xmlns:a16="http://schemas.microsoft.com/office/drawing/2014/main" id="{C1C8284B-7FFF-4EF9-A68C-5BF9A710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2"/>
            <a:ext cx="2331720" cy="11155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5" name="Google Shape;315;p11">
            <a:extLst xmlns:a="http://schemas.openxmlformats.org/drawingml/2006/main">
              <a:ext uri="{FF2B5EF4-FFF2-40B4-BE49-F238E27FC236}">
                <a16:creationId xmlns:a16="http://schemas.microsoft.com/office/drawing/2014/main" id="{C3F14718-16B3-4FAB-BA4A-45D115F1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" y="4261104"/>
            <a:ext cx="2020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TESTS</a:t>
            </a:r>
            <a:endParaRPr/>
          </a:p>
        </p:txBody>
      </p:sp>
      <p:sp>
        <p:nvSpPr>
          <p:cNvPr id="316" name="Google Shape;316;p11">
            <a:extLst xmlns:a="http://schemas.openxmlformats.org/drawingml/2006/main">
              <a:ext uri="{FF2B5EF4-FFF2-40B4-BE49-F238E27FC236}">
                <a16:creationId xmlns:a16="http://schemas.microsoft.com/office/drawing/2014/main" id="{BC211F56-A64C-472F-A288-C9594DB0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" y="4526280"/>
            <a:ext cx="202082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reject invalid frames before alerting</a:t>
            </a:r>
            <a:endParaRPr/>
          </a:p>
        </p:txBody>
      </p:sp>
      <p:sp>
        <p:nvSpPr>
          <p:cNvPr id="317" name="Google Shape;317;p11">
            <a:extLst xmlns:a="http://schemas.openxmlformats.org/drawingml/2006/main">
              <a:ext uri="{FF2B5EF4-FFF2-40B4-BE49-F238E27FC236}">
                <a16:creationId xmlns:a16="http://schemas.microsoft.com/office/drawing/2014/main" id="{403F636B-5378-4890-8537-0D3D2411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142232"/>
            <a:ext cx="2331720" cy="11155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Google Shape;318;p11">
            <a:extLst xmlns:a="http://schemas.openxmlformats.org/drawingml/2006/main">
              <a:ext uri="{FF2B5EF4-FFF2-40B4-BE49-F238E27FC236}">
                <a16:creationId xmlns:a16="http://schemas.microsoft.com/office/drawing/2014/main" id="{41417781-4FA2-42D2-B374-AB329DF1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4261104"/>
            <a:ext cx="2020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VERSIONING</a:t>
            </a:r>
            <a:endParaRPr/>
          </a:p>
        </p:txBody>
      </p:sp>
      <p:sp>
        <p:nvSpPr>
          <p:cNvPr id="319" name="Google Shape;319;p11">
            <a:extLst xmlns:a="http://schemas.openxmlformats.org/drawingml/2006/main">
              <a:ext uri="{FF2B5EF4-FFF2-40B4-BE49-F238E27FC236}">
                <a16:creationId xmlns:a16="http://schemas.microsoft.com/office/drawing/2014/main" id="{F97A9B33-DB87-4165-B056-63847991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4526280"/>
            <a:ext cx="202082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link camera, code, model, and policy versions</a:t>
            </a:r>
            <a:endParaRPr/>
          </a:p>
        </p:txBody>
      </p:sp>
      <p:sp>
        <p:nvSpPr>
          <p:cNvPr id="320" name="Google Shape;320;p11">
            <a:extLst xmlns:a="http://schemas.openxmlformats.org/drawingml/2006/main">
              <a:ext uri="{FF2B5EF4-FFF2-40B4-BE49-F238E27FC236}">
                <a16:creationId xmlns:a16="http://schemas.microsoft.com/office/drawing/2014/main" id="{C865A80A-7599-49BF-BA20-86EA4B4F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142232"/>
            <a:ext cx="2331720" cy="11155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1" name="Google Shape;321;p11">
            <a:extLst xmlns:a="http://schemas.openxmlformats.org/drawingml/2006/main">
              <a:ext uri="{FF2B5EF4-FFF2-40B4-BE49-F238E27FC236}">
                <a16:creationId xmlns:a16="http://schemas.microsoft.com/office/drawing/2014/main" id="{505DCF06-D844-4460-8772-89158608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61104"/>
            <a:ext cx="2020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ROLLBACK</a:t>
            </a:r>
            <a:endParaRPr/>
          </a:p>
        </p:txBody>
      </p:sp>
      <p:sp>
        <p:nvSpPr>
          <p:cNvPr id="322" name="Google Shape;322;p11">
            <a:extLst xmlns:a="http://schemas.openxmlformats.org/drawingml/2006/main">
              <a:ext uri="{FF2B5EF4-FFF2-40B4-BE49-F238E27FC236}">
                <a16:creationId xmlns:a16="http://schemas.microsoft.com/office/drawing/2014/main" id="{B6313491-3C55-4381-BC24-F51F6FF2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26280"/>
            <a:ext cx="202082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restore the last trusted package</a:t>
            </a:r>
            <a:endParaRPr/>
          </a:p>
        </p:txBody>
      </p:sp>
      <p:sp>
        <p:nvSpPr>
          <p:cNvPr id="323" name="Google Shape;323;p11">
            <a:extLst xmlns:a="http://schemas.openxmlformats.org/drawingml/2006/main">
              <a:ext uri="{FF2B5EF4-FFF2-40B4-BE49-F238E27FC236}">
                <a16:creationId xmlns:a16="http://schemas.microsoft.com/office/drawing/2014/main" id="{77E4E751-5F54-46FC-A836-B6601E72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144" y="4142232"/>
            <a:ext cx="2331720" cy="11155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4" name="Google Shape;324;p11">
            <a:extLst xmlns:a="http://schemas.openxmlformats.org/drawingml/2006/main">
              <a:ext uri="{FF2B5EF4-FFF2-40B4-BE49-F238E27FC236}">
                <a16:creationId xmlns:a16="http://schemas.microsoft.com/office/drawing/2014/main" id="{28CAB976-F6A2-4F29-9C7A-73B8CEC1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261104"/>
            <a:ext cx="2020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OWNER</a:t>
            </a:r>
            <a:endParaRPr/>
          </a:p>
        </p:txBody>
      </p:sp>
      <p:sp>
        <p:nvSpPr>
          <p:cNvPr id="325" name="Google Shape;325;p11">
            <a:extLst xmlns:a="http://schemas.openxmlformats.org/drawingml/2006/main">
              <a:ext uri="{FF2B5EF4-FFF2-40B4-BE49-F238E27FC236}">
                <a16:creationId xmlns:a16="http://schemas.microsoft.com/office/drawing/2014/main" id="{36FEA28A-C7FC-4DF4-83F7-576E5EF2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526280"/>
            <a:ext cx="202082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decide when to investigate, pause, or update</a:t>
            </a:r>
            <a:endParaRPr/>
          </a:p>
        </p:txBody>
      </p:sp>
      <p:sp>
        <p:nvSpPr>
          <p:cNvPr id="326" name="Google Shape;326;p11">
            <a:extLst xmlns:a="http://schemas.openxmlformats.org/drawingml/2006/main">
              <a:ext uri="{FF2B5EF4-FFF2-40B4-BE49-F238E27FC236}">
                <a16:creationId xmlns:a16="http://schemas.microsoft.com/office/drawing/2014/main" id="{1996B79A-21B7-4A41-8DA9-1F1E66F2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10469880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7" name="Google Shape;327;p11">
            <a:extLst xmlns:a="http://schemas.openxmlformats.org/drawingml/2006/main">
              <a:ext uri="{FF2B5EF4-FFF2-40B4-BE49-F238E27FC236}">
                <a16:creationId xmlns:a16="http://schemas.microsoft.com/office/drawing/2014/main" id="{94C75155-BC6D-489E-B35D-D22A4351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79008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9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Google Shape;328;p11">
            <a:extLst xmlns:a="http://schemas.openxmlformats.org/drawingml/2006/main">
              <a:ext uri="{FF2B5EF4-FFF2-40B4-BE49-F238E27FC236}">
                <a16:creationId xmlns:a16="http://schemas.microsoft.com/office/drawing/2014/main" id="{C09142AB-6AD7-4AE4-B000-17AD7E0F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715000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FireWatch is the full decision path—not only the classifier.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78071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7" name="Google Shape;207;p9">
            <a:extLst xmlns:a="http://schemas.openxmlformats.org/drawingml/2006/main">
              <a:ext uri="{FF2B5EF4-FFF2-40B4-BE49-F238E27FC236}">
                <a16:creationId xmlns:a16="http://schemas.microsoft.com/office/drawing/2014/main" id="{3E55C253-729E-4E47-BE50-764AE5EB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FAILURE PATHWAYS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Google Shape;208;p9">
            <a:extLst xmlns:a="http://schemas.openxmlformats.org/drawingml/2006/main">
              <a:ext uri="{FF2B5EF4-FFF2-40B4-BE49-F238E27FC236}">
                <a16:creationId xmlns:a16="http://schemas.microsoft.com/office/drawing/2014/main" id="{01697C22-855A-4BC1-9D58-5045CB85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How FireWatch Can Fail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21" name="Google Shape;209;p9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0" name="Google Shape;210;p9">
            <a:extLst xmlns:a="http://schemas.openxmlformats.org/drawingml/2006/main">
              <a:ext uri="{FF2B5EF4-FFF2-40B4-BE49-F238E27FC236}">
                <a16:creationId xmlns:a16="http://schemas.microsoft.com/office/drawing/2014/main" id="{E20176D9-F217-4ACD-9D2E-845D345F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07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Google Shape;211;p9">
            <a:extLst xmlns:a="http://schemas.openxmlformats.org/drawingml/2006/main">
              <a:ext uri="{FF2B5EF4-FFF2-40B4-BE49-F238E27FC236}">
                <a16:creationId xmlns:a16="http://schemas.microsoft.com/office/drawing/2014/main" id="{FA9DF977-33DF-49CE-BD72-D18CD184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Google Shape;212;p9">
            <a:extLst xmlns:a="http://schemas.openxmlformats.org/drawingml/2006/main">
              <a:ext uri="{FF2B5EF4-FFF2-40B4-BE49-F238E27FC236}">
                <a16:creationId xmlns:a16="http://schemas.microsoft.com/office/drawing/2014/main" id="{C03615FD-07AD-4F5D-8329-36064B18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581912"/>
            <a:ext cx="101498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 failure can enter before the classifier and appear later as an unsafe alert decision.</a:t>
            </a:r>
            <a:endParaRPr sz="14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25" name="Google Shape;213;p9"/>
          <p:cNvCxnSpPr/>
          <p:nvPr/>
        </p:nvCxnSpPr>
        <p:spPr>
          <a:xfrm xmlns:a="http://schemas.openxmlformats.org/drawingml/2006/main">
            <a:off x="1143000" y="2313432"/>
            <a:ext cx="98298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4" name="Google Shape;214;p9">
            <a:extLst xmlns:a="http://schemas.openxmlformats.org/drawingml/2006/main">
              <a:ext uri="{FF2B5EF4-FFF2-40B4-BE49-F238E27FC236}">
                <a16:creationId xmlns:a16="http://schemas.microsoft.com/office/drawing/2014/main" id="{C46F60D0-D1E8-4235-86E4-17D4D41F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029968"/>
            <a:ext cx="109728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enters as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Google Shape;215;p9">
            <a:extLst xmlns:a="http://schemas.openxmlformats.org/drawingml/2006/main">
              <a:ext uri="{FF2B5EF4-FFF2-40B4-BE49-F238E27FC236}">
                <a16:creationId xmlns:a16="http://schemas.microsoft.com/office/drawing/2014/main" id="{754709CB-B3C6-49EF-B637-E1998CBD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29968"/>
            <a:ext cx="132588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system state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Google Shape;216;p9">
            <a:extLst xmlns:a="http://schemas.openxmlformats.org/drawingml/2006/main">
              <a:ext uri="{FF2B5EF4-FFF2-40B4-BE49-F238E27FC236}">
                <a16:creationId xmlns:a16="http://schemas.microsoft.com/office/drawing/2014/main" id="{E3AA3C5E-158B-4E19-8F7C-11D3E0C2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032" y="2029968"/>
            <a:ext cx="128016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appears as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29" name="Google Shape;217;p9"/>
          <p:cNvCxnSpPr/>
          <p:nvPr/>
        </p:nvCxnSpPr>
        <p:spPr>
          <a:xfrm xmlns:a="http://schemas.openxmlformats.org/drawingml/2006/main">
            <a:off x="1234440" y="3035808"/>
            <a:ext cx="3063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8" name="Google Shape;218;p9">
            <a:extLst xmlns:a="http://schemas.openxmlformats.org/drawingml/2006/main">
              <a:ext uri="{FF2B5EF4-FFF2-40B4-BE49-F238E27FC236}">
                <a16:creationId xmlns:a16="http://schemas.microsoft.com/office/drawing/2014/main" id="{40CA2098-1DB7-4059-8755-97C7BF88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5176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Camera shift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Google Shape;219;p9">
            <a:extLst xmlns:a="http://schemas.openxmlformats.org/drawingml/2006/main">
              <a:ext uri="{FF2B5EF4-FFF2-40B4-BE49-F238E27FC236}">
                <a16:creationId xmlns:a16="http://schemas.microsoft.com/office/drawing/2014/main" id="{12A0D54E-08FB-4F6B-A99B-4B3067E4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642616"/>
            <a:ext cx="17373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new angle, glare, darkness</a:t>
            </a:r>
            <a:endParaRPr sz="8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2" name="Google Shape;220;p9"/>
          <p:cNvCxnSpPr/>
          <p:nvPr/>
        </p:nvCxnSpPr>
        <p:spPr>
          <a:xfrm xmlns:a="http://schemas.openxmlformats.org/drawingml/2006/main">
            <a:off x="1234440" y="3538728"/>
            <a:ext cx="3063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1" name="Google Shape;221;p9">
            <a:extLst xmlns:a="http://schemas.openxmlformats.org/drawingml/2006/main">
              <a:ext uri="{FF2B5EF4-FFF2-40B4-BE49-F238E27FC236}">
                <a16:creationId xmlns:a16="http://schemas.microsoft.com/office/drawing/2014/main" id="{C6CBE897-15C7-441A-8BA2-0B0B14F7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5468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Label gap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Google Shape;222;p9">
            <a:extLst xmlns:a="http://schemas.openxmlformats.org/drawingml/2006/main">
              <a:ext uri="{FF2B5EF4-FFF2-40B4-BE49-F238E27FC236}">
                <a16:creationId xmlns:a16="http://schemas.microsoft.com/office/drawing/2014/main" id="{7352C84C-E186-4A3C-8007-52489D49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45536"/>
            <a:ext cx="17373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steam-like scenes were never labeled</a:t>
            </a:r>
            <a:endParaRPr sz="8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5" name="Google Shape;223;p9"/>
          <p:cNvCxnSpPr/>
          <p:nvPr/>
        </p:nvCxnSpPr>
        <p:spPr>
          <a:xfrm xmlns:a="http://schemas.openxmlformats.org/drawingml/2006/main">
            <a:off x="1234440" y="4041648"/>
            <a:ext cx="3063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4" name="Google Shape;224;p9">
            <a:extLst xmlns:a="http://schemas.openxmlformats.org/drawingml/2006/main">
              <a:ext uri="{FF2B5EF4-FFF2-40B4-BE49-F238E27FC236}">
                <a16:creationId xmlns:a16="http://schemas.microsoft.com/office/drawing/2014/main" id="{0D933697-3391-4ACA-B4D1-581E71B9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65760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Policy error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Google Shape;225;p9">
            <a:extLst xmlns:a="http://schemas.openxmlformats.org/drawingml/2006/main">
              <a:ext uri="{FF2B5EF4-FFF2-40B4-BE49-F238E27FC236}">
                <a16:creationId xmlns:a16="http://schemas.microsoft.com/office/drawing/2014/main" id="{F249C0B2-D424-47A6-AEB4-78D57CC9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48456"/>
            <a:ext cx="17373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 weak score becomes an urgent alert</a:t>
            </a:r>
            <a:endParaRPr sz="8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Google Shape;226;p9">
            <a:extLst xmlns:a="http://schemas.openxmlformats.org/drawingml/2006/main">
              <a:ext uri="{FF2B5EF4-FFF2-40B4-BE49-F238E27FC236}">
                <a16:creationId xmlns:a16="http://schemas.microsoft.com/office/drawing/2014/main" id="{4725D908-0769-4421-8AD6-B8D3180A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962656"/>
            <a:ext cx="288036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rmAutofit fontScale="79878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285B9D"/>
                </a:solidFill>
                <a:latin typeface="Arial"/>
                <a:ea typeface="Arial"/>
                <a:cs typeface="Arial"/>
              </a:rPr>
              <a:t>FireWatch</a:t>
            </a:r>
          </a:p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285B9D"/>
                </a:solidFill>
                <a:latin typeface="Arial"/>
                <a:ea typeface="Arial"/>
                <a:cs typeface="Arial"/>
              </a:rPr>
              <a:t>frames + model + policy + operator</a:t>
            </a:r>
          </a:p>
        </p:txBody>
      </p:sp>
      <p:cxnSp>
        <p:nvCxnSpPr>
          <p:cNvPr id="339" name="Google Shape;227;p9"/>
          <p:cNvCxnSpPr/>
          <p:nvPr/>
        </p:nvCxnSpPr>
        <p:spPr>
          <a:xfrm xmlns:a="http://schemas.openxmlformats.org/drawingml/2006/main">
            <a:off x="7955280" y="3035808"/>
            <a:ext cx="3063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8" name="Google Shape;228;p9">
            <a:extLst xmlns:a="http://schemas.openxmlformats.org/drawingml/2006/main">
              <a:ext uri="{FF2B5EF4-FFF2-40B4-BE49-F238E27FC236}">
                <a16:creationId xmlns:a16="http://schemas.microsoft.com/office/drawing/2014/main" id="{D7DE809F-7CFE-42C5-BA25-6C7DAE03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65176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Model update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Google Shape;229;p9">
            <a:extLst xmlns:a="http://schemas.openxmlformats.org/drawingml/2006/main">
              <a:ext uri="{FF2B5EF4-FFF2-40B4-BE49-F238E27FC236}">
                <a16:creationId xmlns:a16="http://schemas.microsoft.com/office/drawing/2014/main" id="{06EE3C0E-3FFE-4A78-9081-6D65240E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642616"/>
            <a:ext cx="17373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trusted scenes now behave differently</a:t>
            </a:r>
            <a:endParaRPr sz="8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2" name="Google Shape;230;p9"/>
          <p:cNvCxnSpPr/>
          <p:nvPr/>
        </p:nvCxnSpPr>
        <p:spPr>
          <a:xfrm xmlns:a="http://schemas.openxmlformats.org/drawingml/2006/main">
            <a:off x="7955280" y="3538728"/>
            <a:ext cx="3063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1" name="Google Shape;231;p9">
            <a:extLst xmlns:a="http://schemas.openxmlformats.org/drawingml/2006/main">
              <a:ext uri="{FF2B5EF4-FFF2-40B4-BE49-F238E27FC236}">
                <a16:creationId xmlns:a16="http://schemas.microsoft.com/office/drawing/2014/main" id="{43BAE532-9A65-4DA0-9702-6920ECF7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5468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Late alert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Google Shape;232;p9">
            <a:extLst xmlns:a="http://schemas.openxmlformats.org/drawingml/2006/main">
              <a:ext uri="{FF2B5EF4-FFF2-40B4-BE49-F238E27FC236}">
                <a16:creationId xmlns:a16="http://schemas.microsoft.com/office/drawing/2014/main" id="{BB632B52-7378-4D12-8772-E1CC0AAE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145536"/>
            <a:ext cx="17373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the operator receives it too late</a:t>
            </a:r>
            <a:endParaRPr sz="8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5" name="Google Shape;233;p9"/>
          <p:cNvCxnSpPr/>
          <p:nvPr/>
        </p:nvCxnSpPr>
        <p:spPr>
          <a:xfrm xmlns:a="http://schemas.openxmlformats.org/drawingml/2006/main">
            <a:off x="7955280" y="4041648"/>
            <a:ext cx="3063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4" name="Google Shape;234;p9">
            <a:extLst xmlns:a="http://schemas.openxmlformats.org/drawingml/2006/main">
              <a:ext uri="{FF2B5EF4-FFF2-40B4-BE49-F238E27FC236}">
                <a16:creationId xmlns:a16="http://schemas.microsoft.com/office/drawing/2014/main" id="{A0B06E0B-07EA-4569-9795-6F5C966C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65760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Silent drift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Google Shape;235;p9">
            <a:extLst xmlns:a="http://schemas.openxmlformats.org/drawingml/2006/main">
              <a:ext uri="{FF2B5EF4-FFF2-40B4-BE49-F238E27FC236}">
                <a16:creationId xmlns:a16="http://schemas.microsoft.com/office/drawing/2014/main" id="{8C750184-4D59-489C-9005-C77CAEF1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648456"/>
            <a:ext cx="17373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no comparison exposes the loss</a:t>
            </a:r>
            <a:endParaRPr sz="8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Google Shape;236;p9">
            <a:extLst xmlns:a="http://schemas.openxmlformats.org/drawingml/2006/main">
              <a:ext uri="{FF2B5EF4-FFF2-40B4-BE49-F238E27FC236}">
                <a16:creationId xmlns:a16="http://schemas.microsoft.com/office/drawing/2014/main" id="{7480098A-B2AF-4BC2-BD35-7A50F3B6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559552"/>
            <a:ext cx="845820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 cmpd="sng">
            <a:solidFill>
              <a:srgbClr val="1E4F91">
                <a:alpha val="7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9">
            <a:extLst xmlns:a="http://schemas.openxmlformats.org/drawingml/2006/main">
              <a:ext uri="{FF2B5EF4-FFF2-40B4-BE49-F238E27FC236}">
                <a16:creationId xmlns:a16="http://schemas.microsoft.com/office/drawing/2014/main" id="{A8A4D950-21F3-4273-ACFB-76614125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715000"/>
            <a:ext cx="79095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40"/>
              <a:buFont typeface="Arial"/>
              <a:buNone/>
            </a:pPr>
            <a:r>
              <a:rPr sz="11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Production work makes each failure path observable and actionable.</a:t>
            </a:r>
            <a:endParaRPr sz="11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88386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1" name="Google Shape;1011;p32">
            <a:extLst xmlns:a="http://schemas.openxmlformats.org/drawingml/2006/main">
              <a:ext uri="{FF2B5EF4-FFF2-40B4-BE49-F238E27FC236}">
                <a16:creationId xmlns:a16="http://schemas.microsoft.com/office/drawing/2014/main" id="{7977F20A-78C5-4379-ACBC-F6DE100E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CLASS ACTIVITY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2" name="Google Shape;1012;p32">
            <a:extLst xmlns:a="http://schemas.openxmlformats.org/drawingml/2006/main">
              <a:ext uri="{FF2B5EF4-FFF2-40B4-BE49-F238E27FC236}">
                <a16:creationId xmlns:a16="http://schemas.microsoft.com/office/drawing/2014/main" id="{F42842FC-8179-4B5E-B532-B43332A0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Boundary Check: What Must Be Included?</a:t>
            </a:r>
            <a:endParaRPr sz="245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89" name="Google Shape;1013;p32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14" name="Google Shape;1014;p32">
            <a:extLst xmlns:a="http://schemas.openxmlformats.org/drawingml/2006/main">
              <a:ext uri="{FF2B5EF4-FFF2-40B4-BE49-F238E27FC236}">
                <a16:creationId xmlns:a16="http://schemas.microsoft.com/office/drawing/2014/main" id="{3333180B-AE3C-4E45-B4FD-9671E3F1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08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5" name="Google Shape;1015;p32">
            <a:extLst xmlns:a="http://schemas.openxmlformats.org/drawingml/2006/main">
              <a:ext uri="{FF2B5EF4-FFF2-40B4-BE49-F238E27FC236}">
                <a16:creationId xmlns:a16="http://schemas.microsoft.com/office/drawing/2014/main" id="{E773D2C1-AC4E-466F-A448-2C05F406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92" name="Google Shape;1016;p32"/>
          <p:cNvCxnSpPr/>
          <p:nvPr/>
        </p:nvCxnSpPr>
        <p:spPr>
          <a:xfrm xmlns:a="http://schemas.openxmlformats.org/drawingml/2006/main">
            <a:off x="1280160" y="2185416"/>
            <a:ext cx="9646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17" name="Google Shape;1017;p32">
            <a:extLst xmlns:a="http://schemas.openxmlformats.org/drawingml/2006/main">
              <a:ext uri="{FF2B5EF4-FFF2-40B4-BE49-F238E27FC236}">
                <a16:creationId xmlns:a16="http://schemas.microsoft.com/office/drawing/2014/main" id="{C00F7F53-2DB9-4FED-AC3D-C9E35ADE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773936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80"/>
              <a:buFont typeface="Arial"/>
              <a:buNone/>
            </a:pPr>
            <a:r>
              <a:rPr sz="880" b="1">
                <a:solidFill>
                  <a:srgbClr val="2A6FC5"/>
                </a:solidFill>
                <a:latin typeface="Arial"/>
                <a:ea typeface="Arial"/>
                <a:cs typeface="Arial"/>
              </a:rPr>
              <a:t>System boundary</a:t>
            </a:r>
            <a:endParaRPr sz="8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8" name="Google Shape;1018;p32">
            <a:extLst xmlns:a="http://schemas.openxmlformats.org/drawingml/2006/main">
              <a:ext uri="{FF2B5EF4-FFF2-40B4-BE49-F238E27FC236}">
                <a16:creationId xmlns:a16="http://schemas.microsoft.com/office/drawing/2014/main" id="{C97F518D-C564-46A1-B098-3170EFBB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64792"/>
            <a:ext cx="8046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30"/>
              <a:buFont typeface="Arial"/>
              <a:buNone/>
            </a:pPr>
            <a:r>
              <a:rPr sz="1030">
                <a:solidFill>
                  <a:srgbClr val="172533"/>
                </a:solidFill>
                <a:latin typeface="Arial"/>
                <a:ea typeface="Arial"/>
                <a:cs typeface="Arial"/>
              </a:rPr>
              <a:t>Which components belong inside FireWatch?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95" name="Google Shape;1019;p32"/>
          <p:cNvCxnSpPr/>
          <p:nvPr/>
        </p:nvCxnSpPr>
        <p:spPr>
          <a:xfrm xmlns:a="http://schemas.openxmlformats.org/drawingml/2006/main">
            <a:off x="1280160" y="2715768"/>
            <a:ext cx="9646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0" name="Google Shape;1020;p32">
            <a:extLst xmlns:a="http://schemas.openxmlformats.org/drawingml/2006/main">
              <a:ext uri="{FF2B5EF4-FFF2-40B4-BE49-F238E27FC236}">
                <a16:creationId xmlns:a16="http://schemas.microsoft.com/office/drawing/2014/main" id="{33640D36-8017-4935-AF0E-FB6CE6BC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04288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880"/>
              <a:buFont typeface="Arial"/>
              <a:buNone/>
            </a:pPr>
            <a:r>
              <a:rPr sz="880" b="1">
                <a:solidFill>
                  <a:srgbClr val="279771"/>
                </a:solidFill>
                <a:latin typeface="Arial"/>
                <a:ea typeface="Arial"/>
                <a:cs typeface="Arial"/>
              </a:rPr>
              <a:t>Input</a:t>
            </a:r>
            <a:endParaRPr sz="8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1" name="Google Shape;1021;p32">
            <a:extLst xmlns:a="http://schemas.openxmlformats.org/drawingml/2006/main">
              <a:ext uri="{FF2B5EF4-FFF2-40B4-BE49-F238E27FC236}">
                <a16:creationId xmlns:a16="http://schemas.microsoft.com/office/drawing/2014/main" id="{E241C319-E9AB-4377-B39F-DE2BFA91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295144"/>
            <a:ext cx="8046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30"/>
              <a:buFont typeface="Arial"/>
              <a:buNone/>
            </a:pPr>
            <a:r>
              <a:rPr sz="1030">
                <a:solidFill>
                  <a:srgbClr val="172533"/>
                </a:solidFill>
                <a:latin typeface="Arial"/>
                <a:ea typeface="Arial"/>
                <a:cs typeface="Arial"/>
              </a:rPr>
              <a:t>What enters before the classifier?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98" name="Google Shape;1022;p32"/>
          <p:cNvCxnSpPr/>
          <p:nvPr/>
        </p:nvCxnSpPr>
        <p:spPr>
          <a:xfrm xmlns:a="http://schemas.openxmlformats.org/drawingml/2006/main">
            <a:off x="1280160" y="3246120"/>
            <a:ext cx="9646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3" name="Google Shape;1023;p32">
            <a:extLst xmlns:a="http://schemas.openxmlformats.org/drawingml/2006/main">
              <a:ext uri="{FF2B5EF4-FFF2-40B4-BE49-F238E27FC236}">
                <a16:creationId xmlns:a16="http://schemas.microsoft.com/office/drawing/2014/main" id="{381CBDB6-4103-4BE8-B773-8D87F9EC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34640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880"/>
              <a:buFont typeface="Arial"/>
              <a:buNone/>
            </a:pPr>
            <a:r>
              <a:rPr sz="880" b="1">
                <a:solidFill>
                  <a:srgbClr val="CC4747"/>
                </a:solidFill>
                <a:latin typeface="Arial"/>
                <a:ea typeface="Arial"/>
                <a:cs typeface="Arial"/>
              </a:rPr>
              <a:t>Decision</a:t>
            </a:r>
            <a:endParaRPr sz="8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4" name="Google Shape;1024;p32">
            <a:extLst xmlns:a="http://schemas.openxmlformats.org/drawingml/2006/main">
              <a:ext uri="{FF2B5EF4-FFF2-40B4-BE49-F238E27FC236}">
                <a16:creationId xmlns:a16="http://schemas.microsoft.com/office/drawing/2014/main" id="{2623EA09-4FB5-4C23-9044-5BB04CDB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825496"/>
            <a:ext cx="8046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30"/>
              <a:buFont typeface="Arial"/>
              <a:buNone/>
            </a:pPr>
            <a:r>
              <a:rPr sz="1030">
                <a:solidFill>
                  <a:srgbClr val="172533"/>
                </a:solidFill>
                <a:latin typeface="Arial"/>
                <a:ea typeface="Arial"/>
                <a:cs typeface="Arial"/>
              </a:rPr>
              <a:t>Who receives the alert, and what action follows?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01" name="Google Shape;1025;p32"/>
          <p:cNvCxnSpPr/>
          <p:nvPr/>
        </p:nvCxnSpPr>
        <p:spPr>
          <a:xfrm xmlns:a="http://schemas.openxmlformats.org/drawingml/2006/main">
            <a:off x="1280160" y="3776472"/>
            <a:ext cx="9646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6" name="Google Shape;1026;p32">
            <a:extLst xmlns:a="http://schemas.openxmlformats.org/drawingml/2006/main">
              <a:ext uri="{FF2B5EF4-FFF2-40B4-BE49-F238E27FC236}">
                <a16:creationId xmlns:a16="http://schemas.microsoft.com/office/drawing/2014/main" id="{2D4B53F5-97F6-4187-ABE8-BD8E5AA1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364992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80"/>
              <a:buFont typeface="Arial"/>
              <a:buNone/>
            </a:pPr>
            <a:r>
              <a:rPr sz="880" b="1">
                <a:solidFill>
                  <a:srgbClr val="E69C31"/>
                </a:solidFill>
                <a:latin typeface="Arial"/>
                <a:ea typeface="Arial"/>
                <a:cs typeface="Arial"/>
              </a:rPr>
              <a:t>Failure</a:t>
            </a:r>
            <a:endParaRPr sz="8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7" name="Google Shape;1027;p32">
            <a:extLst xmlns:a="http://schemas.openxmlformats.org/drawingml/2006/main">
              <a:ext uri="{FF2B5EF4-FFF2-40B4-BE49-F238E27FC236}">
                <a16:creationId xmlns:a16="http://schemas.microsoft.com/office/drawing/2014/main" id="{2CFD5993-C119-4020-AD6C-7EADF41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355848"/>
            <a:ext cx="8046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30"/>
              <a:buFont typeface="Arial"/>
              <a:buNone/>
            </a:pPr>
            <a:r>
              <a:rPr sz="1030">
                <a:solidFill>
                  <a:srgbClr val="172533"/>
                </a:solidFill>
                <a:latin typeface="Arial"/>
                <a:ea typeface="Arial"/>
                <a:cs typeface="Arial"/>
              </a:rPr>
              <a:t>What if the alert is wrong, late, or missing?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04" name="Google Shape;1028;p32"/>
          <p:cNvCxnSpPr/>
          <p:nvPr/>
        </p:nvCxnSpPr>
        <p:spPr>
          <a:xfrm xmlns:a="http://schemas.openxmlformats.org/drawingml/2006/main">
            <a:off x="1280160" y="4306824"/>
            <a:ext cx="9646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9" name="Google Shape;1029;p32">
            <a:extLst xmlns:a="http://schemas.openxmlformats.org/drawingml/2006/main">
              <a:ext uri="{FF2B5EF4-FFF2-40B4-BE49-F238E27FC236}">
                <a16:creationId xmlns:a16="http://schemas.microsoft.com/office/drawing/2014/main" id="{C53A4119-392C-4880-9ADC-0E72F82D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895344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F56B7"/>
              </a:buClr>
              <a:buSzPts val="880"/>
              <a:buFont typeface="Arial"/>
              <a:buNone/>
            </a:pPr>
            <a:r>
              <a:rPr sz="880" b="1">
                <a:solidFill>
                  <a:srgbClr val="6F56B7"/>
                </a:solidFill>
                <a:latin typeface="Arial"/>
                <a:ea typeface="Arial"/>
                <a:cs typeface="Arial"/>
              </a:rPr>
              <a:t>Evidence</a:t>
            </a:r>
            <a:endParaRPr sz="8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0" name="Google Shape;1030;p32">
            <a:extLst xmlns:a="http://schemas.openxmlformats.org/drawingml/2006/main">
              <a:ext uri="{FF2B5EF4-FFF2-40B4-BE49-F238E27FC236}">
                <a16:creationId xmlns:a16="http://schemas.microsoft.com/office/drawing/2014/main" id="{AE904B43-E41E-4FBA-BBBB-9099FA54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886200"/>
            <a:ext cx="8046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30"/>
              <a:buFont typeface="Arial"/>
              <a:buNone/>
            </a:pPr>
            <a:r>
              <a:rPr sz="1030">
                <a:solidFill>
                  <a:srgbClr val="172533"/>
                </a:solidFill>
                <a:latin typeface="Arial"/>
                <a:ea typeface="Arial"/>
                <a:cs typeface="Arial"/>
              </a:rPr>
              <a:t>What would reveal that failure?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1" name="Google Shape;1031;p32">
            <a:extLst xmlns:a="http://schemas.openxmlformats.org/drawingml/2006/main">
              <a:ext uri="{FF2B5EF4-FFF2-40B4-BE49-F238E27FC236}">
                <a16:creationId xmlns:a16="http://schemas.microsoft.com/office/drawing/2014/main" id="{5C9A3545-0A1A-409E-83F4-C960652F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559552"/>
            <a:ext cx="845820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 cmpd="sng">
            <a:solidFill>
              <a:srgbClr val="1E4F91">
                <a:alpha val="7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32">
            <a:extLst xmlns:a="http://schemas.openxmlformats.org/drawingml/2006/main">
              <a:ext uri="{FF2B5EF4-FFF2-40B4-BE49-F238E27FC236}">
                <a16:creationId xmlns:a16="http://schemas.microsoft.com/office/drawing/2014/main" id="{3776D3A0-7172-4A38-9691-EFF8C475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715000"/>
            <a:ext cx="79095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40"/>
              <a:buFont typeface="Arial"/>
              <a:buNone/>
            </a:pPr>
            <a:r>
              <a:rPr sz="114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If the decision, owner, failure, and evidence are unclear, the boundary is incomplete.</a:t>
            </a:r>
            <a:endParaRPr sz="114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70493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Google Shape;156;p8">
            <a:extLst xmlns:a="http://schemas.openxmlformats.org/drawingml/2006/main">
              <a:ext uri="{FF2B5EF4-FFF2-40B4-BE49-F238E27FC236}">
                <a16:creationId xmlns:a16="http://schemas.microsoft.com/office/drawing/2014/main" id="{54E494F8-299C-4B48-A219-B7D4E57E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REFERENCE CONNECTION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Google Shape;157;p8">
            <a:extLst xmlns:a="http://schemas.openxmlformats.org/drawingml/2006/main">
              <a:ext uri="{FF2B5EF4-FFF2-40B4-BE49-F238E27FC236}">
                <a16:creationId xmlns:a16="http://schemas.microsoft.com/office/drawing/2014/main" id="{6BABDCE1-6856-40D6-88CD-0CE74A13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Software Engineering Still Matters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24" name="Google Shape;158;p8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BCE7E9CF-9DFE-4A3E-B21C-19C68865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09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5106F649-8853-4C8A-8B3F-8DD3DA40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B2DD9CC1-F6C3-4034-97D5-7CB9F1BB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37360"/>
            <a:ext cx="3154680" cy="2468880"/>
          </a:xfrm>
          <a:prstGeom xmlns:a="http://schemas.openxmlformats.org/drawingml/2006/main" prst="roundRect">
            <a:avLst>
              <a:gd name="adj" fmla="val 14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50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1C12C02C-0AFA-4793-AB00-B026A11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1938528"/>
            <a:ext cx="2825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Requirements</a:t>
            </a:r>
            <a:endParaRPr sz="13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271C15F1-807C-4820-ADA1-9D3E8AF4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DECFF"/>
          </a:solidFill>
          <a:ln xmlns:a="http://schemas.openxmlformats.org/drawingml/2006/main" w="1015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335ACDE9-C12B-4414-BE8A-AA00A507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elicit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1" name="Google Shape;165;p8"/>
          <p:cNvCxnSpPr/>
          <p:nvPr/>
        </p:nvCxnSpPr>
        <p:spPr>
          <a:xfrm xmlns:a="http://schemas.openxmlformats.org/drawingml/2006/main">
            <a:off x="1819656" y="2807208"/>
            <a:ext cx="128016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2A6FC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69064822-F03F-4C28-A12C-746E9E95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858" y="2756916"/>
            <a:ext cx="89611" cy="100584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>
                <a:alpha val="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EF0AA4AF-9874-4467-A1A0-1E5AA2B9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DECFF"/>
          </a:solidFill>
          <a:ln xmlns:a="http://schemas.openxmlformats.org/drawingml/2006/main" w="1015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94F32A30-9E20-43D0-9A8F-D61F89EB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256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specify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5" name="Google Shape;169;p8"/>
          <p:cNvCxnSpPr/>
          <p:nvPr/>
        </p:nvCxnSpPr>
        <p:spPr>
          <a:xfrm xmlns:a="http://schemas.openxmlformats.org/drawingml/2006/main">
            <a:off x="2761488" y="2807208"/>
            <a:ext cx="128016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2A6FC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E8CC770E-33A4-4EFE-9B5D-DCAF4346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0690" y="2756916"/>
            <a:ext cx="89611" cy="100584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>
                <a:alpha val="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52E3F9C0-27CB-4473-9D88-94B6FEF5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DECFF"/>
          </a:solidFill>
          <a:ln xmlns:a="http://schemas.openxmlformats.org/drawingml/2006/main" w="1015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0F00153B-F492-472A-AB02-FC7CA563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validate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5DA98CCD-98BC-42E4-8DFB-366CDEE5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01568"/>
            <a:ext cx="26060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20"/>
              <a:buFont typeface="Arial"/>
              <a:buNone/>
            </a:pPr>
            <a:r>
              <a:rPr sz="8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users, constraints, acceptance criteria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2B80CDAF-F2EA-4148-B23A-1C938638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737360"/>
            <a:ext cx="3154680" cy="2468880"/>
          </a:xfrm>
          <a:prstGeom xmlns:a="http://schemas.openxmlformats.org/drawingml/2006/main" prst="roundRect">
            <a:avLst>
              <a:gd name="adj" fmla="val 14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50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5B0948B1-7537-432F-B3BE-21B593A1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38528"/>
            <a:ext cx="2825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Design</a:t>
            </a:r>
            <a:endParaRPr sz="13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DDB1D2E9-0C44-4C7A-83D1-9BDF0AEC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D5"/>
          </a:solidFill>
          <a:ln xmlns:a="http://schemas.openxmlformats.org/drawingml/2006/main" w="1015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25B96479-1079-48AC-895F-E2945BDC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144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architecture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4" name="Google Shape;178;p8"/>
          <p:cNvCxnSpPr/>
          <p:nvPr/>
        </p:nvCxnSpPr>
        <p:spPr>
          <a:xfrm xmlns:a="http://schemas.openxmlformats.org/drawingml/2006/main">
            <a:off x="5294376" y="2807208"/>
            <a:ext cx="128016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E69C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2E9A8C3F-6E87-4EB6-9D09-EDD27BFF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3578" y="2756916"/>
            <a:ext cx="89611" cy="100584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69C31"/>
          </a:solidFill>
          <a:ln xmlns:a="http://schemas.openxmlformats.org/drawingml/2006/main" w="12700" cmpd="sng">
            <a:solidFill>
              <a:srgbClr val="E69C31">
                <a:alpha val="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22007F92-8BF2-46AA-A1FD-50CFD6EB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D5"/>
          </a:solidFill>
          <a:ln xmlns:a="http://schemas.openxmlformats.org/drawingml/2006/main" w="1015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57A4A080-229B-43FA-9B78-6805A0ED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2976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components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8" name="Google Shape;182;p8"/>
          <p:cNvCxnSpPr/>
          <p:nvPr/>
        </p:nvCxnSpPr>
        <p:spPr>
          <a:xfrm xmlns:a="http://schemas.openxmlformats.org/drawingml/2006/main">
            <a:off x="6236208" y="2807208"/>
            <a:ext cx="128016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E69C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31806CF6-9C3D-40B4-8DF2-BA099464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410" y="2756916"/>
            <a:ext cx="89611" cy="100584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69C31"/>
          </a:solidFill>
          <a:ln xmlns:a="http://schemas.openxmlformats.org/drawingml/2006/main" w="12700" cmpd="sng">
            <a:solidFill>
              <a:srgbClr val="E69C31">
                <a:alpha val="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>
            <a:extLst xmlns:a="http://schemas.openxmlformats.org/drawingml/2006/main">
              <a:ext uri="{FF2B5EF4-FFF2-40B4-BE49-F238E27FC236}">
                <a16:creationId xmlns:a16="http://schemas.microsoft.com/office/drawing/2014/main" id="{60970AAB-F145-4A0C-A475-463CC2BA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D5"/>
          </a:solidFill>
          <a:ln xmlns:a="http://schemas.openxmlformats.org/drawingml/2006/main" w="1015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8">
            <a:extLst xmlns:a="http://schemas.openxmlformats.org/drawingml/2006/main">
              <a:ext uri="{FF2B5EF4-FFF2-40B4-BE49-F238E27FC236}">
                <a16:creationId xmlns:a16="http://schemas.microsoft.com/office/drawing/2014/main" id="{5147A31A-7900-46B8-A41B-7BFD1898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interfaces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Google Shape;186;p8">
            <a:extLst xmlns:a="http://schemas.openxmlformats.org/drawingml/2006/main">
              <a:ext uri="{FF2B5EF4-FFF2-40B4-BE49-F238E27FC236}">
                <a16:creationId xmlns:a16="http://schemas.microsoft.com/office/drawing/2014/main" id="{361BB2FD-066D-477F-B70F-798ABCC7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401568"/>
            <a:ext cx="26060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20"/>
              <a:buFont typeface="Arial"/>
              <a:buNone/>
            </a:pPr>
            <a:r>
              <a:rPr sz="8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structure, behavior, dependencies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Google Shape;187;p8">
            <a:extLst xmlns:a="http://schemas.openxmlformats.org/drawingml/2006/main">
              <a:ext uri="{FF2B5EF4-FFF2-40B4-BE49-F238E27FC236}">
                <a16:creationId xmlns:a16="http://schemas.microsoft.com/office/drawing/2014/main" id="{78774B4D-FDF3-4E1B-A1A1-28800800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737360"/>
            <a:ext cx="3154680" cy="2468880"/>
          </a:xfrm>
          <a:prstGeom xmlns:a="http://schemas.openxmlformats.org/drawingml/2006/main" prst="roundRect">
            <a:avLst>
              <a:gd name="adj" fmla="val 14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50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>
            <a:extLst xmlns:a="http://schemas.openxmlformats.org/drawingml/2006/main">
              <a:ext uri="{FF2B5EF4-FFF2-40B4-BE49-F238E27FC236}">
                <a16:creationId xmlns:a16="http://schemas.microsoft.com/office/drawing/2014/main" id="{B38879BB-96C8-4B31-BF7F-A809371E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1938528"/>
            <a:ext cx="2825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Validation / Testing</a:t>
            </a:r>
            <a:endParaRPr sz="13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Google Shape;189;p8">
            <a:extLst xmlns:a="http://schemas.openxmlformats.org/drawingml/2006/main">
              <a:ext uri="{FF2B5EF4-FFF2-40B4-BE49-F238E27FC236}">
                <a16:creationId xmlns:a16="http://schemas.microsoft.com/office/drawing/2014/main" id="{6609E214-776A-48DC-B853-CBEB256A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AF4EA"/>
          </a:solidFill>
          <a:ln xmlns:a="http://schemas.openxmlformats.org/drawingml/2006/main" w="1015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>
            <a:extLst xmlns:a="http://schemas.openxmlformats.org/drawingml/2006/main">
              <a:ext uri="{FF2B5EF4-FFF2-40B4-BE49-F238E27FC236}">
                <a16:creationId xmlns:a16="http://schemas.microsoft.com/office/drawing/2014/main" id="{0C8FA027-C041-409B-8DD3-47D8FF75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component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57" name="Google Shape;191;p8"/>
          <p:cNvCxnSpPr/>
          <p:nvPr/>
        </p:nvCxnSpPr>
        <p:spPr>
          <a:xfrm xmlns:a="http://schemas.openxmlformats.org/drawingml/2006/main">
            <a:off x="8769096" y="2807208"/>
            <a:ext cx="128016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27977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2" name="Google Shape;192;p8">
            <a:extLst xmlns:a="http://schemas.openxmlformats.org/drawingml/2006/main">
              <a:ext uri="{FF2B5EF4-FFF2-40B4-BE49-F238E27FC236}">
                <a16:creationId xmlns:a16="http://schemas.microsoft.com/office/drawing/2014/main" id="{89415699-370A-49CD-95D6-E6504E12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298" y="2756916"/>
            <a:ext cx="89611" cy="100584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>
                <a:alpha val="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8">
            <a:extLst xmlns:a="http://schemas.openxmlformats.org/drawingml/2006/main">
              <a:ext uri="{FF2B5EF4-FFF2-40B4-BE49-F238E27FC236}">
                <a16:creationId xmlns:a16="http://schemas.microsoft.com/office/drawing/2014/main" id="{A3417AE9-C6DA-4F10-A552-92D5292A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AF4EA"/>
          </a:solidFill>
          <a:ln xmlns:a="http://schemas.openxmlformats.org/drawingml/2006/main" w="1015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">
            <a:extLst xmlns:a="http://schemas.openxmlformats.org/drawingml/2006/main">
              <a:ext uri="{FF2B5EF4-FFF2-40B4-BE49-F238E27FC236}">
                <a16:creationId xmlns:a16="http://schemas.microsoft.com/office/drawing/2014/main" id="{6B97C5B0-145E-44EA-9E3A-9A788542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system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61" name="Google Shape;195;p8"/>
          <p:cNvCxnSpPr/>
          <p:nvPr/>
        </p:nvCxnSpPr>
        <p:spPr>
          <a:xfrm xmlns:a="http://schemas.openxmlformats.org/drawingml/2006/main">
            <a:off x="9710928" y="2807208"/>
            <a:ext cx="128016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27977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6" name="Google Shape;196;p8">
            <a:extLst xmlns:a="http://schemas.openxmlformats.org/drawingml/2006/main">
              <a:ext uri="{FF2B5EF4-FFF2-40B4-BE49-F238E27FC236}">
                <a16:creationId xmlns:a16="http://schemas.microsoft.com/office/drawing/2014/main" id="{DFFF8CE2-D096-4D6B-B5D2-04FE998B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130" y="2756916"/>
            <a:ext cx="89611" cy="100584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>
                <a:alpha val="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">
            <a:extLst xmlns:a="http://schemas.openxmlformats.org/drawingml/2006/main">
              <a:ext uri="{FF2B5EF4-FFF2-40B4-BE49-F238E27FC236}">
                <a16:creationId xmlns:a16="http://schemas.microsoft.com/office/drawing/2014/main" id="{606E9139-A87A-4F88-A1C0-C62D796A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6376" y="2578608"/>
            <a:ext cx="758952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AF4EA"/>
          </a:solidFill>
          <a:ln xmlns:a="http://schemas.openxmlformats.org/drawingml/2006/main" w="1015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>
            <a:extLst xmlns:a="http://schemas.openxmlformats.org/drawingml/2006/main">
              <a:ext uri="{FF2B5EF4-FFF2-40B4-BE49-F238E27FC236}">
                <a16:creationId xmlns:a16="http://schemas.microsoft.com/office/drawing/2014/main" id="{A4D77250-CBB1-45C7-B83B-21EA3D8E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9528" y="2624328"/>
            <a:ext cx="61264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780"/>
              <a:buFont typeface="Arial"/>
              <a:buNone/>
            </a:pPr>
            <a:r>
              <a:rPr sz="78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customer</a:t>
            </a:r>
            <a:endParaRPr sz="7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Google Shape;199;p8">
            <a:extLst xmlns:a="http://schemas.openxmlformats.org/drawingml/2006/main">
              <a:ext uri="{FF2B5EF4-FFF2-40B4-BE49-F238E27FC236}">
                <a16:creationId xmlns:a16="http://schemas.microsoft.com/office/drawing/2014/main" id="{5B753547-F546-45B0-9AA7-1001BE36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01568"/>
            <a:ext cx="26060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20"/>
              <a:buFont typeface="Arial"/>
              <a:buNone/>
            </a:pPr>
            <a:r>
              <a:rPr sz="8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unit, integration, acceptance evidence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Google Shape;200;p8">
            <a:extLst xmlns:a="http://schemas.openxmlformats.org/drawingml/2006/main">
              <a:ext uri="{FF2B5EF4-FFF2-40B4-BE49-F238E27FC236}">
                <a16:creationId xmlns:a16="http://schemas.microsoft.com/office/drawing/2014/main" id="{765FB074-B37A-46C4-8366-E817AF3C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352544"/>
            <a:ext cx="448056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50"/>
              <a:buFont typeface="Arial"/>
              <a:buNone/>
            </a:pPr>
            <a:r>
              <a:rPr sz="75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Adapted from SE4AI reference slides 16-18</a:t>
            </a:r>
            <a:endParaRPr sz="7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Google Shape;201;p8">
            <a:extLst xmlns:a="http://schemas.openxmlformats.org/drawingml/2006/main">
              <a:ext uri="{FF2B5EF4-FFF2-40B4-BE49-F238E27FC236}">
                <a16:creationId xmlns:a16="http://schemas.microsoft.com/office/drawing/2014/main" id="{DF184EBB-1296-445B-BFC5-E99659D8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42432"/>
            <a:ext cx="9921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30"/>
              <a:buFont typeface="Arial"/>
              <a:buNone/>
            </a:pPr>
            <a:r>
              <a:rPr sz="103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Requirements, design, and testing remain essential; learned behavior adds new evidence needs.</a:t>
            </a:r>
            <a:endParaRPr sz="10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36806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6" name="Google Shape;366;p13">
            <a:extLst xmlns:a="http://schemas.openxmlformats.org/drawingml/2006/main">
              <a:ext uri="{FF2B5EF4-FFF2-40B4-BE49-F238E27FC236}">
                <a16:creationId xmlns:a16="http://schemas.microsoft.com/office/drawing/2014/main" id="{52422AD6-16ED-4C39-98E3-70AC3B43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MLOPS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7" name="Google Shape;367;p13">
            <a:extLst xmlns:a="http://schemas.openxmlformats.org/drawingml/2006/main">
              <a:ext uri="{FF2B5EF4-FFF2-40B4-BE49-F238E27FC236}">
                <a16:creationId xmlns:a16="http://schemas.microsoft.com/office/drawing/2014/main" id="{53D68D3A-3870-46FC-89A3-34DBBFBD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MLOps In One Sentence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6" name="Google Shape;368;p13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9" name="Google Shape;369;p13">
            <a:extLst xmlns:a="http://schemas.openxmlformats.org/drawingml/2006/main">
              <a:ext uri="{FF2B5EF4-FFF2-40B4-BE49-F238E27FC236}">
                <a16:creationId xmlns:a16="http://schemas.microsoft.com/office/drawing/2014/main" id="{E04B2E70-232B-4E97-AE52-9FFE0C19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10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0" name="Google Shape;370;p13">
            <a:extLst xmlns:a="http://schemas.openxmlformats.org/drawingml/2006/main">
              <a:ext uri="{FF2B5EF4-FFF2-40B4-BE49-F238E27FC236}">
                <a16:creationId xmlns:a16="http://schemas.microsoft.com/office/drawing/2014/main" id="{806BB4A9-F3CE-48A0-8839-CB592E04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1" name="Google Shape;371;p13">
            <a:extLst xmlns:a="http://schemas.openxmlformats.org/drawingml/2006/main">
              <a:ext uri="{FF2B5EF4-FFF2-40B4-BE49-F238E27FC236}">
                <a16:creationId xmlns:a16="http://schemas.microsoft.com/office/drawing/2014/main" id="{59661415-6716-4663-8826-CBE408D2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1563624"/>
            <a:ext cx="5605272" cy="3319272"/>
          </a:xfrm>
          <a:prstGeom xmlns:a="http://schemas.openxmlformats.org/drawingml/2006/main" prst="roundRect">
            <a:avLst>
              <a:gd name="adj" fmla="val 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60" name="Google Shape;372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5c0b34d78b4f2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68680" y="1827304"/>
            <a:ext cx="5532120" cy="279191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73" name="Google Shape;373;p13">
            <a:extLst xmlns:a="http://schemas.openxmlformats.org/drawingml/2006/main">
              <a:ext uri="{FF2B5EF4-FFF2-40B4-BE49-F238E27FC236}">
                <a16:creationId xmlns:a16="http://schemas.microsoft.com/office/drawing/2014/main" id="{743CC740-408B-4148-999E-405DC968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01184"/>
            <a:ext cx="55321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40"/>
              <a:buFont typeface="Arial"/>
              <a:buNone/>
            </a:pPr>
            <a:r>
              <a:rPr sz="74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ML + Ops loop from MLSys/TinyML source</a:t>
            </a:r>
            <a:endParaRPr sz="7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62" name="Google Shape;374;p13"/>
          <p:cNvCxnSpPr/>
          <p:nvPr/>
        </p:nvCxnSpPr>
        <p:spPr>
          <a:xfrm xmlns:a="http://schemas.openxmlformats.org/drawingml/2006/main">
            <a:off x="6720840" y="1956816"/>
            <a:ext cx="475488" cy="0"/>
          </a:xfrm>
          <a:prstGeom xmlns:a="http://schemas.openxmlformats.org/drawingml/2006/main" prst="straightConnector1">
            <a:avLst/>
          </a:prstGeom>
          <a:ln xmlns:a="http://schemas.openxmlformats.org/drawingml/2006/main" w="2030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5" name="Google Shape;375;p13">
            <a:extLst xmlns:a="http://schemas.openxmlformats.org/drawingml/2006/main">
              <a:ext uri="{FF2B5EF4-FFF2-40B4-BE49-F238E27FC236}">
                <a16:creationId xmlns:a16="http://schemas.microsoft.com/office/drawing/2014/main" id="{CF43F2B2-25EA-4764-9A9B-4CDF7211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344" y="1865376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740"/>
              <a:buFont typeface="Arial"/>
              <a:buNone/>
            </a:pPr>
            <a:r>
              <a:rPr sz="7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INTERPRETATION</a:t>
            </a:r>
            <a:endParaRPr sz="7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64" name="Google Shape;376;p13"/>
          <p:cNvCxnSpPr/>
          <p:nvPr/>
        </p:nvCxnSpPr>
        <p:spPr>
          <a:xfrm xmlns:a="http://schemas.openxmlformats.org/drawingml/2006/main">
            <a:off x="6748272" y="2752344"/>
            <a:ext cx="41605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7" name="Google Shape;377;p13">
            <a:extLst xmlns:a="http://schemas.openxmlformats.org/drawingml/2006/main">
              <a:ext uri="{FF2B5EF4-FFF2-40B4-BE49-F238E27FC236}">
                <a16:creationId xmlns:a16="http://schemas.microsoft.com/office/drawing/2014/main" id="{059AAC27-5853-409F-BABA-A39409A6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39572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Repeatable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p13">
            <a:extLst xmlns:a="http://schemas.openxmlformats.org/drawingml/2006/main">
              <a:ext uri="{FF2B5EF4-FFF2-40B4-BE49-F238E27FC236}">
                <a16:creationId xmlns:a16="http://schemas.microsoft.com/office/drawing/2014/main" id="{D61EB00C-7509-453C-A097-64A5DEAC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386584"/>
            <a:ext cx="2651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89"/>
              <a:buFont typeface="Arial"/>
              <a:buNone/>
            </a:pPr>
            <a:r>
              <a:rPr sz="89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same inputs and versions can be rerun</a:t>
            </a:r>
            <a:endParaRPr sz="89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67" name="Google Shape;379;p13"/>
          <p:cNvCxnSpPr/>
          <p:nvPr/>
        </p:nvCxnSpPr>
        <p:spPr>
          <a:xfrm xmlns:a="http://schemas.openxmlformats.org/drawingml/2006/main">
            <a:off x="6748272" y="3227832"/>
            <a:ext cx="41605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0" name="Google Shape;380;p13">
            <a:extLst xmlns:a="http://schemas.openxmlformats.org/drawingml/2006/main">
              <a:ext uri="{FF2B5EF4-FFF2-40B4-BE49-F238E27FC236}">
                <a16:creationId xmlns:a16="http://schemas.microsoft.com/office/drawing/2014/main" id="{EFF7608B-21A5-45C2-A1B6-DEC3F2F2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71216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Testable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1" name="Google Shape;381;p13">
            <a:extLst xmlns:a="http://schemas.openxmlformats.org/drawingml/2006/main">
              <a:ext uri="{FF2B5EF4-FFF2-40B4-BE49-F238E27FC236}">
                <a16:creationId xmlns:a16="http://schemas.microsoft.com/office/drawing/2014/main" id="{89E3FF6A-3A77-4A42-A0DC-1203D72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862072"/>
            <a:ext cx="2651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89"/>
              <a:buFont typeface="Arial"/>
              <a:buNone/>
            </a:pPr>
            <a:r>
              <a:rPr sz="89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assumptions become checks</a:t>
            </a:r>
            <a:endParaRPr sz="89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70" name="Google Shape;382;p13"/>
          <p:cNvCxnSpPr/>
          <p:nvPr/>
        </p:nvCxnSpPr>
        <p:spPr>
          <a:xfrm xmlns:a="http://schemas.openxmlformats.org/drawingml/2006/main">
            <a:off x="6748272" y="3703320"/>
            <a:ext cx="41605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3" name="Google Shape;383;p13">
            <a:extLst xmlns:a="http://schemas.openxmlformats.org/drawingml/2006/main">
              <a:ext uri="{FF2B5EF4-FFF2-40B4-BE49-F238E27FC236}">
                <a16:creationId xmlns:a16="http://schemas.microsoft.com/office/drawing/2014/main" id="{CAFE44EF-499E-4426-9BA8-EA8BDE96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346704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Observable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4" name="Google Shape;384;p13">
            <a:extLst xmlns:a="http://schemas.openxmlformats.org/drawingml/2006/main">
              <a:ext uri="{FF2B5EF4-FFF2-40B4-BE49-F238E27FC236}">
                <a16:creationId xmlns:a16="http://schemas.microsoft.com/office/drawing/2014/main" id="{02091D75-11AF-4E78-84A8-67577B62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2651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89"/>
              <a:buFont typeface="Arial"/>
              <a:buNone/>
            </a:pPr>
            <a:r>
              <a:rPr sz="89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runtime behavior leaves evidence</a:t>
            </a:r>
            <a:endParaRPr sz="89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73" name="Google Shape;385;p13"/>
          <p:cNvCxnSpPr/>
          <p:nvPr/>
        </p:nvCxnSpPr>
        <p:spPr>
          <a:xfrm xmlns:a="http://schemas.openxmlformats.org/drawingml/2006/main">
            <a:off x="6748272" y="4178808"/>
            <a:ext cx="41605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6" name="Google Shape;386;p13">
            <a:extLst xmlns:a="http://schemas.openxmlformats.org/drawingml/2006/main">
              <a:ext uri="{FF2B5EF4-FFF2-40B4-BE49-F238E27FC236}">
                <a16:creationId xmlns:a16="http://schemas.microsoft.com/office/drawing/2014/main" id="{C2A6BC9C-1564-4A77-B056-E32AA4AA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822192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F56B7"/>
              </a:buClr>
              <a:buSzPts val="820"/>
              <a:buFont typeface="Arial"/>
              <a:buNone/>
            </a:pPr>
            <a:r>
              <a:rPr sz="820" b="1" i="0" u="none" cap="none">
                <a:solidFill>
                  <a:srgbClr val="6F56B7"/>
                </a:solidFill>
                <a:latin typeface="Arial"/>
                <a:ea typeface="Arial"/>
                <a:cs typeface="Arial"/>
              </a:rPr>
              <a:t>Maintainable</a:t>
            </a:r>
            <a:endParaRPr sz="8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Google Shape;387;p13">
            <a:extLst xmlns:a="http://schemas.openxmlformats.org/drawingml/2006/main">
              <a:ext uri="{FF2B5EF4-FFF2-40B4-BE49-F238E27FC236}">
                <a16:creationId xmlns:a16="http://schemas.microsoft.com/office/drawing/2014/main" id="{826FDFCB-1E98-41AB-87E5-90ED07E0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813048"/>
            <a:ext cx="2651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89"/>
              <a:buFont typeface="Arial"/>
              <a:buNone/>
            </a:pPr>
            <a:r>
              <a:rPr sz="89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owners can respond when signals change</a:t>
            </a:r>
            <a:endParaRPr sz="89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8" name="Google Shape;388;p13">
            <a:extLst xmlns:a="http://schemas.openxmlformats.org/drawingml/2006/main">
              <a:ext uri="{FF2B5EF4-FFF2-40B4-BE49-F238E27FC236}">
                <a16:creationId xmlns:a16="http://schemas.microsoft.com/office/drawing/2014/main" id="{20580937-D50A-4605-9672-AE94246A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559552"/>
            <a:ext cx="845820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 cmpd="sng">
            <a:solidFill>
              <a:srgbClr val="1E4F91">
                <a:alpha val="7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3">
            <a:extLst xmlns:a="http://schemas.openxmlformats.org/drawingml/2006/main">
              <a:ext uri="{FF2B5EF4-FFF2-40B4-BE49-F238E27FC236}">
                <a16:creationId xmlns:a16="http://schemas.microsoft.com/office/drawing/2014/main" id="{9F91499A-7ABC-4686-9E36-C55DF7BA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715000"/>
            <a:ext cx="79095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40"/>
              <a:buFont typeface="Arial"/>
              <a:buNone/>
            </a:pPr>
            <a:r>
              <a:rPr sz="11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MLOps is not a tool list. It is a way to structure production ML work.</a:t>
            </a:r>
            <a:endParaRPr sz="11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85766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5" name="Google Shape;395;p14">
            <a:extLst xmlns:a="http://schemas.openxmlformats.org/drawingml/2006/main">
              <a:ext uri="{FF2B5EF4-FFF2-40B4-BE49-F238E27FC236}">
                <a16:creationId xmlns:a16="http://schemas.microsoft.com/office/drawing/2014/main" id="{A208F0EA-A646-4D30-9C76-BC71B657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9456"/>
            <a:ext cx="43891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LIFECYCLE</a:t>
            </a:r>
            <a:endParaRPr/>
          </a:p>
        </p:txBody>
      </p:sp>
      <p:sp>
        <p:nvSpPr>
          <p:cNvPr id="396" name="Google Shape;396;p14">
            <a:extLst xmlns:a="http://schemas.openxmlformats.org/drawingml/2006/main">
              <a:ext uri="{FF2B5EF4-FFF2-40B4-BE49-F238E27FC236}">
                <a16:creationId xmlns:a16="http://schemas.microsoft.com/office/drawing/2014/main" id="{0CFA84E7-7324-496F-AE15-E78D5D16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3776"/>
            <a:ext cx="98755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Workflow: From Data to Inference</a:t>
            </a:r>
            <a:endParaRPr/>
          </a:p>
        </p:txBody>
      </p:sp>
      <p:cxnSp>
        <p:nvCxnSpPr>
          <p:cNvPr id="505" name="Google Shape;397;p14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98" name="Google Shape;398;p14">
            <a:extLst xmlns:a="http://schemas.openxmlformats.org/drawingml/2006/main">
              <a:ext uri="{FF2B5EF4-FFF2-40B4-BE49-F238E27FC236}">
                <a16:creationId xmlns:a16="http://schemas.microsoft.com/office/drawing/2014/main" id="{47837DDB-7F3A-433A-8D76-DD6C7BA0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55664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/>
          </a:p>
        </p:txBody>
      </p:sp>
      <p:sp>
        <p:nvSpPr>
          <p:cNvPr id="399" name="Google Shape;399;p14">
            <a:extLst xmlns:a="http://schemas.openxmlformats.org/drawingml/2006/main">
              <a:ext uri="{FF2B5EF4-FFF2-40B4-BE49-F238E27FC236}">
                <a16:creationId xmlns:a16="http://schemas.microsoft.com/office/drawing/2014/main" id="{75F790E3-B8A9-4D84-8A67-26AECC25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55664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11</a:t>
            </a:r>
            <a:endParaRPr/>
          </a:p>
        </p:txBody>
      </p:sp>
      <p:sp>
        <p:nvSpPr>
          <p:cNvPr id="400" name="Google Shape;400;p14">
            <a:extLst xmlns:a="http://schemas.openxmlformats.org/drawingml/2006/main">
              <a:ext uri="{FF2B5EF4-FFF2-40B4-BE49-F238E27FC236}">
                <a16:creationId xmlns:a16="http://schemas.microsoft.com/office/drawing/2014/main" id="{331B67D1-7EEC-4C27-BC4C-C9C027EE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389888"/>
            <a:ext cx="402336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REFERENCE WORKFLOW / NATIVE REDRAW</a:t>
            </a:r>
            <a:endParaRPr/>
          </a:p>
        </p:txBody>
      </p:sp>
      <p:cxnSp>
        <p:nvCxnSpPr>
          <p:cNvPr id="509" name="Google Shape;401;p14"/>
          <p:cNvCxnSpPr/>
          <p:nvPr/>
        </p:nvCxnSpPr>
        <p:spPr>
          <a:xfrm xmlns:a="http://schemas.openxmlformats.org/drawingml/2006/main">
            <a:off x="1810512" y="2606040"/>
            <a:ext cx="91440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02" name="Google Shape;402;p14">
            <a:extLst xmlns:a="http://schemas.openxmlformats.org/drawingml/2006/main">
              <a:ext uri="{FF2B5EF4-FFF2-40B4-BE49-F238E27FC236}">
                <a16:creationId xmlns:a16="http://schemas.microsoft.com/office/drawing/2014/main" id="{99D8B7D0-3871-4502-AB2F-11FE9A58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856232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1" name="Google Shape;403;p14"/>
          <p:cNvCxnSpPr/>
          <p:nvPr/>
        </p:nvCxnSpPr>
        <p:spPr>
          <a:xfrm xmlns:a="http://schemas.openxmlformats.org/drawingml/2006/main">
            <a:off x="3236976" y="2606040"/>
            <a:ext cx="91440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04" name="Google Shape;404;p14">
            <a:extLst xmlns:a="http://schemas.openxmlformats.org/drawingml/2006/main">
              <a:ext uri="{FF2B5EF4-FFF2-40B4-BE49-F238E27FC236}">
                <a16:creationId xmlns:a16="http://schemas.microsoft.com/office/drawing/2014/main" id="{2544F307-B437-44D4-956D-D1633B77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82696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3" name="Google Shape;405;p14"/>
          <p:cNvCxnSpPr/>
          <p:nvPr/>
        </p:nvCxnSpPr>
        <p:spPr>
          <a:xfrm xmlns:a="http://schemas.openxmlformats.org/drawingml/2006/main">
            <a:off x="4663440" y="2606040"/>
            <a:ext cx="91439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06" name="Google Shape;406;p14">
            <a:extLst xmlns:a="http://schemas.openxmlformats.org/drawingml/2006/main">
              <a:ext uri="{FF2B5EF4-FFF2-40B4-BE49-F238E27FC236}">
                <a16:creationId xmlns:a16="http://schemas.microsoft.com/office/drawing/2014/main" id="{5DE2E408-28E1-4E46-A1AE-ECEE4472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709159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5" name="Google Shape;407;p14"/>
          <p:cNvCxnSpPr/>
          <p:nvPr/>
        </p:nvCxnSpPr>
        <p:spPr>
          <a:xfrm xmlns:a="http://schemas.openxmlformats.org/drawingml/2006/main">
            <a:off x="6089903" y="2606040"/>
            <a:ext cx="91441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08" name="Google Shape;408;p14">
            <a:extLst xmlns:a="http://schemas.openxmlformats.org/drawingml/2006/main">
              <a:ext uri="{FF2B5EF4-FFF2-40B4-BE49-F238E27FC236}">
                <a16:creationId xmlns:a16="http://schemas.microsoft.com/office/drawing/2014/main" id="{E31617CE-6AB8-4012-9BDA-0F060796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135624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7" name="Google Shape;409;p14"/>
          <p:cNvCxnSpPr/>
          <p:nvPr/>
        </p:nvCxnSpPr>
        <p:spPr>
          <a:xfrm xmlns:a="http://schemas.openxmlformats.org/drawingml/2006/main">
            <a:off x="7516368" y="2606040"/>
            <a:ext cx="91440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10" name="Google Shape;410;p14">
            <a:extLst xmlns:a="http://schemas.openxmlformats.org/drawingml/2006/main">
              <a:ext uri="{FF2B5EF4-FFF2-40B4-BE49-F238E27FC236}">
                <a16:creationId xmlns:a16="http://schemas.microsoft.com/office/drawing/2014/main" id="{FD47E1E3-6CF1-40DF-A747-58C9CAEA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562088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9" name="Google Shape;411;p14"/>
          <p:cNvCxnSpPr/>
          <p:nvPr/>
        </p:nvCxnSpPr>
        <p:spPr>
          <a:xfrm xmlns:a="http://schemas.openxmlformats.org/drawingml/2006/main">
            <a:off x="8942832" y="2606040"/>
            <a:ext cx="91440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12" name="Google Shape;412;p14">
            <a:extLst xmlns:a="http://schemas.openxmlformats.org/drawingml/2006/main">
              <a:ext uri="{FF2B5EF4-FFF2-40B4-BE49-F238E27FC236}">
                <a16:creationId xmlns:a16="http://schemas.microsoft.com/office/drawing/2014/main" id="{7BBFBB5A-D5A2-4FC1-93F9-20782A39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988552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21" name="Google Shape;413;p14"/>
          <p:cNvCxnSpPr/>
          <p:nvPr/>
        </p:nvCxnSpPr>
        <p:spPr>
          <a:xfrm xmlns:a="http://schemas.openxmlformats.org/drawingml/2006/main">
            <a:off x="10369296" y="2606040"/>
            <a:ext cx="91440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14" name="Google Shape;414;p14">
            <a:extLst xmlns:a="http://schemas.openxmlformats.org/drawingml/2006/main">
              <a:ext uri="{FF2B5EF4-FFF2-40B4-BE49-F238E27FC236}">
                <a16:creationId xmlns:a16="http://schemas.microsoft.com/office/drawing/2014/main" id="{95A2B0D7-5C4C-4BBD-AC7D-D8278445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415016" y="254203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CCD5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5" name="Google Shape;415;p14">
            <a:extLst xmlns:a="http://schemas.openxmlformats.org/drawingml/2006/main">
              <a:ext uri="{FF2B5EF4-FFF2-40B4-BE49-F238E27FC236}">
                <a16:creationId xmlns:a16="http://schemas.microsoft.com/office/drawing/2014/main" id="{2E0516A7-704B-434E-8865-C3091F62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6" name="Google Shape;416;p14">
            <a:extLst xmlns:a="http://schemas.openxmlformats.org/drawingml/2006/main">
              <a:ext uri="{FF2B5EF4-FFF2-40B4-BE49-F238E27FC236}">
                <a16:creationId xmlns:a16="http://schemas.microsoft.com/office/drawing/2014/main" id="{68FCA6D1-CDBC-40D7-8F7C-219079BE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Collect</a:t>
            </a:r>
            <a:br/>
            <a:r>
              <a:rPr sz="94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Data</a:t>
            </a:r>
            <a:endParaRPr/>
          </a:p>
        </p:txBody>
      </p:sp>
      <p:sp>
        <p:nvSpPr>
          <p:cNvPr id="417" name="Google Shape;417;p14">
            <a:extLst xmlns:a="http://schemas.openxmlformats.org/drawingml/2006/main">
              <a:ext uri="{FF2B5EF4-FFF2-40B4-BE49-F238E27FC236}">
                <a16:creationId xmlns:a16="http://schemas.microsoft.com/office/drawing/2014/main" id="{EC20E8E7-84EC-49E8-AB98-7F075D66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8" name="Google Shape;418;p14">
            <a:extLst xmlns:a="http://schemas.openxmlformats.org/drawingml/2006/main">
              <a:ext uri="{FF2B5EF4-FFF2-40B4-BE49-F238E27FC236}">
                <a16:creationId xmlns:a16="http://schemas.microsoft.com/office/drawing/2014/main" id="{1A0280F0-053C-4293-A7FE-0EDD3B0B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Preprocess</a:t>
            </a:r>
            <a:br/>
            <a:r>
              <a:rPr sz="94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Data</a:t>
            </a:r>
            <a:endParaRPr/>
          </a:p>
        </p:txBody>
      </p:sp>
      <p:sp>
        <p:nvSpPr>
          <p:cNvPr id="419" name="Google Shape;419;p14">
            <a:extLst xmlns:a="http://schemas.openxmlformats.org/drawingml/2006/main">
              <a:ext uri="{FF2B5EF4-FFF2-40B4-BE49-F238E27FC236}">
                <a16:creationId xmlns:a16="http://schemas.microsoft.com/office/drawing/2014/main" id="{6516B1E5-ECA4-4597-88CA-2DD2FA8B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5875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0" name="Google Shape;420;p14">
            <a:extLst xmlns:a="http://schemas.openxmlformats.org/drawingml/2006/main">
              <a:ext uri="{FF2B5EF4-FFF2-40B4-BE49-F238E27FC236}">
                <a16:creationId xmlns:a16="http://schemas.microsoft.com/office/drawing/2014/main" id="{A7276520-4FC1-4C12-AEEA-A3D14502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296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Design a</a:t>
            </a:r>
            <a:br/>
            <a:r>
              <a:rPr sz="94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Model</a:t>
            </a:r>
            <a:endParaRPr/>
          </a:p>
        </p:txBody>
      </p:sp>
      <p:sp>
        <p:nvSpPr>
          <p:cNvPr id="421" name="Google Shape;421;p14">
            <a:extLst xmlns:a="http://schemas.openxmlformats.org/drawingml/2006/main">
              <a:ext uri="{FF2B5EF4-FFF2-40B4-BE49-F238E27FC236}">
                <a16:creationId xmlns:a16="http://schemas.microsoft.com/office/drawing/2014/main" id="{0C638D4C-E3B7-4232-A886-D45D35A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7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5875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2" name="Google Shape;422;p14">
            <a:extLst xmlns:a="http://schemas.openxmlformats.org/drawingml/2006/main">
              <a:ext uri="{FF2B5EF4-FFF2-40B4-BE49-F238E27FC236}">
                <a16:creationId xmlns:a16="http://schemas.microsoft.com/office/drawing/2014/main" id="{A7311942-ADCC-4C46-A368-6E5EA9C6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59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Train a</a:t>
            </a:r>
            <a:br/>
            <a:r>
              <a:rPr sz="94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Model</a:t>
            </a:r>
            <a:endParaRPr/>
          </a:p>
        </p:txBody>
      </p:sp>
      <p:sp>
        <p:nvSpPr>
          <p:cNvPr id="423" name="Google Shape;423;p14">
            <a:extLst xmlns:a="http://schemas.openxmlformats.org/drawingml/2006/main">
              <a:ext uri="{FF2B5EF4-FFF2-40B4-BE49-F238E27FC236}">
                <a16:creationId xmlns:a16="http://schemas.microsoft.com/office/drawing/2014/main" id="{7758E51D-75CA-4E59-8F67-03E7272D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6EF"/>
          </a:solidFill>
          <a:ln xmlns:a="http://schemas.openxmlformats.org/drawingml/2006/main" w="1587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4" name="Google Shape;424;p14">
            <a:extLst xmlns:a="http://schemas.openxmlformats.org/drawingml/2006/main">
              <a:ext uri="{FF2B5EF4-FFF2-40B4-BE49-F238E27FC236}">
                <a16:creationId xmlns:a16="http://schemas.microsoft.com/office/drawing/2014/main" id="{91C02BEE-205F-45C3-9167-BABBD596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Evaluate</a:t>
            </a:r>
            <a:br/>
            <a:r>
              <a:rPr sz="94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Optimize</a:t>
            </a:r>
            <a:endParaRPr/>
          </a:p>
        </p:txBody>
      </p:sp>
      <p:sp>
        <p:nvSpPr>
          <p:cNvPr id="425" name="Google Shape;425;p14">
            <a:extLst xmlns:a="http://schemas.openxmlformats.org/drawingml/2006/main">
              <a:ext uri="{FF2B5EF4-FFF2-40B4-BE49-F238E27FC236}">
                <a16:creationId xmlns:a16="http://schemas.microsoft.com/office/drawing/2014/main" id="{5994197E-C077-4ED9-9B38-AC3A5D79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6EF"/>
          </a:solidFill>
          <a:ln xmlns:a="http://schemas.openxmlformats.org/drawingml/2006/main" w="1587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6" name="Google Shape;426;p14">
            <a:extLst xmlns:a="http://schemas.openxmlformats.org/drawingml/2006/main">
              <a:ext uri="{FF2B5EF4-FFF2-40B4-BE49-F238E27FC236}">
                <a16:creationId xmlns:a16="http://schemas.microsoft.com/office/drawing/2014/main" id="{0CDCFA25-7371-40D5-AF5D-DE15037B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Convert</a:t>
            </a:r>
            <a:br/>
            <a:r>
              <a:rPr sz="94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Model</a:t>
            </a:r>
            <a:endParaRPr/>
          </a:p>
        </p:txBody>
      </p:sp>
      <p:sp>
        <p:nvSpPr>
          <p:cNvPr id="427" name="Google Shape;427;p14">
            <a:extLst xmlns:a="http://schemas.openxmlformats.org/drawingml/2006/main">
              <a:ext uri="{FF2B5EF4-FFF2-40B4-BE49-F238E27FC236}">
                <a16:creationId xmlns:a16="http://schemas.microsoft.com/office/drawing/2014/main" id="{34736F2D-6EAB-47C2-9FDC-C79CDD43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15875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8" name="Google Shape;428;p14">
            <a:extLst xmlns:a="http://schemas.openxmlformats.org/drawingml/2006/main">
              <a:ext uri="{FF2B5EF4-FFF2-40B4-BE49-F238E27FC236}">
                <a16:creationId xmlns:a16="http://schemas.microsoft.com/office/drawing/2014/main" id="{248F4D3E-4467-47C0-8EDD-84D76A4E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Deploy</a:t>
            </a:r>
            <a:br/>
            <a:r>
              <a:rPr sz="94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Model</a:t>
            </a:r>
            <a:endParaRPr/>
          </a:p>
        </p:txBody>
      </p:sp>
      <p:sp>
        <p:nvSpPr>
          <p:cNvPr id="429" name="Google Shape;429;p14">
            <a:extLst xmlns:a="http://schemas.openxmlformats.org/drawingml/2006/main">
              <a:ext uri="{FF2B5EF4-FFF2-40B4-BE49-F238E27FC236}">
                <a16:creationId xmlns:a16="http://schemas.microsoft.com/office/drawing/2014/main" id="{4BA52842-FC2C-43D6-A6D5-570AA4CE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0464" y="2066543"/>
            <a:ext cx="1225296" cy="10789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BEC"/>
          </a:solidFill>
          <a:ln xmlns:a="http://schemas.openxmlformats.org/drawingml/2006/main" w="15875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0" name="Google Shape;430;p14">
            <a:extLst xmlns:a="http://schemas.openxmlformats.org/drawingml/2006/main">
              <a:ext uri="{FF2B5EF4-FFF2-40B4-BE49-F238E27FC236}">
                <a16:creationId xmlns:a16="http://schemas.microsoft.com/office/drawing/2014/main" id="{ECB591F9-DF38-48F4-B174-01F3B1EC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3616" y="2221992"/>
            <a:ext cx="1078992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Make</a:t>
            </a:r>
            <a:br/>
            <a:r>
              <a:rPr sz="94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Inferences</a:t>
            </a:r>
            <a:endParaRPr/>
          </a:p>
        </p:txBody>
      </p:sp>
      <p:sp>
        <p:nvSpPr>
          <p:cNvPr id="431" name="Google Shape;431;p14">
            <a:extLst xmlns:a="http://schemas.openxmlformats.org/drawingml/2006/main">
              <a:ext uri="{FF2B5EF4-FFF2-40B4-BE49-F238E27FC236}">
                <a16:creationId xmlns:a16="http://schemas.microsoft.com/office/drawing/2014/main" id="{2EB474B0-5F72-4662-8905-5B347332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11296"/>
            <a:ext cx="2249424" cy="3657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2" name="Google Shape;432;p14">
            <a:extLst xmlns:a="http://schemas.openxmlformats.org/drawingml/2006/main">
              <a:ext uri="{FF2B5EF4-FFF2-40B4-BE49-F238E27FC236}">
                <a16:creationId xmlns:a16="http://schemas.microsoft.com/office/drawing/2014/main" id="{CEBC4117-64CD-40F0-AE8E-DF3CEC0F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9584"/>
            <a:ext cx="21579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DATA</a:t>
            </a:r>
            <a:endParaRPr/>
          </a:p>
        </p:txBody>
      </p:sp>
      <p:sp>
        <p:nvSpPr>
          <p:cNvPr id="433" name="Google Shape;433;p14">
            <a:extLst xmlns:a="http://schemas.openxmlformats.org/drawingml/2006/main">
              <a:ext uri="{FF2B5EF4-FFF2-40B4-BE49-F238E27FC236}">
                <a16:creationId xmlns:a16="http://schemas.microsoft.com/office/drawing/2014/main" id="{CBFE9356-8BE0-4B65-8042-B64647B3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511296"/>
            <a:ext cx="2249424" cy="3657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4" name="Google Shape;434;p14">
            <a:extLst xmlns:a="http://schemas.openxmlformats.org/drawingml/2006/main">
              <a:ext uri="{FF2B5EF4-FFF2-40B4-BE49-F238E27FC236}">
                <a16:creationId xmlns:a16="http://schemas.microsoft.com/office/drawing/2014/main" id="{B6D56AF5-8307-415E-A581-9C60792E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3529584"/>
            <a:ext cx="21579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DEVELOPMENT</a:t>
            </a:r>
            <a:endParaRPr/>
          </a:p>
        </p:txBody>
      </p:sp>
      <p:sp>
        <p:nvSpPr>
          <p:cNvPr id="435" name="Google Shape;435;p14">
            <a:extLst xmlns:a="http://schemas.openxmlformats.org/drawingml/2006/main">
              <a:ext uri="{FF2B5EF4-FFF2-40B4-BE49-F238E27FC236}">
                <a16:creationId xmlns:a16="http://schemas.microsoft.com/office/drawing/2014/main" id="{CB152ED3-8A47-4C5C-BF51-C0357368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3511296"/>
            <a:ext cx="2249424" cy="3657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6" name="Google Shape;436;p14">
            <a:extLst xmlns:a="http://schemas.openxmlformats.org/drawingml/2006/main">
              <a:ext uri="{FF2B5EF4-FFF2-40B4-BE49-F238E27FC236}">
                <a16:creationId xmlns:a16="http://schemas.microsoft.com/office/drawing/2014/main" id="{A4FA9F5C-51BA-46D4-9E70-B9710784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3" y="3529584"/>
            <a:ext cx="21579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VALIDATE + PACKAGE</a:t>
            </a:r>
            <a:endParaRPr/>
          </a:p>
        </p:txBody>
      </p:sp>
      <p:sp>
        <p:nvSpPr>
          <p:cNvPr id="437" name="Google Shape;437;p14">
            <a:extLst xmlns:a="http://schemas.openxmlformats.org/drawingml/2006/main">
              <a:ext uri="{FF2B5EF4-FFF2-40B4-BE49-F238E27FC236}">
                <a16:creationId xmlns:a16="http://schemas.microsoft.com/office/drawing/2014/main" id="{145E2D8C-AEE3-4B99-BE07-9E7BA9D8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3511296"/>
            <a:ext cx="2249424" cy="3657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CC474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8" name="Google Shape;438;p14">
            <a:extLst xmlns:a="http://schemas.openxmlformats.org/drawingml/2006/main">
              <a:ext uri="{FF2B5EF4-FFF2-40B4-BE49-F238E27FC236}">
                <a16:creationId xmlns:a16="http://schemas.microsoft.com/office/drawing/2014/main" id="{D664C5C3-8914-4488-A550-17609FE7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3529584"/>
            <a:ext cx="21579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PRODUCTION</a:t>
            </a:r>
            <a:endParaRPr/>
          </a:p>
        </p:txBody>
      </p:sp>
      <p:sp>
        <p:nvSpPr>
          <p:cNvPr id="439" name="Google Shape;439;p14">
            <a:extLst xmlns:a="http://schemas.openxmlformats.org/drawingml/2006/main">
              <a:ext uri="{FF2B5EF4-FFF2-40B4-BE49-F238E27FC236}">
                <a16:creationId xmlns:a16="http://schemas.microsoft.com/office/drawing/2014/main" id="{33B47ACF-3598-4418-B856-60ABA103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61104"/>
            <a:ext cx="10149840" cy="9601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Google Shape;440;p14">
            <a:extLst xmlns:a="http://schemas.openxmlformats.org/drawingml/2006/main">
              <a:ext uri="{FF2B5EF4-FFF2-40B4-BE49-F238E27FC236}">
                <a16:creationId xmlns:a16="http://schemas.microsoft.com/office/drawing/2014/main" id="{D61C0DFD-0904-489C-819F-422250BC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4434840"/>
            <a:ext cx="2606040" cy="6492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 workflow describes one pass through technical stages.</a:t>
            </a:r>
            <a:endParaRPr/>
          </a:p>
        </p:txBody>
      </p:sp>
      <p:sp>
        <p:nvSpPr>
          <p:cNvPr id="441" name="Google Shape;441;p14">
            <a:extLst xmlns:a="http://schemas.openxmlformats.org/drawingml/2006/main">
              <a:ext uri="{FF2B5EF4-FFF2-40B4-BE49-F238E27FC236}">
                <a16:creationId xmlns:a16="http://schemas.microsoft.com/office/drawing/2014/main" id="{7C08DDBE-C257-49D1-B2A5-054B83E4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425696"/>
            <a:ext cx="70866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2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It is not yet the system's operating lifecycle.</a:t>
            </a:r>
            <a:endParaRPr/>
          </a:p>
        </p:txBody>
      </p:sp>
      <p:sp>
        <p:nvSpPr>
          <p:cNvPr id="442" name="Google Shape;442;p14">
            <a:extLst xmlns:a="http://schemas.openxmlformats.org/drawingml/2006/main">
              <a:ext uri="{FF2B5EF4-FFF2-40B4-BE49-F238E27FC236}">
                <a16:creationId xmlns:a16="http://schemas.microsoft.com/office/drawing/2014/main" id="{292E1319-D7A7-4B39-BB6B-E5D46240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85232"/>
            <a:ext cx="41148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MLSys/TinyML workflow reference</a:t>
            </a:r>
            <a:endParaRPr/>
          </a:p>
        </p:txBody>
      </p:sp>
      <p:sp>
        <p:nvSpPr>
          <p:cNvPr id="443" name="Google Shape;443;p14">
            <a:extLst xmlns:a="http://schemas.openxmlformats.org/drawingml/2006/main">
              <a:ext uri="{FF2B5EF4-FFF2-40B4-BE49-F238E27FC236}">
                <a16:creationId xmlns:a16="http://schemas.microsoft.com/office/drawing/2014/main" id="{CCE364E6-5ACD-4FF3-9D12-93CDF7C1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10469880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4" name="Google Shape;444;p14">
            <a:extLst xmlns:a="http://schemas.openxmlformats.org/drawingml/2006/main">
              <a:ext uri="{FF2B5EF4-FFF2-40B4-BE49-F238E27FC236}">
                <a16:creationId xmlns:a16="http://schemas.microsoft.com/office/drawing/2014/main" id="{60026EBA-C816-4FF8-98C6-1AF890C6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79008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9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5" name="Google Shape;445;p14">
            <a:extLst xmlns:a="http://schemas.openxmlformats.org/drawingml/2006/main">
              <a:ext uri="{FF2B5EF4-FFF2-40B4-BE49-F238E27FC236}">
                <a16:creationId xmlns:a16="http://schemas.microsoft.com/office/drawing/2014/main" id="{1E8B42AB-B889-4FFB-A6A8-D7CA56A9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715000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Every stage must leave evidence the next stage can trust.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716215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1" name="Google Shape;451;p15">
            <a:extLst xmlns:a="http://schemas.openxmlformats.org/drawingml/2006/main">
              <a:ext uri="{FF2B5EF4-FFF2-40B4-BE49-F238E27FC236}">
                <a16:creationId xmlns:a16="http://schemas.microsoft.com/office/drawing/2014/main" id="{8FE1EC8A-98E3-4171-8BAB-CC2BF3B8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9456"/>
            <a:ext cx="43891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LIFECYCLE</a:t>
            </a:r>
            <a:endParaRPr/>
          </a:p>
        </p:txBody>
      </p:sp>
      <p:sp>
        <p:nvSpPr>
          <p:cNvPr id="452" name="Google Shape;452;p15">
            <a:extLst xmlns:a="http://schemas.openxmlformats.org/drawingml/2006/main">
              <a:ext uri="{FF2B5EF4-FFF2-40B4-BE49-F238E27FC236}">
                <a16:creationId xmlns:a16="http://schemas.microsoft.com/office/drawing/2014/main" id="{28D7E391-ED14-429E-86A3-C4C5E547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3776"/>
            <a:ext cx="98755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5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Lifecycle: Keeping the System Useful</a:t>
            </a:r>
            <a:endParaRPr/>
          </a:p>
        </p:txBody>
      </p:sp>
      <p:cxnSp>
        <p:nvCxnSpPr>
          <p:cNvPr id="621" name="Google Shape;453;p15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54" name="Google Shape;454;p15">
            <a:extLst xmlns:a="http://schemas.openxmlformats.org/drawingml/2006/main">
              <a:ext uri="{FF2B5EF4-FFF2-40B4-BE49-F238E27FC236}">
                <a16:creationId xmlns:a16="http://schemas.microsoft.com/office/drawing/2014/main" id="{21832C7A-8738-457A-B5DB-64E83800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55664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/>
          </a:p>
        </p:txBody>
      </p:sp>
      <p:sp>
        <p:nvSpPr>
          <p:cNvPr id="455" name="Google Shape;455;p15">
            <a:extLst xmlns:a="http://schemas.openxmlformats.org/drawingml/2006/main">
              <a:ext uri="{FF2B5EF4-FFF2-40B4-BE49-F238E27FC236}">
                <a16:creationId xmlns:a16="http://schemas.microsoft.com/office/drawing/2014/main" id="{8E3E3F62-E294-43A2-80B3-BF455235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55664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12</a:t>
            </a:r>
            <a:endParaRPr/>
          </a:p>
        </p:txBody>
      </p:sp>
      <p:sp>
        <p:nvSpPr>
          <p:cNvPr id="456" name="Google Shape;456;p15">
            <a:extLst xmlns:a="http://schemas.openxmlformats.org/drawingml/2006/main">
              <a:ext uri="{FF2B5EF4-FFF2-40B4-BE49-F238E27FC236}">
                <a16:creationId xmlns:a16="http://schemas.microsoft.com/office/drawing/2014/main" id="{270DE297-0A5B-408B-8C9B-39FE85C9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344168"/>
            <a:ext cx="402336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MLOPS PROCESS / NATIVE REDRAW</a:t>
            </a:r>
            <a:endParaRPr/>
          </a:p>
        </p:txBody>
      </p:sp>
      <p:sp>
        <p:nvSpPr>
          <p:cNvPr id="457" name="Google Shape;457;p15">
            <a:extLst xmlns:a="http://schemas.openxmlformats.org/drawingml/2006/main">
              <a:ext uri="{FF2B5EF4-FFF2-40B4-BE49-F238E27FC236}">
                <a16:creationId xmlns:a16="http://schemas.microsoft.com/office/drawing/2014/main" id="{5F7641A5-F357-42D4-BD6E-1997D823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55648"/>
            <a:ext cx="1481328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8" name="Google Shape;458;p15">
            <a:extLst xmlns:a="http://schemas.openxmlformats.org/drawingml/2006/main">
              <a:ext uri="{FF2B5EF4-FFF2-40B4-BE49-F238E27FC236}">
                <a16:creationId xmlns:a16="http://schemas.microsoft.com/office/drawing/2014/main" id="{347FCCDD-BB0A-4D74-A011-E9AFA617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828800"/>
            <a:ext cx="1335024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ML</a:t>
            </a:r>
            <a:br/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Development</a:t>
            </a:r>
            <a:endParaRPr/>
          </a:p>
        </p:txBody>
      </p:sp>
      <p:sp>
        <p:nvSpPr>
          <p:cNvPr id="459" name="Google Shape;459;p15">
            <a:extLst xmlns:a="http://schemas.openxmlformats.org/drawingml/2006/main">
              <a:ext uri="{FF2B5EF4-FFF2-40B4-BE49-F238E27FC236}">
                <a16:creationId xmlns:a16="http://schemas.microsoft.com/office/drawing/2014/main" id="{E49EB536-9790-408E-846C-ACFECAB9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249424"/>
            <a:ext cx="1481328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0" name="Google Shape;460;p15">
            <a:extLst xmlns:a="http://schemas.openxmlformats.org/drawingml/2006/main">
              <a:ext uri="{FF2B5EF4-FFF2-40B4-BE49-F238E27FC236}">
                <a16:creationId xmlns:a16="http://schemas.microsoft.com/office/drawing/2014/main" id="{92C76211-4CE7-4F7B-BC22-A45D439B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2322576"/>
            <a:ext cx="1335024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ML</a:t>
            </a:r>
            <a:br/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Training</a:t>
            </a:r>
            <a:endParaRPr/>
          </a:p>
        </p:txBody>
      </p:sp>
      <p:sp>
        <p:nvSpPr>
          <p:cNvPr id="461" name="Google Shape;461;p15">
            <a:extLst xmlns:a="http://schemas.openxmlformats.org/drawingml/2006/main">
              <a:ext uri="{FF2B5EF4-FFF2-40B4-BE49-F238E27FC236}">
                <a16:creationId xmlns:a16="http://schemas.microsoft.com/office/drawing/2014/main" id="{06D105A4-2067-4BB3-B6DA-15F0D655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743200"/>
            <a:ext cx="1481328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2" name="Google Shape;462;p15">
            <a:extLst xmlns:a="http://schemas.openxmlformats.org/drawingml/2006/main">
              <a:ext uri="{FF2B5EF4-FFF2-40B4-BE49-F238E27FC236}">
                <a16:creationId xmlns:a16="http://schemas.microsoft.com/office/drawing/2014/main" id="{317E4940-F296-454F-A827-F548121E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816352"/>
            <a:ext cx="1335024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Continuous</a:t>
            </a:r>
            <a:br/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Training</a:t>
            </a:r>
            <a:endParaRPr/>
          </a:p>
        </p:txBody>
      </p:sp>
      <p:sp>
        <p:nvSpPr>
          <p:cNvPr id="463" name="Google Shape;463;p15">
            <a:extLst xmlns:a="http://schemas.openxmlformats.org/drawingml/2006/main">
              <a:ext uri="{FF2B5EF4-FFF2-40B4-BE49-F238E27FC236}">
                <a16:creationId xmlns:a16="http://schemas.microsoft.com/office/drawing/2014/main" id="{5C059890-8E03-4E14-9497-5F4FCE1A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3236976"/>
            <a:ext cx="1481328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4" name="Google Shape;464;p15">
            <a:extLst xmlns:a="http://schemas.openxmlformats.org/drawingml/2006/main">
              <a:ext uri="{FF2B5EF4-FFF2-40B4-BE49-F238E27FC236}">
                <a16:creationId xmlns:a16="http://schemas.microsoft.com/office/drawing/2014/main" id="{F0E6D930-D68F-4CA5-89AA-EC6C39B4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3310128"/>
            <a:ext cx="1335024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Model</a:t>
            </a:r>
            <a:br/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Deployment</a:t>
            </a:r>
            <a:endParaRPr/>
          </a:p>
        </p:txBody>
      </p:sp>
      <p:sp>
        <p:nvSpPr>
          <p:cNvPr id="465" name="Google Shape;465;p15">
            <a:extLst xmlns:a="http://schemas.openxmlformats.org/drawingml/2006/main">
              <a:ext uri="{FF2B5EF4-FFF2-40B4-BE49-F238E27FC236}">
                <a16:creationId xmlns:a16="http://schemas.microsoft.com/office/drawing/2014/main" id="{390B3C0A-6382-4A24-8826-0FDFD121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824" y="3730752"/>
            <a:ext cx="1481328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6" name="Google Shape;466;p15">
            <a:extLst xmlns:a="http://schemas.openxmlformats.org/drawingml/2006/main">
              <a:ext uri="{FF2B5EF4-FFF2-40B4-BE49-F238E27FC236}">
                <a16:creationId xmlns:a16="http://schemas.microsoft.com/office/drawing/2014/main" id="{82FE6DA4-F14E-4AF1-9C37-F60D1858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6" y="3803904"/>
            <a:ext cx="1335024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Prediction</a:t>
            </a:r>
            <a:br/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Serving</a:t>
            </a:r>
            <a:endParaRPr/>
          </a:p>
        </p:txBody>
      </p:sp>
      <p:sp>
        <p:nvSpPr>
          <p:cNvPr id="467" name="Google Shape;467;p15">
            <a:extLst xmlns:a="http://schemas.openxmlformats.org/drawingml/2006/main">
              <a:ext uri="{FF2B5EF4-FFF2-40B4-BE49-F238E27FC236}">
                <a16:creationId xmlns:a16="http://schemas.microsoft.com/office/drawing/2014/main" id="{F631F87C-2296-4464-B5FD-2D8DBBCD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224528"/>
            <a:ext cx="1481328" cy="7498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587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8" name="Google Shape;468;p15">
            <a:extLst xmlns:a="http://schemas.openxmlformats.org/drawingml/2006/main">
              <a:ext uri="{FF2B5EF4-FFF2-40B4-BE49-F238E27FC236}">
                <a16:creationId xmlns:a16="http://schemas.microsoft.com/office/drawing/2014/main" id="{B7F5602C-D966-4B77-9A3A-B1452049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624" y="4297680"/>
            <a:ext cx="1335024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Continuous</a:t>
            </a:r>
            <a:br/>
            <a:r>
              <a:rPr sz="1019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Monitoring</a:t>
            </a:r>
            <a:endParaRPr/>
          </a:p>
        </p:txBody>
      </p:sp>
      <p:cxnSp>
        <p:nvCxnSpPr>
          <p:cNvPr id="637" name="Google Shape;469;p15"/>
          <p:cNvCxnSpPr/>
          <p:nvPr/>
        </p:nvCxnSpPr>
        <p:spPr>
          <a:xfrm xmlns:a="http://schemas.openxmlformats.org/drawingml/2006/main">
            <a:off x="2194560" y="2130552"/>
            <a:ext cx="16459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2A6FC5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70" name="Google Shape;470;p15">
            <a:extLst xmlns:a="http://schemas.openxmlformats.org/drawingml/2006/main">
              <a:ext uri="{FF2B5EF4-FFF2-40B4-BE49-F238E27FC236}">
                <a16:creationId xmlns:a16="http://schemas.microsoft.com/office/drawing/2014/main" id="{040CE109-4B60-4C49-B688-E6F012FF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313432" y="2066544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1" name="Google Shape;471;p15">
            <a:extLst xmlns:a="http://schemas.openxmlformats.org/drawingml/2006/main">
              <a:ext uri="{FF2B5EF4-FFF2-40B4-BE49-F238E27FC236}">
                <a16:creationId xmlns:a16="http://schemas.microsoft.com/office/drawing/2014/main" id="{DDA342FB-100F-4572-BD2D-72B56424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1993392"/>
            <a:ext cx="1152144" cy="2926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2" name="Google Shape;472;p15">
            <a:extLst xmlns:a="http://schemas.openxmlformats.org/drawingml/2006/main">
              <a:ext uri="{FF2B5EF4-FFF2-40B4-BE49-F238E27FC236}">
                <a16:creationId xmlns:a16="http://schemas.microsoft.com/office/drawing/2014/main" id="{18A9F0B2-5276-4F19-A5B0-C4E3B11E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11680"/>
            <a:ext cx="1060704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6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CODE + CONFIG</a:t>
            </a:r>
            <a:endParaRPr/>
          </a:p>
        </p:txBody>
      </p:sp>
      <p:cxnSp>
        <p:nvCxnSpPr>
          <p:cNvPr id="641" name="Google Shape;473;p15"/>
          <p:cNvCxnSpPr/>
          <p:nvPr/>
        </p:nvCxnSpPr>
        <p:spPr>
          <a:xfrm xmlns:a="http://schemas.openxmlformats.org/drawingml/2006/main">
            <a:off x="3950208" y="2624328"/>
            <a:ext cx="16459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2A6FC5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74" name="Google Shape;474;p15">
            <a:extLst xmlns:a="http://schemas.openxmlformats.org/drawingml/2006/main">
              <a:ext uri="{FF2B5EF4-FFF2-40B4-BE49-F238E27FC236}">
                <a16:creationId xmlns:a16="http://schemas.microsoft.com/office/drawing/2014/main" id="{0443F6C5-302F-444A-B313-2012E29C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69080" y="2560320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5" name="Google Shape;475;p15">
            <a:extLst xmlns:a="http://schemas.openxmlformats.org/drawingml/2006/main">
              <a:ext uri="{FF2B5EF4-FFF2-40B4-BE49-F238E27FC236}">
                <a16:creationId xmlns:a16="http://schemas.microsoft.com/office/drawing/2014/main" id="{DE298580-923E-461E-BF3F-223171E2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487168"/>
            <a:ext cx="1152144" cy="2926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6" name="Google Shape;476;p15">
            <a:extLst xmlns:a="http://schemas.openxmlformats.org/drawingml/2006/main">
              <a:ext uri="{FF2B5EF4-FFF2-40B4-BE49-F238E27FC236}">
                <a16:creationId xmlns:a16="http://schemas.microsoft.com/office/drawing/2014/main" id="{E958F66C-074D-49B9-9051-57B520CC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472" y="2505456"/>
            <a:ext cx="1060704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6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TRAINING PIPELINE</a:t>
            </a:r>
            <a:endParaRPr/>
          </a:p>
        </p:txBody>
      </p:sp>
      <p:cxnSp>
        <p:nvCxnSpPr>
          <p:cNvPr id="645" name="Google Shape;477;p15"/>
          <p:cNvCxnSpPr/>
          <p:nvPr/>
        </p:nvCxnSpPr>
        <p:spPr>
          <a:xfrm xmlns:a="http://schemas.openxmlformats.org/drawingml/2006/main">
            <a:off x="5705856" y="3118104"/>
            <a:ext cx="16459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2A6FC5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78" name="Google Shape;478;p15">
            <a:extLst xmlns:a="http://schemas.openxmlformats.org/drawingml/2006/main">
              <a:ext uri="{FF2B5EF4-FFF2-40B4-BE49-F238E27FC236}">
                <a16:creationId xmlns:a16="http://schemas.microsoft.com/office/drawing/2014/main" id="{6DCE5B70-1B74-41BA-85E6-DBB3D160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24728" y="3054096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9" name="Google Shape;479;p15">
            <a:extLst xmlns:a="http://schemas.openxmlformats.org/drawingml/2006/main">
              <a:ext uri="{FF2B5EF4-FFF2-40B4-BE49-F238E27FC236}">
                <a16:creationId xmlns:a16="http://schemas.microsoft.com/office/drawing/2014/main" id="{2C307CE5-E8A9-43C0-BAF1-0ECCBEA6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80944"/>
            <a:ext cx="1152144" cy="2926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0" name="Google Shape;480;p15">
            <a:extLst xmlns:a="http://schemas.openxmlformats.org/drawingml/2006/main">
              <a:ext uri="{FF2B5EF4-FFF2-40B4-BE49-F238E27FC236}">
                <a16:creationId xmlns:a16="http://schemas.microsoft.com/office/drawing/2014/main" id="{E26D9C3D-FF08-4BA8-B5C9-9E65AD94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999232"/>
            <a:ext cx="1060704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6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REGISTERED MODEL</a:t>
            </a:r>
            <a:endParaRPr/>
          </a:p>
        </p:txBody>
      </p:sp>
      <p:cxnSp>
        <p:nvCxnSpPr>
          <p:cNvPr id="649" name="Google Shape;481;p15"/>
          <p:cNvCxnSpPr/>
          <p:nvPr/>
        </p:nvCxnSpPr>
        <p:spPr>
          <a:xfrm xmlns:a="http://schemas.openxmlformats.org/drawingml/2006/main">
            <a:off x="7461504" y="3611880"/>
            <a:ext cx="16459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2A6FC5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82" name="Google Shape;482;p15">
            <a:extLst xmlns:a="http://schemas.openxmlformats.org/drawingml/2006/main">
              <a:ext uri="{FF2B5EF4-FFF2-40B4-BE49-F238E27FC236}">
                <a16:creationId xmlns:a16="http://schemas.microsoft.com/office/drawing/2014/main" id="{5AF48CDA-836B-4F1B-A572-964EBC90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580376" y="3547872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3" name="Google Shape;483;p15">
            <a:extLst xmlns:a="http://schemas.openxmlformats.org/drawingml/2006/main">
              <a:ext uri="{FF2B5EF4-FFF2-40B4-BE49-F238E27FC236}">
                <a16:creationId xmlns:a16="http://schemas.microsoft.com/office/drawing/2014/main" id="{A7A9F038-BC3D-490E-97FE-3BB08277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3474720"/>
            <a:ext cx="1152144" cy="2926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4" name="Google Shape;484;p15">
            <a:extLst xmlns:a="http://schemas.openxmlformats.org/drawingml/2006/main">
              <a:ext uri="{FF2B5EF4-FFF2-40B4-BE49-F238E27FC236}">
                <a16:creationId xmlns:a16="http://schemas.microsoft.com/office/drawing/2014/main" id="{E74238D1-BE4F-4D1F-902E-76FFB530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7768" y="3493008"/>
            <a:ext cx="1060704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6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SERVING PACKAGE</a:t>
            </a:r>
            <a:endParaRPr/>
          </a:p>
        </p:txBody>
      </p:sp>
      <p:cxnSp>
        <p:nvCxnSpPr>
          <p:cNvPr id="653" name="Google Shape;485;p15"/>
          <p:cNvCxnSpPr/>
          <p:nvPr/>
        </p:nvCxnSpPr>
        <p:spPr>
          <a:xfrm xmlns:a="http://schemas.openxmlformats.org/drawingml/2006/main">
            <a:off x="9217152" y="4105656"/>
            <a:ext cx="164592" cy="0"/>
          </a:xfrm>
          <a:prstGeom xmlns:a="http://schemas.openxmlformats.org/drawingml/2006/main" prst="straightConnector1">
            <a:avLst/>
          </a:prstGeom>
          <a:ln xmlns:a="http://schemas.openxmlformats.org/drawingml/2006/main" w="17775" cap="flat">
            <a:solidFill>
              <a:srgbClr val="2A6FC5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86" name="Google Shape;486;p15">
            <a:extLst xmlns:a="http://schemas.openxmlformats.org/drawingml/2006/main">
              <a:ext uri="{FF2B5EF4-FFF2-40B4-BE49-F238E27FC236}">
                <a16:creationId xmlns:a16="http://schemas.microsoft.com/office/drawing/2014/main" id="{97A0E9EE-2ECB-4581-AAEA-77A3174D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336024" y="4041648"/>
            <a:ext cx="137160" cy="128016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7" name="Google Shape;487;p15">
            <a:extLst xmlns:a="http://schemas.openxmlformats.org/drawingml/2006/main">
              <a:ext uri="{FF2B5EF4-FFF2-40B4-BE49-F238E27FC236}">
                <a16:creationId xmlns:a16="http://schemas.microsoft.com/office/drawing/2014/main" id="{9A10B520-94EE-4302-A971-2DF8B6F4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3968496"/>
            <a:ext cx="1152144" cy="29260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8" name="Google Shape;488;p15">
            <a:extLst xmlns:a="http://schemas.openxmlformats.org/drawingml/2006/main">
              <a:ext uri="{FF2B5EF4-FFF2-40B4-BE49-F238E27FC236}">
                <a16:creationId xmlns:a16="http://schemas.microsoft.com/office/drawing/2014/main" id="{53417258-55E3-4A67-833A-E9A59F65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3986783"/>
            <a:ext cx="1060704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6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SERVING LOGS</a:t>
            </a:r>
            <a:endParaRPr/>
          </a:p>
        </p:txBody>
      </p:sp>
      <p:sp>
        <p:nvSpPr>
          <p:cNvPr id="489" name="Google Shape;489;p15">
            <a:extLst xmlns:a="http://schemas.openxmlformats.org/drawingml/2006/main">
              <a:ext uri="{FF2B5EF4-FFF2-40B4-BE49-F238E27FC236}">
                <a16:creationId xmlns:a16="http://schemas.microsoft.com/office/drawing/2014/main" id="{B539EA84-A181-4D64-82EC-1AD46B1E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1536192"/>
            <a:ext cx="3584448" cy="7132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6EF"/>
          </a:solidFill>
          <a:ln xmlns:a="http://schemas.openxmlformats.org/drawingml/2006/main" w="15875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0" name="Google Shape;490;p15">
            <a:extLst xmlns:a="http://schemas.openxmlformats.org/drawingml/2006/main">
              <a:ext uri="{FF2B5EF4-FFF2-40B4-BE49-F238E27FC236}">
                <a16:creationId xmlns:a16="http://schemas.microsoft.com/office/drawing/2014/main" id="{9103450E-F491-459A-97AC-5815B844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1709928"/>
            <a:ext cx="3255264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DATA + MODEL MANAGEMENT</a:t>
            </a:r>
            <a:endParaRPr/>
          </a:p>
        </p:txBody>
      </p:sp>
      <p:cxnSp>
        <p:nvCxnSpPr>
          <p:cNvPr id="659" name="Google Shape;491;p15"/>
          <p:cNvCxnSpPr/>
          <p:nvPr/>
        </p:nvCxnSpPr>
        <p:spPr>
          <a:xfrm xmlns:a="http://schemas.openxmlformats.org/drawingml/2006/main">
            <a:off x="8339327" y="2249424"/>
            <a:ext cx="0" cy="128016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279771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492" name="Google Shape;492;p15">
            <a:extLst xmlns:a="http://schemas.openxmlformats.org/drawingml/2006/main">
              <a:ext uri="{FF2B5EF4-FFF2-40B4-BE49-F238E27FC236}">
                <a16:creationId xmlns:a16="http://schemas.microsoft.com/office/drawing/2014/main" id="{E23B467E-69BA-46BD-BD6B-DB2139D8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48656"/>
            <a:ext cx="41148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MLOps process reference</a:t>
            </a:r>
            <a:endParaRPr/>
          </a:p>
        </p:txBody>
      </p:sp>
      <p:sp>
        <p:nvSpPr>
          <p:cNvPr id="493" name="Google Shape;493;p15">
            <a:extLst xmlns:a="http://schemas.openxmlformats.org/drawingml/2006/main">
              <a:ext uri="{FF2B5EF4-FFF2-40B4-BE49-F238E27FC236}">
                <a16:creationId xmlns:a16="http://schemas.microsoft.com/office/drawing/2014/main" id="{014C4E92-813B-4168-9CE3-AAF5C9B6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10469880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4" name="Google Shape;494;p15">
            <a:extLst xmlns:a="http://schemas.openxmlformats.org/drawingml/2006/main">
              <a:ext uri="{FF2B5EF4-FFF2-40B4-BE49-F238E27FC236}">
                <a16:creationId xmlns:a16="http://schemas.microsoft.com/office/drawing/2014/main" id="{158F4C46-4F8C-4171-8FB5-70F5DF29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79008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9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5" name="Google Shape;495;p15">
            <a:extLst xmlns:a="http://schemas.openxmlformats.org/drawingml/2006/main">
              <a:ext uri="{FF2B5EF4-FFF2-40B4-BE49-F238E27FC236}">
                <a16:creationId xmlns:a16="http://schemas.microsoft.com/office/drawing/2014/main" id="{997D0E1E-A7E8-442C-8AD5-DDDE66BF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715000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The lifecycle continues after deployment through serving, monitoring, and response.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494603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1" name="Google Shape;501;p16">
            <a:extLst xmlns:a="http://schemas.openxmlformats.org/drawingml/2006/main">
              <a:ext uri="{FF2B5EF4-FFF2-40B4-BE49-F238E27FC236}">
                <a16:creationId xmlns:a16="http://schemas.microsoft.com/office/drawing/2014/main" id="{E673DEF0-16F5-498A-8BEC-C6985366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MAP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2" name="Google Shape;502;p16">
            <a:extLst xmlns:a="http://schemas.openxmlformats.org/drawingml/2006/main">
              <a:ext uri="{FF2B5EF4-FFF2-40B4-BE49-F238E27FC236}">
                <a16:creationId xmlns:a16="http://schemas.microsoft.com/office/drawing/2014/main" id="{B4A82114-D5D7-4446-85BD-2F1B1BF5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Nine Lectures, One Evidence Chain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24" name="Google Shape;503;p16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4" name="Google Shape;504;p16">
            <a:extLst xmlns:a="http://schemas.openxmlformats.org/drawingml/2006/main">
              <a:ext uri="{FF2B5EF4-FFF2-40B4-BE49-F238E27FC236}">
                <a16:creationId xmlns:a16="http://schemas.microsoft.com/office/drawing/2014/main" id="{D3F0A775-0227-4A06-B5C9-3D51343D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13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5" name="Google Shape;505;p16">
            <a:extLst xmlns:a="http://schemas.openxmlformats.org/drawingml/2006/main">
              <a:ext uri="{FF2B5EF4-FFF2-40B4-BE49-F238E27FC236}">
                <a16:creationId xmlns:a16="http://schemas.microsoft.com/office/drawing/2014/main" id="{2B5EAA4C-4D13-4181-AA3F-285D8F95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6" name="Google Shape;506;p16">
            <a:extLst xmlns:a="http://schemas.openxmlformats.org/drawingml/2006/main">
              <a:ext uri="{FF2B5EF4-FFF2-40B4-BE49-F238E27FC236}">
                <a16:creationId xmlns:a16="http://schemas.microsoft.com/office/drawing/2014/main" id="{B7D81359-51E0-4F70-A16E-B614FF41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1563624"/>
            <a:ext cx="5285232" cy="3364992"/>
          </a:xfrm>
          <a:prstGeom xmlns:a="http://schemas.openxmlformats.org/drawingml/2006/main" prst="roundRect">
            <a:avLst>
              <a:gd name="adj" fmla="val 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28" name="Google Shape;507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49e50b8f004ec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459572" y="1600200"/>
            <a:ext cx="2030297" cy="329184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08" name="Google Shape;508;p16">
            <a:extLst xmlns:a="http://schemas.openxmlformats.org/drawingml/2006/main">
              <a:ext uri="{FF2B5EF4-FFF2-40B4-BE49-F238E27FC236}">
                <a16:creationId xmlns:a16="http://schemas.microsoft.com/office/drawing/2014/main" id="{D4CEEECD-8DFE-4BF5-9F4A-7E13132C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46904"/>
            <a:ext cx="521208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40"/>
              <a:buFont typeface="Arial"/>
              <a:buNone/>
            </a:pPr>
            <a:r>
              <a:rPr sz="74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MLSys/TinyML MLOps reference</a:t>
            </a:r>
            <a:endParaRPr sz="7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30" name="Google Shape;509;p16"/>
          <p:cNvCxnSpPr/>
          <p:nvPr/>
        </p:nvCxnSpPr>
        <p:spPr>
          <a:xfrm xmlns:a="http://schemas.openxmlformats.org/drawingml/2006/main">
            <a:off x="6446520" y="1892808"/>
            <a:ext cx="475488" cy="0"/>
          </a:xfrm>
          <a:prstGeom xmlns:a="http://schemas.openxmlformats.org/drawingml/2006/main" prst="straightConnector1">
            <a:avLst/>
          </a:prstGeom>
          <a:ln xmlns:a="http://schemas.openxmlformats.org/drawingml/2006/main" w="20300" cap="flat">
            <a:solidFill>
              <a:srgbClr val="E69C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0" name="Google Shape;510;p16">
            <a:extLst xmlns:a="http://schemas.openxmlformats.org/drawingml/2006/main">
              <a:ext uri="{FF2B5EF4-FFF2-40B4-BE49-F238E27FC236}">
                <a16:creationId xmlns:a16="http://schemas.microsoft.com/office/drawing/2014/main" id="{9D102C3A-6045-4180-9439-B950D891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80136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40"/>
              <a:buFont typeface="Arial"/>
              <a:buNone/>
            </a:pPr>
            <a:r>
              <a:rPr sz="74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OUR COURSE ORDER</a:t>
            </a:r>
            <a:endParaRPr sz="7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1" name="Google Shape;511;p16">
            <a:extLst xmlns:a="http://schemas.openxmlformats.org/drawingml/2006/main">
              <a:ext uri="{FF2B5EF4-FFF2-40B4-BE49-F238E27FC236}">
                <a16:creationId xmlns:a16="http://schemas.microsoft.com/office/drawing/2014/main" id="{0EA104ED-EC21-46FC-A5FE-C3CDDC9A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176272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1.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2" name="Google Shape;512;p16">
            <a:extLst xmlns:a="http://schemas.openxmlformats.org/drawingml/2006/main">
              <a:ext uri="{FF2B5EF4-FFF2-40B4-BE49-F238E27FC236}">
                <a16:creationId xmlns:a16="http://schemas.microsoft.com/office/drawing/2014/main" id="{4F5CE762-8015-45D6-9ABF-9715AB72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176272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AI systems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3" name="Google Shape;513;p16">
            <a:extLst xmlns:a="http://schemas.openxmlformats.org/drawingml/2006/main">
              <a:ext uri="{FF2B5EF4-FFF2-40B4-BE49-F238E27FC236}">
                <a16:creationId xmlns:a16="http://schemas.microsoft.com/office/drawing/2014/main" id="{9366E0CD-778E-46D1-B0A0-9FC711FB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441448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2.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" name="Google Shape;514;p16">
            <a:extLst xmlns:a="http://schemas.openxmlformats.org/drawingml/2006/main">
              <a:ext uri="{FF2B5EF4-FFF2-40B4-BE49-F238E27FC236}">
                <a16:creationId xmlns:a16="http://schemas.microsoft.com/office/drawing/2014/main" id="{047FA86E-2769-49CA-9344-3AE3E2E5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441448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ML lifecycle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" name="Google Shape;515;p16">
            <a:extLst xmlns:a="http://schemas.openxmlformats.org/drawingml/2006/main">
              <a:ext uri="{FF2B5EF4-FFF2-40B4-BE49-F238E27FC236}">
                <a16:creationId xmlns:a16="http://schemas.microsoft.com/office/drawing/2014/main" id="{6278D7AE-9A03-49A6-A59D-C8111E29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706624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3.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6" name="Google Shape;516;p16">
            <a:extLst xmlns:a="http://schemas.openxmlformats.org/drawingml/2006/main">
              <a:ext uri="{FF2B5EF4-FFF2-40B4-BE49-F238E27FC236}">
                <a16:creationId xmlns:a16="http://schemas.microsoft.com/office/drawing/2014/main" id="{C6EED8E9-940A-4571-9881-EB3DA3D7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706624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requirements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7" name="Google Shape;517;p16">
            <a:extLst xmlns:a="http://schemas.openxmlformats.org/drawingml/2006/main">
              <a:ext uri="{FF2B5EF4-FFF2-40B4-BE49-F238E27FC236}">
                <a16:creationId xmlns:a16="http://schemas.microsoft.com/office/drawing/2014/main" id="{FD6C45AE-179D-4111-BBA4-FD3BAE57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71800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4.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8" name="Google Shape;518;p16">
            <a:extLst xmlns:a="http://schemas.openxmlformats.org/drawingml/2006/main">
              <a:ext uri="{FF2B5EF4-FFF2-40B4-BE49-F238E27FC236}">
                <a16:creationId xmlns:a16="http://schemas.microsoft.com/office/drawing/2014/main" id="{93F45D8D-52B6-4066-91A7-8DB80D56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971800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architecture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9" name="Google Shape;519;p16">
            <a:extLst xmlns:a="http://schemas.openxmlformats.org/drawingml/2006/main">
              <a:ext uri="{FF2B5EF4-FFF2-40B4-BE49-F238E27FC236}">
                <a16:creationId xmlns:a16="http://schemas.microsoft.com/office/drawing/2014/main" id="{1B06042D-51B7-4851-AB62-95FBAD1D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236976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5.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0" name="Google Shape;520;p16">
            <a:extLst xmlns:a="http://schemas.openxmlformats.org/drawingml/2006/main">
              <a:ext uri="{FF2B5EF4-FFF2-40B4-BE49-F238E27FC236}">
                <a16:creationId xmlns:a16="http://schemas.microsoft.com/office/drawing/2014/main" id="{CEE49D76-EB44-4E25-91C6-A124565E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236976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data validation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1" name="Google Shape;521;p16">
            <a:extLst xmlns:a="http://schemas.openxmlformats.org/drawingml/2006/main">
              <a:ext uri="{FF2B5EF4-FFF2-40B4-BE49-F238E27FC236}">
                <a16:creationId xmlns:a16="http://schemas.microsoft.com/office/drawing/2014/main" id="{A51DABE5-FB31-4FE6-8359-6A811A4A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02152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6.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2" name="Google Shape;522;p16">
            <a:extLst xmlns:a="http://schemas.openxmlformats.org/drawingml/2006/main">
              <a:ext uri="{FF2B5EF4-FFF2-40B4-BE49-F238E27FC236}">
                <a16:creationId xmlns:a16="http://schemas.microsoft.com/office/drawing/2014/main" id="{6372879E-E26B-4FAD-AFEB-322EFD6A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502152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experiments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3" name="Google Shape;523;p16">
            <a:extLst xmlns:a="http://schemas.openxmlformats.org/drawingml/2006/main">
              <a:ext uri="{FF2B5EF4-FFF2-40B4-BE49-F238E27FC236}">
                <a16:creationId xmlns:a16="http://schemas.microsoft.com/office/drawing/2014/main" id="{C3CBD45B-0888-4A70-93F9-6B85CBE2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767328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7.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4" name="Google Shape;524;p16">
            <a:extLst xmlns:a="http://schemas.openxmlformats.org/drawingml/2006/main">
              <a:ext uri="{FF2B5EF4-FFF2-40B4-BE49-F238E27FC236}">
                <a16:creationId xmlns:a16="http://schemas.microsoft.com/office/drawing/2014/main" id="{851C4B48-429C-4E70-9576-D2B2D536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767328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testing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5" name="Google Shape;525;p16">
            <a:extLst xmlns:a="http://schemas.openxmlformats.org/drawingml/2006/main">
              <a:ext uri="{FF2B5EF4-FFF2-40B4-BE49-F238E27FC236}">
                <a16:creationId xmlns:a16="http://schemas.microsoft.com/office/drawing/2014/main" id="{5F94D15D-9476-439B-8DDE-C8E6211E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32504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8.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6" name="Google Shape;526;p16">
            <a:extLst xmlns:a="http://schemas.openxmlformats.org/drawingml/2006/main">
              <a:ext uri="{FF2B5EF4-FFF2-40B4-BE49-F238E27FC236}">
                <a16:creationId xmlns:a16="http://schemas.microsoft.com/office/drawing/2014/main" id="{76A9503B-4EB0-46FD-AE18-06E8F80A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032504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serving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7" name="Google Shape;527;p16">
            <a:extLst xmlns:a="http://schemas.openxmlformats.org/drawingml/2006/main">
              <a:ext uri="{FF2B5EF4-FFF2-40B4-BE49-F238E27FC236}">
                <a16:creationId xmlns:a16="http://schemas.microsoft.com/office/drawing/2014/main" id="{4A2EFDDB-0C55-4458-A28C-C10FF1A3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297680"/>
            <a:ext cx="29260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70"/>
              <a:buFont typeface="Arial"/>
              <a:buNone/>
            </a:pPr>
            <a:r>
              <a:rPr sz="77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9.</a:t>
            </a:r>
            <a:endParaRPr sz="7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8" name="Google Shape;528;p16">
            <a:extLst xmlns:a="http://schemas.openxmlformats.org/drawingml/2006/main">
              <a:ext uri="{FF2B5EF4-FFF2-40B4-BE49-F238E27FC236}">
                <a16:creationId xmlns:a16="http://schemas.microsoft.com/office/drawing/2014/main" id="{33CFC8FE-4D8E-498D-B159-422BA456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297680"/>
            <a:ext cx="329184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00"/>
              <a:buFont typeface="Arial"/>
              <a:buNone/>
            </a:pPr>
            <a:r>
              <a:rPr sz="80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monitoring</a:t>
            </a:r>
            <a:endParaRPr sz="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50" name="Google Shape;529;p16"/>
          <p:cNvCxnSpPr/>
          <p:nvPr/>
        </p:nvCxnSpPr>
        <p:spPr>
          <a:xfrm xmlns:a="http://schemas.openxmlformats.org/drawingml/2006/main">
            <a:off x="1078992" y="5815584"/>
            <a:ext cx="950976" cy="0"/>
          </a:xfrm>
          <a:prstGeom xmlns:a="http://schemas.openxmlformats.org/drawingml/2006/main" prst="straightConnector1">
            <a:avLst/>
          </a:prstGeom>
          <a:ln xmlns:a="http://schemas.openxmlformats.org/drawingml/2006/main" w="2285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6">
            <a:extLst xmlns:a="http://schemas.openxmlformats.org/drawingml/2006/main">
              <a:ext uri="{FF2B5EF4-FFF2-40B4-BE49-F238E27FC236}">
                <a16:creationId xmlns:a16="http://schemas.microsoft.com/office/drawing/2014/main" id="{0411B6E5-919E-4EB9-94BC-4F4EB217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272" y="5715000"/>
            <a:ext cx="80467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070"/>
              <a:buFont typeface="Arial"/>
              <a:buNone/>
            </a:pPr>
            <a:r>
              <a:rPr sz="107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Each lecture owns one decision and adds evidence to the same system.</a:t>
            </a:r>
            <a:endParaRPr sz="107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387639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6" name="Google Shape;536;p17">
            <a:extLst xmlns:a="http://schemas.openxmlformats.org/drawingml/2006/main">
              <a:ext uri="{FF2B5EF4-FFF2-40B4-BE49-F238E27FC236}">
                <a16:creationId xmlns:a16="http://schemas.microsoft.com/office/drawing/2014/main" id="{0F247DCD-7C30-4F3B-B105-D83B20B4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PROJECT EVIDENCE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7" name="Google Shape;537;p17">
            <a:extLst xmlns:a="http://schemas.openxmlformats.org/drawingml/2006/main">
              <a:ext uri="{FF2B5EF4-FFF2-40B4-BE49-F238E27FC236}">
                <a16:creationId xmlns:a16="http://schemas.microsoft.com/office/drawing/2014/main" id="{B01F2D27-ADDD-40C7-B6A0-A43BA496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The Project Builds an Evidence Trail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62" name="Google Shape;538;p17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9" name="Google Shape;539;p17">
            <a:extLst xmlns:a="http://schemas.openxmlformats.org/drawingml/2006/main">
              <a:ext uri="{FF2B5EF4-FFF2-40B4-BE49-F238E27FC236}">
                <a16:creationId xmlns:a16="http://schemas.microsoft.com/office/drawing/2014/main" id="{612578E0-F183-41E3-85E3-1836BECE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14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0" name="Google Shape;540;p17">
            <a:extLst xmlns:a="http://schemas.openxmlformats.org/drawingml/2006/main">
              <a:ext uri="{FF2B5EF4-FFF2-40B4-BE49-F238E27FC236}">
                <a16:creationId xmlns:a16="http://schemas.microsoft.com/office/drawing/2014/main" id="{9CD8E6BA-2E7A-4F40-99B7-952DE5B6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1" name="Google Shape;541;p17">
            <a:extLst xmlns:a="http://schemas.openxmlformats.org/drawingml/2006/main">
              <a:ext uri="{FF2B5EF4-FFF2-40B4-BE49-F238E27FC236}">
                <a16:creationId xmlns:a16="http://schemas.microsoft.com/office/drawing/2014/main" id="{E30E587E-1264-44AC-BBCB-DB93EDE3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664208"/>
            <a:ext cx="99669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FireWatch becomes credible one engineering decision at a time—not in one final demo.</a:t>
            </a:r>
            <a:endParaRPr sz="14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66" name="Google Shape;542;p17"/>
          <p:cNvCxnSpPr/>
          <p:nvPr/>
        </p:nvCxnSpPr>
        <p:spPr>
          <a:xfrm xmlns:a="http://schemas.openxmlformats.org/drawingml/2006/main">
            <a:off x="1051560" y="2761488"/>
            <a:ext cx="99212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3" name="Google Shape;543;p17">
            <a:extLst xmlns:a="http://schemas.openxmlformats.org/drawingml/2006/main">
              <a:ext uri="{FF2B5EF4-FFF2-40B4-BE49-F238E27FC236}">
                <a16:creationId xmlns:a16="http://schemas.microsoft.com/office/drawing/2014/main" id="{5E2EE2CD-3427-4B03-97B6-A0267AFC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C31"/>
          </a:solidFill>
          <a:ln xmlns:a="http://schemas.openxmlformats.org/drawingml/2006/main" w="11425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7">
            <a:extLst xmlns:a="http://schemas.openxmlformats.org/drawingml/2006/main">
              <a:ext uri="{FF2B5EF4-FFF2-40B4-BE49-F238E27FC236}">
                <a16:creationId xmlns:a16="http://schemas.microsoft.com/office/drawing/2014/main" id="{5104E39D-BF4D-4ED0-B304-50C4113F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10"/>
              <a:buFont typeface="Arial"/>
              <a:buNone/>
            </a:pPr>
            <a:r>
              <a:rPr sz="71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boundary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5" name="Google Shape;545;p17">
            <a:extLst xmlns:a="http://schemas.openxmlformats.org/drawingml/2006/main">
              <a:ext uri="{FF2B5EF4-FFF2-40B4-BE49-F238E27FC236}">
                <a16:creationId xmlns:a16="http://schemas.microsoft.com/office/drawing/2014/main" id="{E7550920-F8B0-4256-8C5C-6E92C116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7">
            <a:extLst xmlns:a="http://schemas.openxmlformats.org/drawingml/2006/main">
              <a:ext uri="{FF2B5EF4-FFF2-40B4-BE49-F238E27FC236}">
                <a16:creationId xmlns:a16="http://schemas.microsoft.com/office/drawing/2014/main" id="{F0D2AA19-B335-4A29-93AF-7065AA0A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metrics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7" name="Google Shape;547;p17">
            <a:extLst xmlns:a="http://schemas.openxmlformats.org/drawingml/2006/main">
              <a:ext uri="{FF2B5EF4-FFF2-40B4-BE49-F238E27FC236}">
                <a16:creationId xmlns:a16="http://schemas.microsoft.com/office/drawing/2014/main" id="{C7A67477-C717-4D04-AD01-7EEBE097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590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7">
            <a:extLst xmlns:a="http://schemas.openxmlformats.org/drawingml/2006/main">
              <a:ext uri="{FF2B5EF4-FFF2-40B4-BE49-F238E27FC236}">
                <a16:creationId xmlns:a16="http://schemas.microsoft.com/office/drawing/2014/main" id="{08D954DB-277C-4486-9142-A52BF326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data checks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9" name="Google Shape;549;p17">
            <a:extLst xmlns:a="http://schemas.openxmlformats.org/drawingml/2006/main">
              <a:ext uri="{FF2B5EF4-FFF2-40B4-BE49-F238E27FC236}">
                <a16:creationId xmlns:a16="http://schemas.microsoft.com/office/drawing/2014/main" id="{1C56DCD2-A800-431C-9459-93A776F7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22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7">
            <a:extLst xmlns:a="http://schemas.openxmlformats.org/drawingml/2006/main">
              <a:ext uri="{FF2B5EF4-FFF2-40B4-BE49-F238E27FC236}">
                <a16:creationId xmlns:a16="http://schemas.microsoft.com/office/drawing/2014/main" id="{1C504937-ED1A-4EDE-82E2-1CB00A72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experiment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1" name="Google Shape;551;p17">
            <a:extLst xmlns:a="http://schemas.openxmlformats.org/drawingml/2006/main">
              <a:ext uri="{FF2B5EF4-FFF2-40B4-BE49-F238E27FC236}">
                <a16:creationId xmlns:a16="http://schemas.microsoft.com/office/drawing/2014/main" id="{E69C69F6-45F1-4B7D-8233-5E5A8FE0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54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7">
            <a:extLst xmlns:a="http://schemas.openxmlformats.org/drawingml/2006/main">
              <a:ext uri="{FF2B5EF4-FFF2-40B4-BE49-F238E27FC236}">
                <a16:creationId xmlns:a16="http://schemas.microsoft.com/office/drawing/2014/main" id="{73A8BBB5-7893-4D65-8033-A86B024F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92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tests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3" name="Google Shape;553;p17">
            <a:extLst xmlns:a="http://schemas.openxmlformats.org/drawingml/2006/main">
              <a:ext uri="{FF2B5EF4-FFF2-40B4-BE49-F238E27FC236}">
                <a16:creationId xmlns:a16="http://schemas.microsoft.com/office/drawing/2014/main" id="{277EAFC2-5485-491C-862E-15385EFB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86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7">
            <a:extLst xmlns:a="http://schemas.openxmlformats.org/drawingml/2006/main">
              <a:ext uri="{FF2B5EF4-FFF2-40B4-BE49-F238E27FC236}">
                <a16:creationId xmlns:a16="http://schemas.microsoft.com/office/drawing/2014/main" id="{2B6E1C30-960F-41BE-9846-BE5E8FF2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serving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5" name="Google Shape;555;p17">
            <a:extLst xmlns:a="http://schemas.openxmlformats.org/drawingml/2006/main">
              <a:ext uri="{FF2B5EF4-FFF2-40B4-BE49-F238E27FC236}">
                <a16:creationId xmlns:a16="http://schemas.microsoft.com/office/drawing/2014/main" id="{4F9994F8-53CE-4761-B353-6E855CE0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18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7">
            <a:extLst xmlns:a="http://schemas.openxmlformats.org/drawingml/2006/main">
              <a:ext uri="{FF2B5EF4-FFF2-40B4-BE49-F238E27FC236}">
                <a16:creationId xmlns:a16="http://schemas.microsoft.com/office/drawing/2014/main" id="{936E2240-4B6C-48F9-82CC-8CF096EB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656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monitoring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7" name="Google Shape;557;p17">
            <a:extLst xmlns:a="http://schemas.openxmlformats.org/drawingml/2006/main">
              <a:ext uri="{FF2B5EF4-FFF2-40B4-BE49-F238E27FC236}">
                <a16:creationId xmlns:a16="http://schemas.microsoft.com/office/drawing/2014/main" id="{18CFAAA0-DB96-4E98-9E27-CCA285CF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508" y="271119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7">
            <a:extLst xmlns:a="http://schemas.openxmlformats.org/drawingml/2006/main">
              <a:ext uri="{FF2B5EF4-FFF2-40B4-BE49-F238E27FC236}">
                <a16:creationId xmlns:a16="http://schemas.microsoft.com/office/drawing/2014/main" id="{1B15B985-755C-4541-9D00-47B2FE6A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3888" y="2907792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10"/>
              <a:buFont typeface="Arial"/>
              <a:buNone/>
            </a:pPr>
            <a:r>
              <a:rPr sz="7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report</a:t>
            </a:r>
            <a:endParaRPr sz="7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3" name="Google Shape;559;p17"/>
          <p:cNvCxnSpPr/>
          <p:nvPr/>
        </p:nvCxnSpPr>
        <p:spPr>
          <a:xfrm xmlns:a="http://schemas.openxmlformats.org/drawingml/2006/main">
            <a:off x="1554480" y="4178808"/>
            <a:ext cx="8778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7">
            <a:extLst xmlns:a="http://schemas.openxmlformats.org/drawingml/2006/main">
              <a:ext uri="{FF2B5EF4-FFF2-40B4-BE49-F238E27FC236}">
                <a16:creationId xmlns:a16="http://schemas.microsoft.com/office/drawing/2014/main" id="{95F542A5-A7D5-4E95-BD29-B5BFE93D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391363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10"/>
              <a:buFont typeface="Arial"/>
              <a:buNone/>
            </a:pPr>
            <a:r>
              <a:rPr sz="81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Frame the system</a:t>
            </a:r>
            <a:endParaRPr sz="8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1" name="Google Shape;561;p17">
            <a:extLst xmlns:a="http://schemas.openxmlformats.org/drawingml/2006/main">
              <a:ext uri="{FF2B5EF4-FFF2-40B4-BE49-F238E27FC236}">
                <a16:creationId xmlns:a16="http://schemas.microsoft.com/office/drawing/2014/main" id="{BE742BEC-BF5B-49CB-943B-5F3FA582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04488"/>
            <a:ext cx="708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10"/>
              <a:buFont typeface="Arial"/>
              <a:buNone/>
            </a:pPr>
            <a:r>
              <a:rPr sz="91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define the user decision, boundary, and first risks</a:t>
            </a:r>
            <a:endParaRPr sz="9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6" name="Google Shape;562;p17"/>
          <p:cNvCxnSpPr/>
          <p:nvPr/>
        </p:nvCxnSpPr>
        <p:spPr>
          <a:xfrm xmlns:a="http://schemas.openxmlformats.org/drawingml/2006/main">
            <a:off x="1554480" y="4562856"/>
            <a:ext cx="8778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3" name="Google Shape;563;p17">
            <a:extLst xmlns:a="http://schemas.openxmlformats.org/drawingml/2006/main">
              <a:ext uri="{FF2B5EF4-FFF2-40B4-BE49-F238E27FC236}">
                <a16:creationId xmlns:a16="http://schemas.microsoft.com/office/drawing/2014/main" id="{AA7DD7FB-2244-4D1C-9190-A2C7F849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297680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810"/>
              <a:buFont typeface="Arial"/>
              <a:buNone/>
            </a:pPr>
            <a:r>
              <a:rPr sz="81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Build evidence</a:t>
            </a:r>
            <a:endParaRPr sz="8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4" name="Google Shape;564;p17">
            <a:extLst xmlns:a="http://schemas.openxmlformats.org/drawingml/2006/main">
              <a:ext uri="{FF2B5EF4-FFF2-40B4-BE49-F238E27FC236}">
                <a16:creationId xmlns:a16="http://schemas.microsoft.com/office/drawing/2014/main" id="{FDB5AAFD-03AB-44E6-AC00-0E20B508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8536"/>
            <a:ext cx="708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10"/>
              <a:buFont typeface="Arial"/>
              <a:buNone/>
            </a:pPr>
            <a:r>
              <a:rPr sz="91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connect data, experiment, and test choices</a:t>
            </a:r>
            <a:endParaRPr sz="9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9" name="Google Shape;565;p17"/>
          <p:cNvCxnSpPr/>
          <p:nvPr/>
        </p:nvCxnSpPr>
        <p:spPr>
          <a:xfrm xmlns:a="http://schemas.openxmlformats.org/drawingml/2006/main">
            <a:off x="1554480" y="4946904"/>
            <a:ext cx="8778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6" name="Google Shape;566;p17">
            <a:extLst xmlns:a="http://schemas.openxmlformats.org/drawingml/2006/main">
              <a:ext uri="{FF2B5EF4-FFF2-40B4-BE49-F238E27FC236}">
                <a16:creationId xmlns:a16="http://schemas.microsoft.com/office/drawing/2014/main" id="{01354322-E5FC-4CFB-9676-AD66BFC3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681728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F56B7"/>
              </a:buClr>
              <a:buSzPts val="810"/>
              <a:buFont typeface="Arial"/>
              <a:buNone/>
            </a:pPr>
            <a:r>
              <a:rPr sz="810" b="1" i="0" u="none" cap="none">
                <a:solidFill>
                  <a:srgbClr val="6F56B7"/>
                </a:solidFill>
                <a:latin typeface="Arial"/>
                <a:ea typeface="Arial"/>
                <a:cs typeface="Arial"/>
              </a:rPr>
              <a:t>Operate and defend</a:t>
            </a:r>
            <a:endParaRPr sz="8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7" name="Google Shape;567;p17">
            <a:extLst xmlns:a="http://schemas.openxmlformats.org/drawingml/2006/main">
              <a:ext uri="{FF2B5EF4-FFF2-40B4-BE49-F238E27FC236}">
                <a16:creationId xmlns:a16="http://schemas.microsoft.com/office/drawing/2014/main" id="{5649194A-C90D-483C-A970-6B6073E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672584"/>
            <a:ext cx="708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10"/>
              <a:buFont typeface="Arial"/>
              <a:buNone/>
            </a:pPr>
            <a:r>
              <a:rPr sz="91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connect serving, monitoring, limits, and ownership</a:t>
            </a:r>
            <a:endParaRPr sz="9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8" name="Google Shape;568;p17">
            <a:extLst xmlns:a="http://schemas.openxmlformats.org/drawingml/2006/main">
              <a:ext uri="{FF2B5EF4-FFF2-40B4-BE49-F238E27FC236}">
                <a16:creationId xmlns:a16="http://schemas.microsoft.com/office/drawing/2014/main" id="{6C99D5EC-1F2D-440D-8E41-79D85BD9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650992"/>
            <a:ext cx="1001268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17">
            <a:extLst xmlns:a="http://schemas.openxmlformats.org/drawingml/2006/main">
              <a:ext uri="{FF2B5EF4-FFF2-40B4-BE49-F238E27FC236}">
                <a16:creationId xmlns:a16="http://schemas.microsoft.com/office/drawing/2014/main" id="{FB6264F3-E1DD-47E8-A47C-EB94DE39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69864"/>
            <a:ext cx="9555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220"/>
              <a:buFont typeface="Arial"/>
              <a:buNone/>
            </a:pPr>
            <a:r>
              <a:rPr sz="122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Every lab should make one system claim easier to trust.</a:t>
            </a:r>
            <a:endParaRPr sz="12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34284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5" name="Google Shape;575;p18">
            <a:extLst xmlns:a="http://schemas.openxmlformats.org/drawingml/2006/main">
              <a:ext uri="{FF2B5EF4-FFF2-40B4-BE49-F238E27FC236}">
                <a16:creationId xmlns:a16="http://schemas.microsoft.com/office/drawing/2014/main" id="{08770B7F-193B-4C1C-AB6B-5769A516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PREVIEW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6" name="Google Shape;576;p18">
            <a:extLst xmlns:a="http://schemas.openxmlformats.org/drawingml/2006/main">
              <a:ext uri="{FF2B5EF4-FFF2-40B4-BE49-F238E27FC236}">
                <a16:creationId xmlns:a16="http://schemas.microsoft.com/office/drawing/2014/main" id="{D9CEAD15-7B4C-450A-AF4F-B1F28B06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Question 1: What System Are We Building?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67" name="Google Shape;577;p18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78" name="Google Shape;578;p18">
            <a:extLst xmlns:a="http://schemas.openxmlformats.org/drawingml/2006/main">
              <a:ext uri="{FF2B5EF4-FFF2-40B4-BE49-F238E27FC236}">
                <a16:creationId xmlns:a16="http://schemas.microsoft.com/office/drawing/2014/main" id="{FB290AF5-DFA0-47E0-BD4E-7E68990D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15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9" name="Google Shape;579;p18">
            <a:extLst xmlns:a="http://schemas.openxmlformats.org/drawingml/2006/main">
              <a:ext uri="{FF2B5EF4-FFF2-40B4-BE49-F238E27FC236}">
                <a16:creationId xmlns:a16="http://schemas.microsoft.com/office/drawing/2014/main" id="{5E4882F2-D9DC-4D65-8AE3-4E1CEBDE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70" name="Google Shape;580;p18"/>
          <p:cNvCxnSpPr/>
          <p:nvPr/>
        </p:nvCxnSpPr>
        <p:spPr>
          <a:xfrm xmlns:a="http://schemas.openxmlformats.org/drawingml/2006/main">
            <a:off x="914400" y="1737360"/>
            <a:ext cx="475488" cy="0"/>
          </a:xfrm>
          <a:prstGeom xmlns:a="http://schemas.openxmlformats.org/drawingml/2006/main" prst="straightConnector1">
            <a:avLst/>
          </a:prstGeom>
          <a:ln xmlns:a="http://schemas.openxmlformats.org/drawingml/2006/main" w="20300" cap="flat">
            <a:solidFill>
              <a:srgbClr val="CC474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1" name="Google Shape;581;p18">
            <a:extLst xmlns:a="http://schemas.openxmlformats.org/drawingml/2006/main">
              <a:ext uri="{FF2B5EF4-FFF2-40B4-BE49-F238E27FC236}">
                <a16:creationId xmlns:a16="http://schemas.microsoft.com/office/drawing/2014/main" id="{D41EAC0D-AB13-4C0B-A6DA-1203E189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164592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740"/>
              <a:buFont typeface="Arial"/>
              <a:buNone/>
            </a:pPr>
            <a:r>
              <a:rPr sz="74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DEFINE THE DECISION</a:t>
            </a:r>
            <a:endParaRPr sz="7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2" name="Google Shape;582;p18">
            <a:extLst xmlns:a="http://schemas.openxmlformats.org/drawingml/2006/main">
              <a:ext uri="{FF2B5EF4-FFF2-40B4-BE49-F238E27FC236}">
                <a16:creationId xmlns:a16="http://schemas.microsoft.com/office/drawing/2014/main" id="{B41A6DB7-C787-4855-9C9C-D45D4BEE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39696"/>
            <a:ext cx="4709160" cy="102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Who acts on what output?</a:t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3" name="Google Shape;583;p18">
            <a:extLst xmlns:a="http://schemas.openxmlformats.org/drawingml/2006/main">
              <a:ext uri="{FF2B5EF4-FFF2-40B4-BE49-F238E27FC236}">
                <a16:creationId xmlns:a16="http://schemas.microsoft.com/office/drawing/2014/main" id="{5DA6C48A-A6A1-4DFA-9C4B-6A05B274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310128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910"/>
              <a:buFont typeface="Arial"/>
              <a:buNone/>
            </a:pPr>
            <a:r>
              <a:rPr sz="9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Before tools, make the boundary explicit.</a:t>
            </a:r>
            <a:endParaRPr sz="9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74" name="Google Shape;584;p18"/>
          <p:cNvCxnSpPr/>
          <p:nvPr/>
        </p:nvCxnSpPr>
        <p:spPr>
          <a:xfrm xmlns:a="http://schemas.openxmlformats.org/drawingml/2006/main">
            <a:off x="6126480" y="1755648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CC474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5" name="Google Shape;585;p18">
            <a:extLst xmlns:a="http://schemas.openxmlformats.org/drawingml/2006/main">
              <a:ext uri="{FF2B5EF4-FFF2-40B4-BE49-F238E27FC236}">
                <a16:creationId xmlns:a16="http://schemas.microsoft.com/office/drawing/2014/main" id="{F773B81D-C6B6-4901-8681-992B2C2C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01952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User and decision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6" name="Google Shape;586;p18">
            <a:extLst xmlns:a="http://schemas.openxmlformats.org/drawingml/2006/main">
              <a:ext uri="{FF2B5EF4-FFF2-40B4-BE49-F238E27FC236}">
                <a16:creationId xmlns:a16="http://schemas.microsoft.com/office/drawing/2014/main" id="{A4FB37B5-1D8D-49EF-B615-E54CBE74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1901952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who receives the alert, and what do they do?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77" name="Google Shape;587;p18"/>
          <p:cNvCxnSpPr/>
          <p:nvPr/>
        </p:nvCxnSpPr>
        <p:spPr>
          <a:xfrm xmlns:a="http://schemas.openxmlformats.org/drawingml/2006/main">
            <a:off x="6126480" y="2395728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8" name="Google Shape;588;p18">
            <a:extLst xmlns:a="http://schemas.openxmlformats.org/drawingml/2006/main">
              <a:ext uri="{FF2B5EF4-FFF2-40B4-BE49-F238E27FC236}">
                <a16:creationId xmlns:a16="http://schemas.microsoft.com/office/drawing/2014/main" id="{7A45B68E-A0FE-4BDF-BDED-23FFF5C7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468880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Acceptable behavior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9" name="Google Shape;589;p18">
            <a:extLst xmlns:a="http://schemas.openxmlformats.org/drawingml/2006/main">
              <a:ext uri="{FF2B5EF4-FFF2-40B4-BE49-F238E27FC236}">
                <a16:creationId xmlns:a16="http://schemas.microsoft.com/office/drawing/2014/main" id="{E9D2680B-44C5-4881-A48D-B316B246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2468880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what counts as useful, late, or wrong?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0" name="Google Shape;590;p18"/>
          <p:cNvCxnSpPr/>
          <p:nvPr/>
        </p:nvCxnSpPr>
        <p:spPr>
          <a:xfrm xmlns:a="http://schemas.openxmlformats.org/drawingml/2006/main">
            <a:off x="6126480" y="2962656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1" name="Google Shape;591;p18">
            <a:extLst xmlns:a="http://schemas.openxmlformats.org/drawingml/2006/main">
              <a:ext uri="{FF2B5EF4-FFF2-40B4-BE49-F238E27FC236}">
                <a16:creationId xmlns:a16="http://schemas.microsoft.com/office/drawing/2014/main" id="{8866DC4D-3B76-4D7D-AE99-8CF3502C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35808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E69C31"/>
                </a:solidFill>
                <a:latin typeface="Arial"/>
                <a:ea typeface="Arial"/>
                <a:cs typeface="Arial"/>
              </a:rPr>
              <a:t>Runtime path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2" name="Google Shape;592;p18">
            <a:extLst xmlns:a="http://schemas.openxmlformats.org/drawingml/2006/main">
              <a:ext uri="{FF2B5EF4-FFF2-40B4-BE49-F238E27FC236}">
                <a16:creationId xmlns:a16="http://schemas.microsoft.com/office/drawing/2014/main" id="{2E8FDB92-BB56-4549-82FE-DB1C54D5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3035808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where does inference run, and what surrounds it?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3" name="Google Shape;593;p18"/>
          <p:cNvCxnSpPr/>
          <p:nvPr/>
        </p:nvCxnSpPr>
        <p:spPr>
          <a:xfrm xmlns:a="http://schemas.openxmlformats.org/drawingml/2006/main">
            <a:off x="6126480" y="3529584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4" name="Google Shape;594;p18">
            <a:extLst xmlns:a="http://schemas.openxmlformats.org/drawingml/2006/main">
              <a:ext uri="{FF2B5EF4-FFF2-40B4-BE49-F238E27FC236}">
                <a16:creationId xmlns:a16="http://schemas.microsoft.com/office/drawing/2014/main" id="{3C2CA372-E04E-4509-9080-22387A60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02736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Fallback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5" name="Google Shape;595;p18">
            <a:extLst xmlns:a="http://schemas.openxmlformats.org/drawingml/2006/main">
              <a:ext uri="{FF2B5EF4-FFF2-40B4-BE49-F238E27FC236}">
                <a16:creationId xmlns:a16="http://schemas.microsoft.com/office/drawing/2014/main" id="{A58174A2-4678-45CE-AE2D-F365DFFD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3602736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what happens when evidence is weak?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6" name="Google Shape;596;p18"/>
          <p:cNvCxnSpPr/>
          <p:nvPr/>
        </p:nvCxnSpPr>
        <p:spPr>
          <a:xfrm xmlns:a="http://schemas.openxmlformats.org/drawingml/2006/main">
            <a:off x="6126480" y="4096512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7" name="Google Shape;597;p18">
            <a:extLst xmlns:a="http://schemas.openxmlformats.org/drawingml/2006/main">
              <a:ext uri="{FF2B5EF4-FFF2-40B4-BE49-F238E27FC236}">
                <a16:creationId xmlns:a16="http://schemas.microsoft.com/office/drawing/2014/main" id="{2149C5C2-40B1-4938-8FA0-C61FB448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559552"/>
            <a:ext cx="845820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 cmpd="sng">
            <a:solidFill>
              <a:srgbClr val="1E4F91">
                <a:alpha val="7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8">
            <a:extLst xmlns:a="http://schemas.openxmlformats.org/drawingml/2006/main">
              <a:ext uri="{FF2B5EF4-FFF2-40B4-BE49-F238E27FC236}">
                <a16:creationId xmlns:a16="http://schemas.microsoft.com/office/drawing/2014/main" id="{7BFB56DB-DAC9-4A1C-A98E-3B216AE7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715000"/>
            <a:ext cx="79095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40"/>
              <a:buFont typeface="Arial"/>
              <a:buNone/>
            </a:pPr>
            <a:r>
              <a:rPr sz="114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Today we frame the questions; Lectures 3–4 will answer them.</a:t>
            </a:r>
            <a:endParaRPr sz="11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98314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6" name="Google Shape;696;p22">
            <a:extLst xmlns:a="http://schemas.openxmlformats.org/drawingml/2006/main">
              <a:ext uri="{FF2B5EF4-FFF2-40B4-BE49-F238E27FC236}">
                <a16:creationId xmlns:a16="http://schemas.microsoft.com/office/drawing/2014/main" id="{06EBFB23-4E4A-4653-B4F1-3713ACD5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PREVIEW</a:t>
            </a:r>
            <a:endParaRPr sz="83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7" name="Google Shape;697;p22">
            <a:extLst xmlns:a="http://schemas.openxmlformats.org/drawingml/2006/main">
              <a:ext uri="{FF2B5EF4-FFF2-40B4-BE49-F238E27FC236}">
                <a16:creationId xmlns:a16="http://schemas.microsoft.com/office/drawing/2014/main" id="{E78FE6FF-7FF1-427E-9806-6AA6C009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 i="0" u="none" cap="none">
                <a:solidFill>
                  <a:srgbClr val="172533"/>
                </a:solidFill>
                <a:latin typeface="Play"/>
                <a:ea typeface="Play"/>
                <a:cs typeface="Play"/>
              </a:rPr>
              <a:t>Question 2: What Evidence Can We Trust?</a:t>
            </a:r>
            <a:endParaRPr sz="2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88" name="Google Shape;698;p22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9" name="Google Shape;699;p22">
            <a:extLst xmlns:a="http://schemas.openxmlformats.org/drawingml/2006/main">
              <a:ext uri="{FF2B5EF4-FFF2-40B4-BE49-F238E27FC236}">
                <a16:creationId xmlns:a16="http://schemas.microsoft.com/office/drawing/2014/main" id="{A24EF9FA-D7BD-4271-8D28-4D55DBDD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16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0" name="Google Shape;700;p22">
            <a:extLst xmlns:a="http://schemas.openxmlformats.org/drawingml/2006/main">
              <a:ext uri="{FF2B5EF4-FFF2-40B4-BE49-F238E27FC236}">
                <a16:creationId xmlns:a16="http://schemas.microsoft.com/office/drawing/2014/main" id="{4F345EAE-8944-4468-8DC8-8045B6BB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91" name="Google Shape;701;p22"/>
          <p:cNvCxnSpPr/>
          <p:nvPr/>
        </p:nvCxnSpPr>
        <p:spPr>
          <a:xfrm xmlns:a="http://schemas.openxmlformats.org/drawingml/2006/main">
            <a:off x="914400" y="1737360"/>
            <a:ext cx="475488" cy="0"/>
          </a:xfrm>
          <a:prstGeom xmlns:a="http://schemas.openxmlformats.org/drawingml/2006/main" prst="straightConnector1">
            <a:avLst/>
          </a:prstGeom>
          <a:ln xmlns:a="http://schemas.openxmlformats.org/drawingml/2006/main" w="20300" cap="flat">
            <a:solidFill>
              <a:srgbClr val="CC474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2" name="Google Shape;702;p22">
            <a:extLst xmlns:a="http://schemas.openxmlformats.org/drawingml/2006/main">
              <a:ext uri="{FF2B5EF4-FFF2-40B4-BE49-F238E27FC236}">
                <a16:creationId xmlns:a16="http://schemas.microsoft.com/office/drawing/2014/main" id="{A3681906-4561-42D0-960B-E0B79053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904" y="164592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740"/>
              <a:buFont typeface="Arial"/>
              <a:buNone/>
            </a:pPr>
            <a:r>
              <a:rPr sz="74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MAKE CLAIMS CHECKABLE</a:t>
            </a:r>
            <a:endParaRPr sz="74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3" name="Google Shape;703;p22">
            <a:extLst xmlns:a="http://schemas.openxmlformats.org/drawingml/2006/main">
              <a:ext uri="{FF2B5EF4-FFF2-40B4-BE49-F238E27FC236}">
                <a16:creationId xmlns:a16="http://schemas.microsoft.com/office/drawing/2014/main" id="{CB3F93B5-ADB8-4030-BB03-FA664EE5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39696"/>
            <a:ext cx="4709160" cy="102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Data, experiments, and tests must leave evidence.</a:t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4" name="Google Shape;704;p22">
            <a:extLst xmlns:a="http://schemas.openxmlformats.org/drawingml/2006/main">
              <a:ext uri="{FF2B5EF4-FFF2-40B4-BE49-F238E27FC236}">
                <a16:creationId xmlns:a16="http://schemas.microsoft.com/office/drawing/2014/main" id="{24623AFC-FE41-4986-837C-F485E43F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310128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910"/>
              <a:buFont typeface="Arial"/>
              <a:buNone/>
            </a:pPr>
            <a:r>
              <a:rPr sz="91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Trust comes from linked checks—not one score.</a:t>
            </a:r>
            <a:endParaRPr sz="91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95" name="Google Shape;705;p22"/>
          <p:cNvCxnSpPr/>
          <p:nvPr/>
        </p:nvCxnSpPr>
        <p:spPr>
          <a:xfrm xmlns:a="http://schemas.openxmlformats.org/drawingml/2006/main">
            <a:off x="6126480" y="1755648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CC474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6" name="Google Shape;706;p22">
            <a:extLst xmlns:a="http://schemas.openxmlformats.org/drawingml/2006/main">
              <a:ext uri="{FF2B5EF4-FFF2-40B4-BE49-F238E27FC236}">
                <a16:creationId xmlns:a16="http://schemas.microsoft.com/office/drawing/2014/main" id="{81048284-5A93-4159-9DD1-96574D5F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01952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279771"/>
                </a:solidFill>
                <a:latin typeface="Arial"/>
                <a:ea typeface="Arial"/>
                <a:cs typeface="Arial"/>
              </a:rPr>
              <a:t>Data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7" name="Google Shape;707;p22">
            <a:extLst xmlns:a="http://schemas.openxmlformats.org/drawingml/2006/main">
              <a:ext uri="{FF2B5EF4-FFF2-40B4-BE49-F238E27FC236}">
                <a16:creationId xmlns:a16="http://schemas.microsoft.com/office/drawing/2014/main" id="{77BEB57C-0EB2-454E-90DA-652FEC96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1901952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are inputs valid for the decision?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98" name="Google Shape;708;p22"/>
          <p:cNvCxnSpPr/>
          <p:nvPr/>
        </p:nvCxnSpPr>
        <p:spPr>
          <a:xfrm xmlns:a="http://schemas.openxmlformats.org/drawingml/2006/main">
            <a:off x="6126480" y="2395728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2">
            <a:extLst xmlns:a="http://schemas.openxmlformats.org/drawingml/2006/main">
              <a:ext uri="{FF2B5EF4-FFF2-40B4-BE49-F238E27FC236}">
                <a16:creationId xmlns:a16="http://schemas.microsoft.com/office/drawing/2014/main" id="{8061166E-85C8-49B7-8FB6-E70DD221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468880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2A6FC5"/>
                </a:solidFill>
                <a:latin typeface="Arial"/>
                <a:ea typeface="Arial"/>
                <a:cs typeface="Arial"/>
              </a:rPr>
              <a:t>Experiment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0" name="Google Shape;710;p22">
            <a:extLst xmlns:a="http://schemas.openxmlformats.org/drawingml/2006/main">
              <a:ext uri="{FF2B5EF4-FFF2-40B4-BE49-F238E27FC236}">
                <a16:creationId xmlns:a16="http://schemas.microsoft.com/office/drawing/2014/main" id="{4174A914-E811-428E-B5C4-3402BB89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2468880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why this model and this result?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01" name="Google Shape;711;p22"/>
          <p:cNvCxnSpPr/>
          <p:nvPr/>
        </p:nvCxnSpPr>
        <p:spPr>
          <a:xfrm xmlns:a="http://schemas.openxmlformats.org/drawingml/2006/main">
            <a:off x="6126480" y="2962656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2" name="Google Shape;712;p22">
            <a:extLst xmlns:a="http://schemas.openxmlformats.org/drawingml/2006/main">
              <a:ext uri="{FF2B5EF4-FFF2-40B4-BE49-F238E27FC236}">
                <a16:creationId xmlns:a16="http://schemas.microsoft.com/office/drawing/2014/main" id="{23BD3CF5-4221-4E4A-97F6-10B47605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35808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Tests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3" name="Google Shape;713;p22">
            <a:extLst xmlns:a="http://schemas.openxmlformats.org/drawingml/2006/main">
              <a:ext uri="{FF2B5EF4-FFF2-40B4-BE49-F238E27FC236}">
                <a16:creationId xmlns:a16="http://schemas.microsoft.com/office/drawing/2014/main" id="{DE0EA11D-9355-4608-9892-400627FF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3035808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what must pass before release?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04" name="Google Shape;714;p22"/>
          <p:cNvCxnSpPr/>
          <p:nvPr/>
        </p:nvCxnSpPr>
        <p:spPr>
          <a:xfrm xmlns:a="http://schemas.openxmlformats.org/drawingml/2006/main">
            <a:off x="6126480" y="3529584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5" name="Google Shape;715;p22">
            <a:extLst xmlns:a="http://schemas.openxmlformats.org/drawingml/2006/main">
              <a:ext uri="{FF2B5EF4-FFF2-40B4-BE49-F238E27FC236}">
                <a16:creationId xmlns:a16="http://schemas.microsoft.com/office/drawing/2014/main" id="{1449111D-E6A9-4A32-A9B1-0678F7F5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02736"/>
            <a:ext cx="1669694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880"/>
              <a:buFont typeface="Arial"/>
              <a:buNone/>
            </a:pPr>
            <a:r>
              <a:rPr sz="880" b="1" i="0" u="none" cap="none">
                <a:solidFill>
                  <a:srgbClr val="CC4747"/>
                </a:solidFill>
                <a:latin typeface="Arial"/>
                <a:ea typeface="Arial"/>
                <a:cs typeface="Arial"/>
              </a:rPr>
              <a:t>Version trail</a:t>
            </a:r>
            <a:endParaRPr sz="88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6" name="Google Shape;716;p22">
            <a:extLst xmlns:a="http://schemas.openxmlformats.org/drawingml/2006/main">
              <a:ext uri="{FF2B5EF4-FFF2-40B4-BE49-F238E27FC236}">
                <a16:creationId xmlns:a16="http://schemas.microsoft.com/office/drawing/2014/main" id="{13169B33-3AC1-4BFE-9059-43C859A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774" y="3602736"/>
            <a:ext cx="299374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900"/>
              <a:buFont typeface="Arial"/>
              <a:buNone/>
            </a:pPr>
            <a:r>
              <a:rPr sz="900" b="0" i="0" u="none" cap="none">
                <a:solidFill>
                  <a:srgbClr val="172533"/>
                </a:solidFill>
                <a:latin typeface="Arial"/>
                <a:ea typeface="Arial"/>
                <a:cs typeface="Arial"/>
              </a:rPr>
              <a:t>which data, code, model, and policy?</a:t>
            </a:r>
            <a:endParaRPr sz="9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07" name="Google Shape;717;p22"/>
          <p:cNvCxnSpPr/>
          <p:nvPr/>
        </p:nvCxnSpPr>
        <p:spPr>
          <a:xfrm xmlns:a="http://schemas.openxmlformats.org/drawingml/2006/main">
            <a:off x="6126480" y="4096512"/>
            <a:ext cx="48920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8" name="Google Shape;718;p22">
            <a:extLst xmlns:a="http://schemas.openxmlformats.org/drawingml/2006/main">
              <a:ext uri="{FF2B5EF4-FFF2-40B4-BE49-F238E27FC236}">
                <a16:creationId xmlns:a16="http://schemas.microsoft.com/office/drawing/2014/main" id="{700F1E33-7E66-42DF-867B-FCC17B88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559552"/>
            <a:ext cx="845820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 cmpd="sng">
            <a:solidFill>
              <a:srgbClr val="1E4F91">
                <a:alpha val="7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9" name="Google Shape;719;p22">
            <a:extLst xmlns:a="http://schemas.openxmlformats.org/drawingml/2006/main">
              <a:ext uri="{FF2B5EF4-FFF2-40B4-BE49-F238E27FC236}">
                <a16:creationId xmlns:a16="http://schemas.microsoft.com/office/drawing/2014/main" id="{587937F1-8CE3-4865-8AD4-20483089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715000"/>
            <a:ext cx="79095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40"/>
              <a:buFont typeface="Arial"/>
              <a:buNone/>
            </a:pPr>
            <a:r>
              <a:rPr sz="114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Today we see the chain; Lectures 5–7 will build it.</a:t>
            </a:r>
            <a:endParaRPr sz="114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26565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3" name="Google Shape;763;p24">
            <a:extLst xmlns:a="http://schemas.openxmlformats.org/drawingml/2006/main">
              <a:ext uri="{FF2B5EF4-FFF2-40B4-BE49-F238E27FC236}">
                <a16:creationId xmlns:a16="http://schemas.microsoft.com/office/drawing/2014/main" id="{37008864-8E00-4354-BBF7-7E4A4C1B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PREVIEW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4" name="Google Shape;764;p24">
            <a:extLst xmlns:a="http://schemas.openxmlformats.org/drawingml/2006/main">
              <a:ext uri="{FF2B5EF4-FFF2-40B4-BE49-F238E27FC236}">
                <a16:creationId xmlns:a16="http://schemas.microsoft.com/office/drawing/2014/main" id="{20AF6CE3-95AE-454D-93C9-BD6AB871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Question 3: How Will We Respond?</a:t>
            </a:r>
            <a:endParaRPr sz="245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78" name="Google Shape;765;p24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6" name="Google Shape;766;p24">
            <a:extLst xmlns:a="http://schemas.openxmlformats.org/drawingml/2006/main">
              <a:ext uri="{FF2B5EF4-FFF2-40B4-BE49-F238E27FC236}">
                <a16:creationId xmlns:a16="http://schemas.microsoft.com/office/drawing/2014/main" id="{4252FDA9-961A-4005-B810-AACD0CB9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17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7" name="Google Shape;767;p24">
            <a:extLst xmlns:a="http://schemas.openxmlformats.org/drawingml/2006/main">
              <a:ext uri="{FF2B5EF4-FFF2-40B4-BE49-F238E27FC236}">
                <a16:creationId xmlns:a16="http://schemas.microsoft.com/office/drawing/2014/main" id="{761D9541-4D84-4138-8C98-49934D94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Google Shape;768;p24">
            <a:extLst xmlns:a="http://schemas.openxmlformats.org/drawingml/2006/main">
              <a:ext uri="{FF2B5EF4-FFF2-40B4-BE49-F238E27FC236}">
                <a16:creationId xmlns:a16="http://schemas.microsoft.com/office/drawing/2014/main" id="{51419631-A71D-4E61-963E-F43BE7E6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27632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400"/>
              <a:buFont typeface="Arial"/>
              <a:buNone/>
            </a:pPr>
            <a:r>
              <a:rPr sz="1400" b="1">
                <a:solidFill>
                  <a:srgbClr val="172533"/>
                </a:solidFill>
                <a:latin typeface="Arial"/>
                <a:ea typeface="Arial"/>
                <a:cs typeface="Arial"/>
              </a:rPr>
              <a:t>Operating the system means comparing signals with a baseline and assigning an action.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82" name="Google Shape;769;p24"/>
          <p:cNvCxnSpPr/>
          <p:nvPr/>
        </p:nvCxnSpPr>
        <p:spPr>
          <a:xfrm xmlns:a="http://schemas.openxmlformats.org/drawingml/2006/main">
            <a:off x="1051560" y="2176272"/>
            <a:ext cx="1010412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E69C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0" name="Google Shape;770;p24">
            <a:extLst xmlns:a="http://schemas.openxmlformats.org/drawingml/2006/main">
              <a:ext uri="{FF2B5EF4-FFF2-40B4-BE49-F238E27FC236}">
                <a16:creationId xmlns:a16="http://schemas.microsoft.com/office/drawing/2014/main" id="{1A5974C9-5A92-4F32-9B3D-7C8F7EE7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22576"/>
            <a:ext cx="2553919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60"/>
              <a:buFont typeface="Arial"/>
              <a:buNone/>
            </a:pPr>
            <a:r>
              <a:rPr sz="760" b="1">
                <a:solidFill>
                  <a:srgbClr val="E69C31"/>
                </a:solidFill>
                <a:latin typeface="Arial"/>
                <a:ea typeface="Arial"/>
                <a:cs typeface="Arial"/>
              </a:rPr>
              <a:t>Area</a:t>
            </a:r>
            <a:endParaRPr sz="7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1" name="Google Shape;771;p24">
            <a:extLst xmlns:a="http://schemas.openxmlformats.org/drawingml/2006/main">
              <a:ext uri="{FF2B5EF4-FFF2-40B4-BE49-F238E27FC236}">
                <a16:creationId xmlns:a16="http://schemas.microsoft.com/office/drawing/2014/main" id="{0BB27225-1CC3-4080-96B3-E2192CB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631" y="2322576"/>
            <a:ext cx="3766414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60"/>
              <a:buFont typeface="Arial"/>
              <a:buNone/>
            </a:pPr>
            <a:r>
              <a:rPr sz="760" b="1">
                <a:solidFill>
                  <a:srgbClr val="E69C31"/>
                </a:solidFill>
                <a:latin typeface="Arial"/>
                <a:ea typeface="Arial"/>
                <a:cs typeface="Arial"/>
              </a:rPr>
              <a:t>Evidence</a:t>
            </a:r>
            <a:endParaRPr sz="7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2" name="Google Shape;772;p24">
            <a:extLst xmlns:a="http://schemas.openxmlformats.org/drawingml/2006/main">
              <a:ext uri="{FF2B5EF4-FFF2-40B4-BE49-F238E27FC236}">
                <a16:creationId xmlns:a16="http://schemas.microsoft.com/office/drawing/2014/main" id="{7038B861-0FF0-4CC6-8BEB-9CA260F0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197" y="2322576"/>
            <a:ext cx="3637483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760"/>
              <a:buFont typeface="Arial"/>
              <a:buNone/>
            </a:pPr>
            <a:r>
              <a:rPr sz="760" b="1">
                <a:solidFill>
                  <a:srgbClr val="E69C31"/>
                </a:solidFill>
                <a:latin typeface="Arial"/>
                <a:ea typeface="Arial"/>
                <a:cs typeface="Arial"/>
              </a:rPr>
              <a:t>Decision</a:t>
            </a:r>
            <a:endParaRPr sz="7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86" name="Google Shape;773;p24"/>
          <p:cNvCxnSpPr/>
          <p:nvPr/>
        </p:nvCxnSpPr>
        <p:spPr>
          <a:xfrm xmlns:a="http://schemas.openxmlformats.org/drawingml/2006/main">
            <a:off x="1051560" y="2596896"/>
            <a:ext cx="101041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4" name="Google Shape;774;p24">
            <a:extLst xmlns:a="http://schemas.openxmlformats.org/drawingml/2006/main">
              <a:ext uri="{FF2B5EF4-FFF2-40B4-BE49-F238E27FC236}">
                <a16:creationId xmlns:a16="http://schemas.microsoft.com/office/drawing/2014/main" id="{E3973DE7-0226-4979-939A-DEB301D3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679192"/>
            <a:ext cx="2553919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60"/>
              <a:buFont typeface="Arial"/>
              <a:buNone/>
            </a:pPr>
            <a:r>
              <a:rPr sz="860" b="1">
                <a:solidFill>
                  <a:srgbClr val="2A6FC5"/>
                </a:solidFill>
                <a:latin typeface="Arial"/>
                <a:ea typeface="Arial"/>
                <a:cs typeface="Arial"/>
              </a:rPr>
              <a:t>Service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5" name="Google Shape;775;p24">
            <a:extLst xmlns:a="http://schemas.openxmlformats.org/drawingml/2006/main">
              <a:ext uri="{FF2B5EF4-FFF2-40B4-BE49-F238E27FC236}">
                <a16:creationId xmlns:a16="http://schemas.microsoft.com/office/drawing/2014/main" id="{3A5D8A80-197E-4E4C-A23E-80A890C6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631" y="2679192"/>
            <a:ext cx="376641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latency, errors, availability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6" name="Google Shape;776;p24">
            <a:extLst xmlns:a="http://schemas.openxmlformats.org/drawingml/2006/main">
              <a:ext uri="{FF2B5EF4-FFF2-40B4-BE49-F238E27FC236}">
                <a16:creationId xmlns:a16="http://schemas.microsoft.com/office/drawing/2014/main" id="{1831904A-B003-4022-85B7-5D19D9C9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197" y="2679192"/>
            <a:ext cx="3637483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fallback, restore, or investigate?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0" name="Google Shape;777;p24"/>
          <p:cNvCxnSpPr/>
          <p:nvPr/>
        </p:nvCxnSpPr>
        <p:spPr>
          <a:xfrm xmlns:a="http://schemas.openxmlformats.org/drawingml/2006/main">
            <a:off x="1051560" y="3136392"/>
            <a:ext cx="101041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8" name="Google Shape;778;p24">
            <a:extLst xmlns:a="http://schemas.openxmlformats.org/drawingml/2006/main">
              <a:ext uri="{FF2B5EF4-FFF2-40B4-BE49-F238E27FC236}">
                <a16:creationId xmlns:a16="http://schemas.microsoft.com/office/drawing/2014/main" id="{28DBA324-DA5E-4E62-A1B9-2BACCE01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09544"/>
            <a:ext cx="2553919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860"/>
              <a:buFont typeface="Arial"/>
              <a:buNone/>
            </a:pPr>
            <a:r>
              <a:rPr sz="860" b="1">
                <a:solidFill>
                  <a:srgbClr val="279771"/>
                </a:solidFill>
                <a:latin typeface="Arial"/>
                <a:ea typeface="Arial"/>
                <a:cs typeface="Arial"/>
              </a:rPr>
              <a:t>Inputs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9" name="Google Shape;779;p24">
            <a:extLst xmlns:a="http://schemas.openxmlformats.org/drawingml/2006/main">
              <a:ext uri="{FF2B5EF4-FFF2-40B4-BE49-F238E27FC236}">
                <a16:creationId xmlns:a16="http://schemas.microsoft.com/office/drawing/2014/main" id="{C2B5E1DE-4F68-4765-93F0-614DF5DC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631" y="3209544"/>
            <a:ext cx="376641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frame validity and profile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0" name="Google Shape;780;p24">
            <a:extLst xmlns:a="http://schemas.openxmlformats.org/drawingml/2006/main">
              <a:ext uri="{FF2B5EF4-FFF2-40B4-BE49-F238E27FC236}">
                <a16:creationId xmlns:a16="http://schemas.microsoft.com/office/drawing/2014/main" id="{DD448595-89A0-49F6-8A03-03CACF57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197" y="3209544"/>
            <a:ext cx="3637483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accept, reject, or inspect?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4" name="Google Shape;781;p24"/>
          <p:cNvCxnSpPr/>
          <p:nvPr/>
        </p:nvCxnSpPr>
        <p:spPr>
          <a:xfrm xmlns:a="http://schemas.openxmlformats.org/drawingml/2006/main">
            <a:off x="1051560" y="3666744"/>
            <a:ext cx="101041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2" name="Google Shape;782;p24">
            <a:extLst xmlns:a="http://schemas.openxmlformats.org/drawingml/2006/main">
              <a:ext uri="{FF2B5EF4-FFF2-40B4-BE49-F238E27FC236}">
                <a16:creationId xmlns:a16="http://schemas.microsoft.com/office/drawing/2014/main" id="{6AF03B49-3BA8-41CA-BBE9-F32CFA23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39896"/>
            <a:ext cx="2553919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860"/>
              <a:buFont typeface="Arial"/>
              <a:buNone/>
            </a:pPr>
            <a:r>
              <a:rPr sz="860" b="1">
                <a:solidFill>
                  <a:srgbClr val="E69C31"/>
                </a:solidFill>
                <a:latin typeface="Arial"/>
                <a:ea typeface="Arial"/>
                <a:cs typeface="Arial"/>
              </a:rPr>
              <a:t>Decisions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3" name="Google Shape;783;p24">
            <a:extLst xmlns:a="http://schemas.openxmlformats.org/drawingml/2006/main">
              <a:ext uri="{FF2B5EF4-FFF2-40B4-BE49-F238E27FC236}">
                <a16:creationId xmlns:a16="http://schemas.microsoft.com/office/drawing/2014/main" id="{DBDDC505-D48B-4AAC-A860-847AC843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631" y="3739896"/>
            <a:ext cx="376641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alerts and later outcomes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4" name="Google Shape;784;p24">
            <a:extLst xmlns:a="http://schemas.openxmlformats.org/drawingml/2006/main">
              <a:ext uri="{FF2B5EF4-FFF2-40B4-BE49-F238E27FC236}">
                <a16:creationId xmlns:a16="http://schemas.microsoft.com/office/drawing/2014/main" id="{28260843-FDB7-4A4C-B2A1-4EF1A529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197" y="3739896"/>
            <a:ext cx="3637483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continue, retrain, or pause?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8" name="Google Shape;785;p24"/>
          <p:cNvCxnSpPr/>
          <p:nvPr/>
        </p:nvCxnSpPr>
        <p:spPr>
          <a:xfrm xmlns:a="http://schemas.openxmlformats.org/drawingml/2006/main">
            <a:off x="1051560" y="4197096"/>
            <a:ext cx="101041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6" name="Google Shape;786;p24">
            <a:extLst xmlns:a="http://schemas.openxmlformats.org/drawingml/2006/main">
              <a:ext uri="{FF2B5EF4-FFF2-40B4-BE49-F238E27FC236}">
                <a16:creationId xmlns:a16="http://schemas.microsoft.com/office/drawing/2014/main" id="{E12D37FB-357E-4886-8A23-1D0E40C9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70248"/>
            <a:ext cx="2553919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F56B7"/>
              </a:buClr>
              <a:buSzPts val="860"/>
              <a:buFont typeface="Arial"/>
              <a:buNone/>
            </a:pPr>
            <a:r>
              <a:rPr sz="860" b="1">
                <a:solidFill>
                  <a:srgbClr val="6F56B7"/>
                </a:solidFill>
                <a:latin typeface="Arial"/>
                <a:ea typeface="Arial"/>
                <a:cs typeface="Arial"/>
              </a:rPr>
              <a:t>Ownership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7" name="Google Shape;787;p24">
            <a:extLst xmlns:a="http://schemas.openxmlformats.org/drawingml/2006/main">
              <a:ext uri="{FF2B5EF4-FFF2-40B4-BE49-F238E27FC236}">
                <a16:creationId xmlns:a16="http://schemas.microsoft.com/office/drawing/2014/main" id="{EF7253F3-BB26-4CAE-8EC0-A5150D11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631" y="4270248"/>
            <a:ext cx="376641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gate and incident evidence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8" name="Google Shape;788;p24">
            <a:extLst xmlns:a="http://schemas.openxmlformats.org/drawingml/2006/main">
              <a:ext uri="{FF2B5EF4-FFF2-40B4-BE49-F238E27FC236}">
                <a16:creationId xmlns:a16="http://schemas.microsoft.com/office/drawing/2014/main" id="{C3899499-B459-45FF-8F28-FE6D5D60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197" y="4270248"/>
            <a:ext cx="3637483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860"/>
              <a:buFont typeface="Arial"/>
              <a:buNone/>
            </a:pPr>
            <a:r>
              <a:rPr sz="860">
                <a:solidFill>
                  <a:srgbClr val="172533"/>
                </a:solidFill>
                <a:latin typeface="Arial"/>
                <a:ea typeface="Arial"/>
                <a:cs typeface="Arial"/>
              </a:rPr>
              <a:t>ship, revert, or escalate?</a:t>
            </a:r>
            <a:endParaRPr sz="86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02" name="Google Shape;789;p24"/>
          <p:cNvCxnSpPr/>
          <p:nvPr/>
        </p:nvCxnSpPr>
        <p:spPr>
          <a:xfrm xmlns:a="http://schemas.openxmlformats.org/drawingml/2006/main">
            <a:off x="1051560" y="4727448"/>
            <a:ext cx="101041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03" name="Google Shape;790;p24"/>
          <p:cNvCxnSpPr/>
          <p:nvPr/>
        </p:nvCxnSpPr>
        <p:spPr>
          <a:xfrm xmlns:a="http://schemas.openxmlformats.org/drawingml/2006/main">
            <a:off x="1078992" y="5815584"/>
            <a:ext cx="950976" cy="0"/>
          </a:xfrm>
          <a:prstGeom xmlns:a="http://schemas.openxmlformats.org/drawingml/2006/main" prst="straightConnector1">
            <a:avLst/>
          </a:prstGeom>
          <a:ln xmlns:a="http://schemas.openxmlformats.org/drawingml/2006/main" w="2285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91" name="Google Shape;791;p24">
            <a:extLst xmlns:a="http://schemas.openxmlformats.org/drawingml/2006/main">
              <a:ext uri="{FF2B5EF4-FFF2-40B4-BE49-F238E27FC236}">
                <a16:creationId xmlns:a16="http://schemas.microsoft.com/office/drawing/2014/main" id="{11D47ADF-9125-4DD9-82BD-C954FADD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272" y="5715000"/>
            <a:ext cx="80467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070"/>
              <a:buFont typeface="Arial"/>
              <a:buNone/>
            </a:pPr>
            <a:r>
              <a:rPr sz="107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Today we name the loop; Lectures 8–9 will implement it.</a:t>
            </a:r>
            <a:endParaRPr sz="107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24079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1" name="Google Shape;831;p26">
            <a:extLst xmlns:a="http://schemas.openxmlformats.org/drawingml/2006/main">
              <a:ext uri="{FF2B5EF4-FFF2-40B4-BE49-F238E27FC236}">
                <a16:creationId xmlns:a16="http://schemas.microsoft.com/office/drawing/2014/main" id="{B46E7FEC-8ABB-48F3-A60C-89881F8D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SEMESTER MAP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2" name="Google Shape;832;p26">
            <a:extLst xmlns:a="http://schemas.openxmlformats.org/drawingml/2006/main">
              <a:ext uri="{FF2B5EF4-FFF2-40B4-BE49-F238E27FC236}">
                <a16:creationId xmlns:a16="http://schemas.microsoft.com/office/drawing/2014/main" id="{62422619-4564-479A-AB21-94D0BAFB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Course Timeline</a:t>
            </a:r>
            <a:endParaRPr sz="245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0" name="Google Shape;833;p26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4" name="Google Shape;834;p26">
            <a:extLst xmlns:a="http://schemas.openxmlformats.org/drawingml/2006/main">
              <a:ext uri="{FF2B5EF4-FFF2-40B4-BE49-F238E27FC236}">
                <a16:creationId xmlns:a16="http://schemas.microsoft.com/office/drawing/2014/main" id="{4DFAABB8-B426-4D9B-AA13-234B5327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18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5" name="Google Shape;835;p26">
            <a:extLst xmlns:a="http://schemas.openxmlformats.org/drawingml/2006/main">
              <a:ext uri="{FF2B5EF4-FFF2-40B4-BE49-F238E27FC236}">
                <a16:creationId xmlns:a16="http://schemas.microsoft.com/office/drawing/2014/main" id="{2DD35677-FE82-4BDD-A442-B6765077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3" name="Google Shape;836;p26"/>
          <p:cNvCxnSpPr/>
          <p:nvPr/>
        </p:nvCxnSpPr>
        <p:spPr>
          <a:xfrm xmlns:a="http://schemas.openxmlformats.org/drawingml/2006/main">
            <a:off x="1097280" y="2944368"/>
            <a:ext cx="96926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7" name="Google Shape;837;p26">
            <a:extLst xmlns:a="http://schemas.openxmlformats.org/drawingml/2006/main">
              <a:ext uri="{FF2B5EF4-FFF2-40B4-BE49-F238E27FC236}">
                <a16:creationId xmlns:a16="http://schemas.microsoft.com/office/drawing/2014/main" id="{77B80593-9F0F-4AD2-90EE-E7941688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8" name="Google Shape;838;p26">
            <a:extLst xmlns:a="http://schemas.openxmlformats.org/drawingml/2006/main">
              <a:ext uri="{FF2B5EF4-FFF2-40B4-BE49-F238E27FC236}">
                <a16:creationId xmlns:a16="http://schemas.microsoft.com/office/drawing/2014/main" id="{56E1909A-11AF-4EBA-9BC2-139927DB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9" name="Google Shape;839;p26">
            <a:extLst xmlns:a="http://schemas.openxmlformats.org/drawingml/2006/main">
              <a:ext uri="{FF2B5EF4-FFF2-40B4-BE49-F238E27FC236}">
                <a16:creationId xmlns:a16="http://schemas.microsoft.com/office/drawing/2014/main" id="{236F3F89-0F34-4EDB-82DD-BBBCEF83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319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0" name="Google Shape;840;p26">
            <a:extLst xmlns:a="http://schemas.openxmlformats.org/drawingml/2006/main">
              <a:ext uri="{FF2B5EF4-FFF2-40B4-BE49-F238E27FC236}">
                <a16:creationId xmlns:a16="http://schemas.microsoft.com/office/drawing/2014/main" id="{88C909EC-0F90-434A-84E8-701726CF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739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2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1" name="Google Shape;841;p26">
            <a:extLst xmlns:a="http://schemas.openxmlformats.org/drawingml/2006/main">
              <a:ext uri="{FF2B5EF4-FFF2-40B4-BE49-F238E27FC236}">
                <a16:creationId xmlns:a16="http://schemas.microsoft.com/office/drawing/2014/main" id="{5BC50E32-4257-4F71-B590-A99ACAD2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651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26">
            <a:extLst xmlns:a="http://schemas.openxmlformats.org/drawingml/2006/main">
              <a:ext uri="{FF2B5EF4-FFF2-40B4-BE49-F238E27FC236}">
                <a16:creationId xmlns:a16="http://schemas.microsoft.com/office/drawing/2014/main" id="{A7CDB6BF-96B5-465B-9797-FEC6CFFC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071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3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3" name="Google Shape;843;p26">
            <a:extLst xmlns:a="http://schemas.openxmlformats.org/drawingml/2006/main">
              <a:ext uri="{FF2B5EF4-FFF2-40B4-BE49-F238E27FC236}">
                <a16:creationId xmlns:a16="http://schemas.microsoft.com/office/drawing/2014/main" id="{7A676AC4-2814-486E-9622-161A3A3C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982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26">
            <a:extLst xmlns:a="http://schemas.openxmlformats.org/drawingml/2006/main">
              <a:ext uri="{FF2B5EF4-FFF2-40B4-BE49-F238E27FC236}">
                <a16:creationId xmlns:a16="http://schemas.microsoft.com/office/drawing/2014/main" id="{29371D34-52F8-42D6-B937-8A3D2841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402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4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5" name="Google Shape;845;p26">
            <a:extLst xmlns:a="http://schemas.openxmlformats.org/drawingml/2006/main">
              <a:ext uri="{FF2B5EF4-FFF2-40B4-BE49-F238E27FC236}">
                <a16:creationId xmlns:a16="http://schemas.microsoft.com/office/drawing/2014/main" id="{DBA5A5B5-85ED-475F-96E1-919C9596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314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6" name="Google Shape;846;p26">
            <a:extLst xmlns:a="http://schemas.openxmlformats.org/drawingml/2006/main">
              <a:ext uri="{FF2B5EF4-FFF2-40B4-BE49-F238E27FC236}">
                <a16:creationId xmlns:a16="http://schemas.microsoft.com/office/drawing/2014/main" id="{6E02A166-ECB4-4073-BDE9-D3ECEDFD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734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5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7" name="Google Shape;847;p26">
            <a:extLst xmlns:a="http://schemas.openxmlformats.org/drawingml/2006/main">
              <a:ext uri="{FF2B5EF4-FFF2-40B4-BE49-F238E27FC236}">
                <a16:creationId xmlns:a16="http://schemas.microsoft.com/office/drawing/2014/main" id="{86AAF360-B122-44AA-902D-8D1F66CE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645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8" name="Google Shape;848;p26">
            <a:extLst xmlns:a="http://schemas.openxmlformats.org/drawingml/2006/main">
              <a:ext uri="{FF2B5EF4-FFF2-40B4-BE49-F238E27FC236}">
                <a16:creationId xmlns:a16="http://schemas.microsoft.com/office/drawing/2014/main" id="{FBF58EB0-2A03-4EE5-B3E6-64A89DC3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0065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6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9" name="Google Shape;849;p26">
            <a:extLst xmlns:a="http://schemas.openxmlformats.org/drawingml/2006/main">
              <a:ext uri="{FF2B5EF4-FFF2-40B4-BE49-F238E27FC236}">
                <a16:creationId xmlns:a16="http://schemas.microsoft.com/office/drawing/2014/main" id="{BAFB9080-DA2C-4244-B560-A6EBFB94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977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2700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p26">
            <a:extLst xmlns:a="http://schemas.openxmlformats.org/drawingml/2006/main">
              <a:ext uri="{FF2B5EF4-FFF2-40B4-BE49-F238E27FC236}">
                <a16:creationId xmlns:a16="http://schemas.microsoft.com/office/drawing/2014/main" id="{DC71E092-766E-46C2-99B1-2EF2BEE1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397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7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1" name="Google Shape;851;p26">
            <a:extLst xmlns:a="http://schemas.openxmlformats.org/drawingml/2006/main">
              <a:ext uri="{FF2B5EF4-FFF2-40B4-BE49-F238E27FC236}">
                <a16:creationId xmlns:a16="http://schemas.microsoft.com/office/drawing/2014/main" id="{D45A6195-572F-4E2A-A626-CB1F7353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3308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26">
            <a:extLst xmlns:a="http://schemas.openxmlformats.org/drawingml/2006/main">
              <a:ext uri="{FF2B5EF4-FFF2-40B4-BE49-F238E27FC236}">
                <a16:creationId xmlns:a16="http://schemas.microsoft.com/office/drawing/2014/main" id="{BB65F4F6-973E-4716-A892-C0479290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8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3" name="Google Shape;853;p26">
            <a:extLst xmlns:a="http://schemas.openxmlformats.org/drawingml/2006/main">
              <a:ext uri="{FF2B5EF4-FFF2-40B4-BE49-F238E27FC236}">
                <a16:creationId xmlns:a16="http://schemas.microsoft.com/office/drawing/2014/main" id="{EC864AC1-6667-4E32-86A7-BE7897F1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639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26">
            <a:extLst xmlns:a="http://schemas.openxmlformats.org/drawingml/2006/main">
              <a:ext uri="{FF2B5EF4-FFF2-40B4-BE49-F238E27FC236}">
                <a16:creationId xmlns:a16="http://schemas.microsoft.com/office/drawing/2014/main" id="{62040477-824D-488F-AD29-4899890E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059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9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5" name="Google Shape;855;p26">
            <a:extLst xmlns:a="http://schemas.openxmlformats.org/drawingml/2006/main">
              <a:ext uri="{FF2B5EF4-FFF2-40B4-BE49-F238E27FC236}">
                <a16:creationId xmlns:a16="http://schemas.microsoft.com/office/drawing/2014/main" id="{72B34A43-51CB-4790-B5E2-03461F94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71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26">
            <a:extLst xmlns:a="http://schemas.openxmlformats.org/drawingml/2006/main">
              <a:ext uri="{FF2B5EF4-FFF2-40B4-BE49-F238E27FC236}">
                <a16:creationId xmlns:a16="http://schemas.microsoft.com/office/drawing/2014/main" id="{DA92F4E7-43E3-415C-A622-8FA95C4F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9391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10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7" name="Google Shape;857;p26">
            <a:extLst xmlns:a="http://schemas.openxmlformats.org/drawingml/2006/main">
              <a:ext uri="{FF2B5EF4-FFF2-40B4-BE49-F238E27FC236}">
                <a16:creationId xmlns:a16="http://schemas.microsoft.com/office/drawing/2014/main" id="{41DBDD50-E185-46A5-8196-66E7A681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0302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" name="Google Shape;858;p26">
            <a:extLst xmlns:a="http://schemas.openxmlformats.org/drawingml/2006/main">
              <a:ext uri="{FF2B5EF4-FFF2-40B4-BE49-F238E27FC236}">
                <a16:creationId xmlns:a16="http://schemas.microsoft.com/office/drawing/2014/main" id="{4B98169A-A76A-4CFC-8181-C5037D75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722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11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9" name="Google Shape;859;p26">
            <a:extLst xmlns:a="http://schemas.openxmlformats.org/drawingml/2006/main">
              <a:ext uri="{FF2B5EF4-FFF2-40B4-BE49-F238E27FC236}">
                <a16:creationId xmlns:a16="http://schemas.microsoft.com/office/drawing/2014/main" id="{21BC1412-9FB0-4881-88FB-26D9EB42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634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9771"/>
          </a:solidFill>
          <a:ln xmlns:a="http://schemas.openxmlformats.org/drawingml/2006/main" w="12700" cmpd="sng">
            <a:solidFill>
              <a:srgbClr val="27977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0" name="Google Shape;860;p26">
            <a:extLst xmlns:a="http://schemas.openxmlformats.org/drawingml/2006/main">
              <a:ext uri="{FF2B5EF4-FFF2-40B4-BE49-F238E27FC236}">
                <a16:creationId xmlns:a16="http://schemas.microsoft.com/office/drawing/2014/main" id="{EDCD9B72-E149-4670-A45C-E37A49D2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4054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12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1" name="Google Shape;861;p26">
            <a:extLst xmlns:a="http://schemas.openxmlformats.org/drawingml/2006/main">
              <a:ext uri="{FF2B5EF4-FFF2-40B4-BE49-F238E27FC236}">
                <a16:creationId xmlns:a16="http://schemas.microsoft.com/office/drawing/2014/main" id="{763F09E7-1C5F-44E6-8B46-5D54242D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965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C31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26">
            <a:extLst xmlns:a="http://schemas.openxmlformats.org/drawingml/2006/main">
              <a:ext uri="{FF2B5EF4-FFF2-40B4-BE49-F238E27FC236}">
                <a16:creationId xmlns:a16="http://schemas.microsoft.com/office/drawing/2014/main" id="{EE1C709F-9E07-44B1-8AD0-8E280162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385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13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3" name="Google Shape;863;p26">
            <a:extLst xmlns:a="http://schemas.openxmlformats.org/drawingml/2006/main">
              <a:ext uri="{FF2B5EF4-FFF2-40B4-BE49-F238E27FC236}">
                <a16:creationId xmlns:a16="http://schemas.microsoft.com/office/drawing/2014/main" id="{7E6587E0-296C-452B-AA66-0BEEEC89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7297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C31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4" name="Google Shape;864;p26">
            <a:extLst xmlns:a="http://schemas.openxmlformats.org/drawingml/2006/main">
              <a:ext uri="{FF2B5EF4-FFF2-40B4-BE49-F238E27FC236}">
                <a16:creationId xmlns:a16="http://schemas.microsoft.com/office/drawing/2014/main" id="{B6ABD2FF-CAF1-41D2-AB61-5D63B2E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8717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14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5" name="Google Shape;865;p26">
            <a:extLst xmlns:a="http://schemas.openxmlformats.org/drawingml/2006/main">
              <a:ext uri="{FF2B5EF4-FFF2-40B4-BE49-F238E27FC236}">
                <a16:creationId xmlns:a16="http://schemas.microsoft.com/office/drawing/2014/main" id="{D614C5D3-6A28-4CEA-B432-06767C89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9628" y="28940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C31"/>
          </a:solidFill>
          <a:ln xmlns:a="http://schemas.openxmlformats.org/drawingml/2006/main" w="12700" cmpd="sng">
            <a:solidFill>
              <a:srgbClr val="E69C3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6" name="Google Shape;866;p26">
            <a:extLst xmlns:a="http://schemas.openxmlformats.org/drawingml/2006/main">
              <a:ext uri="{FF2B5EF4-FFF2-40B4-BE49-F238E27FC236}">
                <a16:creationId xmlns:a16="http://schemas.microsoft.com/office/drawing/2014/main" id="{44A08ECF-A62C-4EC8-9418-7CBE06BE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1048" y="3127248"/>
            <a:ext cx="237744" cy="118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680"/>
              <a:buFont typeface="Arial"/>
              <a:buNone/>
            </a:pPr>
            <a:r>
              <a:rPr sz="680">
                <a:solidFill>
                  <a:srgbClr val="5D7083"/>
                </a:solidFill>
                <a:latin typeface="Arial"/>
                <a:ea typeface="Arial"/>
                <a:cs typeface="Arial"/>
              </a:rPr>
              <a:t>15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7" name="Google Shape;867;p26">
            <a:extLst xmlns:a="http://schemas.openxmlformats.org/drawingml/2006/main">
              <a:ext uri="{FF2B5EF4-FFF2-40B4-BE49-F238E27FC236}">
                <a16:creationId xmlns:a16="http://schemas.microsoft.com/office/drawing/2014/main" id="{40E05F5A-1928-415E-8C70-3AE84554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020"/>
              <a:buFont typeface="Arial"/>
              <a:buNone/>
            </a:pPr>
            <a:r>
              <a:rPr sz="102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Weeks 1-7: core lectures and foundations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8" name="Google Shape;868;p26">
            <a:extLst xmlns:a="http://schemas.openxmlformats.org/drawingml/2006/main">
              <a:ext uri="{FF2B5EF4-FFF2-40B4-BE49-F238E27FC236}">
                <a16:creationId xmlns:a16="http://schemas.microsoft.com/office/drawing/2014/main" id="{FE99DAA4-C490-4EC1-92E1-9B5006DA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520440"/>
            <a:ext cx="475488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1020"/>
              <a:buFont typeface="Arial"/>
              <a:buNone/>
            </a:pPr>
            <a:r>
              <a:rPr sz="1020" b="1">
                <a:solidFill>
                  <a:srgbClr val="279771"/>
                </a:solidFill>
                <a:latin typeface="Arial"/>
                <a:ea typeface="Arial"/>
                <a:cs typeface="Arial"/>
              </a:rPr>
              <a:t>Weeks 8-15: guided implementation, reviews, demos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9" name="Google Shape;869;p26">
            <a:extLst xmlns:a="http://schemas.openxmlformats.org/drawingml/2006/main">
              <a:ext uri="{FF2B5EF4-FFF2-40B4-BE49-F238E27FC236}">
                <a16:creationId xmlns:a16="http://schemas.microsoft.com/office/drawing/2014/main" id="{A4F38B33-2E84-499B-BDF3-06DBE853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42432"/>
            <a:ext cx="9921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30"/>
              <a:buFont typeface="Arial"/>
              <a:buNone/>
            </a:pPr>
            <a:r>
              <a:rPr sz="1030" b="1">
                <a:solidFill>
                  <a:srgbClr val="5D7083"/>
                </a:solidFill>
                <a:latin typeface="Arial"/>
                <a:ea typeface="Arial"/>
                <a:cs typeface="Arial"/>
              </a:rPr>
              <a:t>The lecture sequence is short; the lab evidence trail continues all semester.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5387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9" name="Google Shape;939;p29">
            <a:extLst xmlns:a="http://schemas.openxmlformats.org/drawingml/2006/main">
              <a:ext uri="{FF2B5EF4-FFF2-40B4-BE49-F238E27FC236}">
                <a16:creationId xmlns:a16="http://schemas.microsoft.com/office/drawing/2014/main" id="{31E34F82-9052-48B8-9AEF-65FADA45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PROJECT STANDARD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0" name="Google Shape;940;p29">
            <a:extLst xmlns:a="http://schemas.openxmlformats.org/drawingml/2006/main">
              <a:ext uri="{FF2B5EF4-FFF2-40B4-BE49-F238E27FC236}">
                <a16:creationId xmlns:a16="http://schemas.microsoft.com/office/drawing/2014/main" id="{7E7817CD-4950-4F9E-AD09-E1B2B247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Project Direction: Model or System?</a:t>
            </a:r>
            <a:endParaRPr sz="245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95" name="Google Shape;941;p29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2" name="Google Shape;942;p29">
            <a:extLst xmlns:a="http://schemas.openxmlformats.org/drawingml/2006/main">
              <a:ext uri="{FF2B5EF4-FFF2-40B4-BE49-F238E27FC236}">
                <a16:creationId xmlns:a16="http://schemas.microsoft.com/office/drawing/2014/main" id="{86606EA6-7EEC-4336-8AE7-1CC58C3C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19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3" name="Google Shape;943;p29">
            <a:extLst xmlns:a="http://schemas.openxmlformats.org/drawingml/2006/main">
              <a:ext uri="{FF2B5EF4-FFF2-40B4-BE49-F238E27FC236}">
                <a16:creationId xmlns:a16="http://schemas.microsoft.com/office/drawing/2014/main" id="{7BF69665-B144-4278-ACFE-0FE8546B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4" name="Google Shape;944;p29">
            <a:extLst xmlns:a="http://schemas.openxmlformats.org/drawingml/2006/main">
              <a:ext uri="{FF2B5EF4-FFF2-40B4-BE49-F238E27FC236}">
                <a16:creationId xmlns:a16="http://schemas.microsoft.com/office/drawing/2014/main" id="{16482F19-C72A-4173-BC95-0A11B251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27632"/>
            <a:ext cx="1024128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400"/>
              <a:buFont typeface="Arial"/>
              <a:buNone/>
            </a:pPr>
            <a:r>
              <a:rPr sz="1400" b="1">
                <a:solidFill>
                  <a:srgbClr val="172533"/>
                </a:solidFill>
                <a:latin typeface="Arial"/>
                <a:ea typeface="Arial"/>
                <a:cs typeface="Arial"/>
              </a:rPr>
              <a:t>The difference is whether the team can explain the complete decision path.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99" name="Google Shape;945;p29"/>
          <p:cNvCxnSpPr/>
          <p:nvPr/>
        </p:nvCxnSpPr>
        <p:spPr>
          <a:xfrm xmlns:a="http://schemas.openxmlformats.org/drawingml/2006/main">
            <a:off x="1234440" y="2514600"/>
            <a:ext cx="96926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6" name="Google Shape;946;p29">
            <a:extLst xmlns:a="http://schemas.openxmlformats.org/drawingml/2006/main">
              <a:ext uri="{FF2B5EF4-FFF2-40B4-BE49-F238E27FC236}">
                <a16:creationId xmlns:a16="http://schemas.microsoft.com/office/drawing/2014/main" id="{1B08F125-9F4C-4BC3-96AF-C6239C96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60904"/>
            <a:ext cx="3010205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C4747"/>
              </a:buClr>
              <a:buSzPts val="1100"/>
              <a:buFont typeface="Arial"/>
              <a:buNone/>
            </a:pPr>
            <a:r>
              <a:rPr sz="1100" b="1">
                <a:solidFill>
                  <a:srgbClr val="CC4747"/>
                </a:solidFill>
                <a:latin typeface="Arial"/>
                <a:ea typeface="Arial"/>
                <a:cs typeface="Arial"/>
              </a:rPr>
              <a:t>Weak direction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7" name="Google Shape;947;p29">
            <a:extLst xmlns:a="http://schemas.openxmlformats.org/drawingml/2006/main">
              <a:ext uri="{FF2B5EF4-FFF2-40B4-BE49-F238E27FC236}">
                <a16:creationId xmlns:a16="http://schemas.microsoft.com/office/drawing/2014/main" id="{43721774-1F09-407A-A621-2B9B558F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245" y="2660904"/>
            <a:ext cx="6453835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230"/>
              <a:buFont typeface="Arial"/>
              <a:buNone/>
            </a:pPr>
            <a:r>
              <a:rPr sz="1230">
                <a:solidFill>
                  <a:srgbClr val="172533"/>
                </a:solidFill>
                <a:latin typeface="Arial"/>
                <a:ea typeface="Arial"/>
                <a:cs typeface="Arial"/>
              </a:rPr>
              <a:t>We trained a fire/smoke classifier.</a:t>
            </a:r>
            <a:endParaRPr sz="12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02" name="Google Shape;948;p29"/>
          <p:cNvCxnSpPr/>
          <p:nvPr/>
        </p:nvCxnSpPr>
        <p:spPr>
          <a:xfrm xmlns:a="http://schemas.openxmlformats.org/drawingml/2006/main">
            <a:off x="1234440" y="3410712"/>
            <a:ext cx="96926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9" name="Google Shape;949;p29">
            <a:extLst xmlns:a="http://schemas.openxmlformats.org/drawingml/2006/main">
              <a:ext uri="{FF2B5EF4-FFF2-40B4-BE49-F238E27FC236}">
                <a16:creationId xmlns:a16="http://schemas.microsoft.com/office/drawing/2014/main" id="{39A64F81-07A3-4403-901F-16D51FF3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83864"/>
            <a:ext cx="3010205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1100"/>
              <a:buFont typeface="Arial"/>
              <a:buNone/>
            </a:pPr>
            <a:r>
              <a:rPr sz="1100" b="1">
                <a:solidFill>
                  <a:srgbClr val="279771"/>
                </a:solidFill>
                <a:latin typeface="Arial"/>
                <a:ea typeface="Arial"/>
                <a:cs typeface="Arial"/>
              </a:rPr>
              <a:t>Strong direction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0" name="Google Shape;950;p29">
            <a:extLst xmlns:a="http://schemas.openxmlformats.org/drawingml/2006/main">
              <a:ext uri="{FF2B5EF4-FFF2-40B4-BE49-F238E27FC236}">
                <a16:creationId xmlns:a16="http://schemas.microsoft.com/office/drawing/2014/main" id="{B98D6FB4-B290-4D0E-B9BF-18111767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245" y="3483864"/>
            <a:ext cx="6453835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230"/>
              <a:buFont typeface="Arial"/>
              <a:buNone/>
            </a:pPr>
            <a:r>
              <a:rPr sz="1230">
                <a:solidFill>
                  <a:srgbClr val="172533"/>
                </a:solidFill>
                <a:latin typeface="Arial"/>
                <a:ea typeface="Arial"/>
                <a:cs typeface="Arial"/>
              </a:rPr>
              <a:t>We built FireWatch: validated input, alert policy, logs, fallback, and an owner.</a:t>
            </a:r>
            <a:endParaRPr sz="12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05" name="Google Shape;951;p29"/>
          <p:cNvCxnSpPr/>
          <p:nvPr/>
        </p:nvCxnSpPr>
        <p:spPr>
          <a:xfrm xmlns:a="http://schemas.openxmlformats.org/drawingml/2006/main">
            <a:off x="1234440" y="4233672"/>
            <a:ext cx="96926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2" name="Google Shape;952;p29">
            <a:extLst xmlns:a="http://schemas.openxmlformats.org/drawingml/2006/main">
              <a:ext uri="{FF2B5EF4-FFF2-40B4-BE49-F238E27FC236}">
                <a16:creationId xmlns:a16="http://schemas.microsoft.com/office/drawing/2014/main" id="{0EE72CF7-1837-463B-ABF5-449E37E3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650992"/>
            <a:ext cx="1001268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29">
            <a:extLst xmlns:a="http://schemas.openxmlformats.org/drawingml/2006/main">
              <a:ext uri="{FF2B5EF4-FFF2-40B4-BE49-F238E27FC236}">
                <a16:creationId xmlns:a16="http://schemas.microsoft.com/office/drawing/2014/main" id="{4B9914E8-594A-4B69-A761-6404421E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69864"/>
            <a:ext cx="9555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220"/>
              <a:buFont typeface="Arial"/>
              <a:buNone/>
            </a:pPr>
            <a:r>
              <a:rPr sz="122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A strong project explains behavior, evidence, operations, and limits.</a:t>
            </a:r>
            <a:endParaRPr sz="12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55739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7" name="Google Shape;987;p31">
            <a:extLst xmlns:a="http://schemas.openxmlformats.org/drawingml/2006/main">
              <a:ext uri="{FF2B5EF4-FFF2-40B4-BE49-F238E27FC236}">
                <a16:creationId xmlns:a16="http://schemas.microsoft.com/office/drawing/2014/main" id="{F85DED43-0AD2-4194-971D-95DA629F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LAB 1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8" name="Google Shape;988;p31">
            <a:extLst xmlns:a="http://schemas.openxmlformats.org/drawingml/2006/main">
              <a:ext uri="{FF2B5EF4-FFF2-40B4-BE49-F238E27FC236}">
                <a16:creationId xmlns:a16="http://schemas.microsoft.com/office/drawing/2014/main" id="{1F0C981B-0318-4E00-BA58-02FF9342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Lab 1: Frame the System</a:t>
            </a:r>
            <a:endParaRPr sz="245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62" name="Google Shape;989;p31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0" name="Google Shape;990;p31">
            <a:extLst xmlns:a="http://schemas.openxmlformats.org/drawingml/2006/main">
              <a:ext uri="{FF2B5EF4-FFF2-40B4-BE49-F238E27FC236}">
                <a16:creationId xmlns:a16="http://schemas.microsoft.com/office/drawing/2014/main" id="{B3730D0D-0B63-4619-8723-94EDC735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20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1" name="Google Shape;991;p31">
            <a:extLst xmlns:a="http://schemas.openxmlformats.org/drawingml/2006/main">
              <a:ext uri="{FF2B5EF4-FFF2-40B4-BE49-F238E27FC236}">
                <a16:creationId xmlns:a16="http://schemas.microsoft.com/office/drawing/2014/main" id="{59CCE610-3CB2-414B-AE1E-7652BDBB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65" name="Google Shape;992;p31"/>
          <p:cNvCxnSpPr/>
          <p:nvPr/>
        </p:nvCxnSpPr>
        <p:spPr>
          <a:xfrm xmlns:a="http://schemas.openxmlformats.org/drawingml/2006/main">
            <a:off x="1143000" y="1783080"/>
            <a:ext cx="99212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3" name="Google Shape;993;p31">
            <a:extLst xmlns:a="http://schemas.openxmlformats.org/drawingml/2006/main">
              <a:ext uri="{FF2B5EF4-FFF2-40B4-BE49-F238E27FC236}">
                <a16:creationId xmlns:a16="http://schemas.microsoft.com/office/drawing/2014/main" id="{BC0BA77C-A5D5-4C03-92AA-3ED768EC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9384"/>
            <a:ext cx="2686507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1000"/>
              <a:buFont typeface="Arial"/>
              <a:buNone/>
            </a:pPr>
            <a:r>
              <a:rPr sz="1000" b="1">
                <a:solidFill>
                  <a:srgbClr val="2A6FC5"/>
                </a:solidFill>
                <a:latin typeface="Arial"/>
                <a:ea typeface="Arial"/>
                <a:cs typeface="Arial"/>
              </a:rPr>
              <a:t>Team setup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4" name="Google Shape;994;p31">
            <a:extLst xmlns:a="http://schemas.openxmlformats.org/drawingml/2006/main">
              <a:ext uri="{FF2B5EF4-FFF2-40B4-BE49-F238E27FC236}">
                <a16:creationId xmlns:a16="http://schemas.microsoft.com/office/drawing/2014/main" id="{1B2CA23E-016B-4109-827C-985A3C37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8107" y="1929384"/>
            <a:ext cx="7006133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70"/>
              <a:buFont typeface="Arial"/>
              <a:buNone/>
            </a:pPr>
            <a:r>
              <a:rPr sz="1070">
                <a:solidFill>
                  <a:srgbClr val="172533"/>
                </a:solidFill>
                <a:latin typeface="Arial"/>
                <a:ea typeface="Arial"/>
                <a:cs typeface="Arial"/>
              </a:rPr>
              <a:t>repository and working collaboration</a:t>
            </a:r>
            <a:endParaRPr sz="107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68" name="Google Shape;995;p31"/>
          <p:cNvCxnSpPr/>
          <p:nvPr/>
        </p:nvCxnSpPr>
        <p:spPr>
          <a:xfrm xmlns:a="http://schemas.openxmlformats.org/drawingml/2006/main">
            <a:off x="1143000" y="2514600"/>
            <a:ext cx="9921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6" name="Google Shape;996;p31">
            <a:extLst xmlns:a="http://schemas.openxmlformats.org/drawingml/2006/main">
              <a:ext uri="{FF2B5EF4-FFF2-40B4-BE49-F238E27FC236}">
                <a16:creationId xmlns:a16="http://schemas.microsoft.com/office/drawing/2014/main" id="{C2F78509-C902-421D-8083-0D1483C1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87752"/>
            <a:ext cx="2686507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000"/>
              <a:buFont typeface="Arial"/>
              <a:buNone/>
            </a:pPr>
            <a:r>
              <a:rPr sz="100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Candidate system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7" name="Google Shape;997;p31">
            <a:extLst xmlns:a="http://schemas.openxmlformats.org/drawingml/2006/main">
              <a:ext uri="{FF2B5EF4-FFF2-40B4-BE49-F238E27FC236}">
                <a16:creationId xmlns:a16="http://schemas.microsoft.com/office/drawing/2014/main" id="{FAE3710F-801F-4252-9D8C-F7D35DAD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8107" y="2587752"/>
            <a:ext cx="7006133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70"/>
              <a:buFont typeface="Arial"/>
              <a:buNone/>
            </a:pPr>
            <a:r>
              <a:rPr sz="1070">
                <a:solidFill>
                  <a:srgbClr val="172533"/>
                </a:solidFill>
                <a:latin typeface="Arial"/>
                <a:ea typeface="Arial"/>
                <a:cs typeface="Arial"/>
              </a:rPr>
              <a:t>user, decision, model output, and system boundary</a:t>
            </a:r>
            <a:endParaRPr sz="107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71" name="Google Shape;998;p31"/>
          <p:cNvCxnSpPr/>
          <p:nvPr/>
        </p:nvCxnSpPr>
        <p:spPr>
          <a:xfrm xmlns:a="http://schemas.openxmlformats.org/drawingml/2006/main">
            <a:off x="1143000" y="3172968"/>
            <a:ext cx="9921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9" name="Google Shape;999;p31">
            <a:extLst xmlns:a="http://schemas.openxmlformats.org/drawingml/2006/main">
              <a:ext uri="{FF2B5EF4-FFF2-40B4-BE49-F238E27FC236}">
                <a16:creationId xmlns:a16="http://schemas.microsoft.com/office/drawing/2014/main" id="{09ED7ABC-31A1-480C-A7C1-FE05BFE1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2686507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E69C31"/>
              </a:buClr>
              <a:buSzPts val="1000"/>
              <a:buFont typeface="Arial"/>
              <a:buNone/>
            </a:pPr>
            <a:r>
              <a:rPr sz="1000" b="1">
                <a:solidFill>
                  <a:srgbClr val="E69C31"/>
                </a:solidFill>
                <a:latin typeface="Arial"/>
                <a:ea typeface="Arial"/>
                <a:cs typeface="Arial"/>
              </a:rPr>
              <a:t>AI justification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0" name="Google Shape;1000;p31">
            <a:extLst xmlns:a="http://schemas.openxmlformats.org/drawingml/2006/main">
              <a:ext uri="{FF2B5EF4-FFF2-40B4-BE49-F238E27FC236}">
                <a16:creationId xmlns:a16="http://schemas.microsoft.com/office/drawing/2014/main" id="{CC061532-12EA-4093-B727-B6A7AE9A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8107" y="3246120"/>
            <a:ext cx="7006133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70"/>
              <a:buFont typeface="Arial"/>
              <a:buNone/>
            </a:pPr>
            <a:r>
              <a:rPr sz="1070">
                <a:solidFill>
                  <a:srgbClr val="172533"/>
                </a:solidFill>
                <a:latin typeface="Arial"/>
                <a:ea typeface="Arial"/>
                <a:cs typeface="Arial"/>
              </a:rPr>
              <a:t>why learned behavior is needed</a:t>
            </a:r>
            <a:endParaRPr sz="107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74" name="Google Shape;1001;p31"/>
          <p:cNvCxnSpPr/>
          <p:nvPr/>
        </p:nvCxnSpPr>
        <p:spPr>
          <a:xfrm xmlns:a="http://schemas.openxmlformats.org/drawingml/2006/main">
            <a:off x="1143000" y="3831336"/>
            <a:ext cx="9921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2" name="Google Shape;1002;p31">
            <a:extLst xmlns:a="http://schemas.openxmlformats.org/drawingml/2006/main">
              <a:ext uri="{FF2B5EF4-FFF2-40B4-BE49-F238E27FC236}">
                <a16:creationId xmlns:a16="http://schemas.microsoft.com/office/drawing/2014/main" id="{F379F806-843E-4B69-8229-D2EA3BBA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4488"/>
            <a:ext cx="2686507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279771"/>
              </a:buClr>
              <a:buSzPts val="1000"/>
              <a:buFont typeface="Arial"/>
              <a:buNone/>
            </a:pPr>
            <a:r>
              <a:rPr sz="1000" b="1">
                <a:solidFill>
                  <a:srgbClr val="279771"/>
                </a:solidFill>
                <a:latin typeface="Arial"/>
                <a:ea typeface="Arial"/>
                <a:cs typeface="Arial"/>
              </a:rPr>
              <a:t>Feasibility + risk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3" name="Google Shape;1003;p31">
            <a:extLst xmlns:a="http://schemas.openxmlformats.org/drawingml/2006/main">
              <a:ext uri="{FF2B5EF4-FFF2-40B4-BE49-F238E27FC236}">
                <a16:creationId xmlns:a16="http://schemas.microsoft.com/office/drawing/2014/main" id="{B5E9624C-250E-46BF-B4B4-A8A706CA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8107" y="3904488"/>
            <a:ext cx="7006133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1070"/>
              <a:buFont typeface="Arial"/>
              <a:buNone/>
            </a:pPr>
            <a:r>
              <a:rPr sz="1070">
                <a:solidFill>
                  <a:srgbClr val="172533"/>
                </a:solidFill>
                <a:latin typeface="Arial"/>
                <a:ea typeface="Arial"/>
                <a:cs typeface="Arial"/>
              </a:rPr>
              <a:t>real data; wrong, late, or missing outcome; initial risks</a:t>
            </a:r>
            <a:endParaRPr sz="107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77" name="Google Shape;1004;p31"/>
          <p:cNvCxnSpPr/>
          <p:nvPr/>
        </p:nvCxnSpPr>
        <p:spPr>
          <a:xfrm xmlns:a="http://schemas.openxmlformats.org/drawingml/2006/main">
            <a:off x="1143000" y="4489704"/>
            <a:ext cx="992124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5" name="Google Shape;1005;p31">
            <a:extLst xmlns:a="http://schemas.openxmlformats.org/drawingml/2006/main">
              <a:ext uri="{FF2B5EF4-FFF2-40B4-BE49-F238E27FC236}">
                <a16:creationId xmlns:a16="http://schemas.microsoft.com/office/drawing/2014/main" id="{BEF8BFF5-89BE-4671-BBE0-9D3D37FD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42432"/>
            <a:ext cx="9921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30"/>
              <a:buFont typeface="Arial"/>
              <a:buNone/>
            </a:pPr>
            <a:r>
              <a:rPr sz="1030" b="1">
                <a:solidFill>
                  <a:srgbClr val="5D7083"/>
                </a:solidFill>
                <a:latin typeface="Arial"/>
                <a:ea typeface="Arial"/>
                <a:cs typeface="Arial"/>
              </a:rPr>
              <a:t>Frame the system before choosing the model.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36657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8" name="Google Shape;1038;p33">
            <a:extLst xmlns:a="http://schemas.openxmlformats.org/drawingml/2006/main">
              <a:ext uri="{FF2B5EF4-FFF2-40B4-BE49-F238E27FC236}">
                <a16:creationId xmlns:a16="http://schemas.microsoft.com/office/drawing/2014/main" id="{08812693-08A5-4C33-B7DA-D861099C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19456"/>
            <a:ext cx="43891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CLOSING</a:t>
            </a:r>
            <a:endParaRPr/>
          </a:p>
        </p:txBody>
      </p:sp>
      <p:sp>
        <p:nvSpPr>
          <p:cNvPr id="1039" name="Google Shape;1039;p33">
            <a:extLst xmlns:a="http://schemas.openxmlformats.org/drawingml/2006/main">
              <a:ext uri="{FF2B5EF4-FFF2-40B4-BE49-F238E27FC236}">
                <a16:creationId xmlns:a16="http://schemas.microsoft.com/office/drawing/2014/main" id="{443579E2-09C3-4DD9-BA5D-B7346179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93776"/>
            <a:ext cx="98755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50" b="1">
                <a:solidFill>
                  <a:srgbClr val="172533"/>
                </a:solidFill>
                <a:latin typeface="Arial"/>
                <a:ea typeface="Arial"/>
                <a:cs typeface="Arial"/>
              </a:rPr>
              <a:t>Course Mantra</a:t>
            </a:r>
            <a:endParaRPr/>
          </a:p>
        </p:txBody>
      </p:sp>
      <p:cxnSp>
        <p:nvCxnSpPr>
          <p:cNvPr id="1105" name="Google Shape;1040;p33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CCD5DF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041" name="Google Shape;1041;p33">
            <a:extLst xmlns:a="http://schemas.openxmlformats.org/drawingml/2006/main">
              <a:ext uri="{FF2B5EF4-FFF2-40B4-BE49-F238E27FC236}">
                <a16:creationId xmlns:a16="http://schemas.microsoft.com/office/drawing/2014/main" id="{9AC164A9-2155-447B-9054-BF46FA1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55664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/>
          </a:p>
        </p:txBody>
      </p:sp>
      <p:sp>
        <p:nvSpPr>
          <p:cNvPr id="1042" name="Google Shape;1042;p33">
            <a:extLst xmlns:a="http://schemas.openxmlformats.org/drawingml/2006/main">
              <a:ext uri="{FF2B5EF4-FFF2-40B4-BE49-F238E27FC236}">
                <a16:creationId xmlns:a16="http://schemas.microsoft.com/office/drawing/2014/main" id="{075E4C7F-E037-4731-8C65-AB193FE0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55664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20" b="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21</a:t>
            </a:r>
            <a:endParaRPr/>
          </a:p>
        </p:txBody>
      </p:sp>
      <p:sp>
        <p:nvSpPr>
          <p:cNvPr id="1043" name="Google Shape;1043;p33">
            <a:extLst xmlns:a="http://schemas.openxmlformats.org/drawingml/2006/main">
              <a:ext uri="{FF2B5EF4-FFF2-40B4-BE49-F238E27FC236}">
                <a16:creationId xmlns:a16="http://schemas.microsoft.com/office/drawing/2014/main" id="{D3971B18-B6A7-4E47-AAFC-E010042B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335024"/>
            <a:ext cx="475488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1">
                <a:solidFill>
                  <a:srgbClr val="5D7083"/>
                </a:solidFill>
                <a:latin typeface="Arial"/>
                <a:ea typeface="Arial"/>
                <a:cs typeface="Arial"/>
              </a:rPr>
              <a:t>SE4AI QUALITY GOALS / NATIVE REDRAW</a:t>
            </a:r>
            <a:endParaRPr/>
          </a:p>
        </p:txBody>
      </p:sp>
      <p:sp>
        <p:nvSpPr>
          <p:cNvPr id="1044" name="Google Shape;1044;p33">
            <a:extLst xmlns:a="http://schemas.openxmlformats.org/drawingml/2006/main">
              <a:ext uri="{FF2B5EF4-FFF2-40B4-BE49-F238E27FC236}">
                <a16:creationId xmlns:a16="http://schemas.microsoft.com/office/drawing/2014/main" id="{B534CD20-4C04-46AA-83A1-1B6733C4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0784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safety</a:t>
            </a:r>
            <a:endParaRPr/>
          </a:p>
        </p:txBody>
      </p:sp>
      <p:sp>
        <p:nvSpPr>
          <p:cNvPr id="1045" name="Google Shape;1045;p33">
            <a:extLst xmlns:a="http://schemas.openxmlformats.org/drawingml/2006/main">
              <a:ext uri="{FF2B5EF4-FFF2-40B4-BE49-F238E27FC236}">
                <a16:creationId xmlns:a16="http://schemas.microsoft.com/office/drawing/2014/main" id="{35EC592B-A7BC-41D6-B814-A2599972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719072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6" name="Google Shape;1046;p33">
            <a:extLst xmlns:a="http://schemas.openxmlformats.org/drawingml/2006/main">
              <a:ext uri="{FF2B5EF4-FFF2-40B4-BE49-F238E27FC236}">
                <a16:creationId xmlns:a16="http://schemas.microsoft.com/office/drawing/2014/main" id="{E4B51337-F958-41F5-9A3F-DF1EDF48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719072"/>
            <a:ext cx="3340989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7" name="Google Shape;1047;p33">
            <a:extLst xmlns:a="http://schemas.openxmlformats.org/drawingml/2006/main">
              <a:ext uri="{FF2B5EF4-FFF2-40B4-BE49-F238E27FC236}">
                <a16:creationId xmlns:a16="http://schemas.microsoft.com/office/drawing/2014/main" id="{A98B2FBA-54AB-4B98-9645-E6DEB658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1541" y="1691639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74</a:t>
            </a:r>
            <a:endParaRPr/>
          </a:p>
        </p:txBody>
      </p:sp>
      <p:sp>
        <p:nvSpPr>
          <p:cNvPr id="1048" name="Google Shape;1048;p33">
            <a:extLst xmlns:a="http://schemas.openxmlformats.org/drawingml/2006/main">
              <a:ext uri="{FF2B5EF4-FFF2-40B4-BE49-F238E27FC236}">
                <a16:creationId xmlns:a16="http://schemas.microsoft.com/office/drawing/2014/main" id="{8EDCA422-5B20-4253-92A7-FC000486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9112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functional correctness</a:t>
            </a:r>
            <a:endParaRPr/>
          </a:p>
        </p:txBody>
      </p:sp>
      <p:sp>
        <p:nvSpPr>
          <p:cNvPr id="1049" name="Google Shape;1049;p33">
            <a:extLst xmlns:a="http://schemas.openxmlformats.org/drawingml/2006/main">
              <a:ext uri="{FF2B5EF4-FFF2-40B4-BE49-F238E27FC236}">
                <a16:creationId xmlns:a16="http://schemas.microsoft.com/office/drawing/2014/main" id="{75A52278-D21F-424A-926D-AA1A942E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57400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0" name="Google Shape;1050;p33">
            <a:extLst xmlns:a="http://schemas.openxmlformats.org/drawingml/2006/main">
              <a:ext uri="{FF2B5EF4-FFF2-40B4-BE49-F238E27FC236}">
                <a16:creationId xmlns:a16="http://schemas.microsoft.com/office/drawing/2014/main" id="{755AFC6F-BAE6-4A37-A1E0-7BC445FE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57400"/>
            <a:ext cx="18059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1" name="Google Shape;1051;p33">
            <a:extLst xmlns:a="http://schemas.openxmlformats.org/drawingml/2006/main">
              <a:ext uri="{FF2B5EF4-FFF2-40B4-BE49-F238E27FC236}">
                <a16:creationId xmlns:a16="http://schemas.microsoft.com/office/drawing/2014/main" id="{9D00273E-66B8-4560-BCA1-0B86CB93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491" y="2029968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40</a:t>
            </a:r>
            <a:endParaRPr/>
          </a:p>
        </p:txBody>
      </p:sp>
      <p:sp>
        <p:nvSpPr>
          <p:cNvPr id="1052" name="Google Shape;1052;p33">
            <a:extLst xmlns:a="http://schemas.openxmlformats.org/drawingml/2006/main">
              <a:ext uri="{FF2B5EF4-FFF2-40B4-BE49-F238E27FC236}">
                <a16:creationId xmlns:a16="http://schemas.microsoft.com/office/drawing/2014/main" id="{50FCCF25-2986-47B8-A6A9-3F154376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7440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robustness</a:t>
            </a:r>
            <a:endParaRPr/>
          </a:p>
        </p:txBody>
      </p:sp>
      <p:sp>
        <p:nvSpPr>
          <p:cNvPr id="1053" name="Google Shape;1053;p33">
            <a:extLst xmlns:a="http://schemas.openxmlformats.org/drawingml/2006/main">
              <a:ext uri="{FF2B5EF4-FFF2-40B4-BE49-F238E27FC236}">
                <a16:creationId xmlns:a16="http://schemas.microsoft.com/office/drawing/2014/main" id="{DDC24028-4F01-494B-9EB4-E0C3DC6D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395728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4" name="Google Shape;1054;p33">
            <a:extLst xmlns:a="http://schemas.openxmlformats.org/drawingml/2006/main">
              <a:ext uri="{FF2B5EF4-FFF2-40B4-BE49-F238E27FC236}">
                <a16:creationId xmlns:a16="http://schemas.microsoft.com/office/drawing/2014/main" id="{E4E972B8-3A50-48D1-8E89-81EFFA3A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395728"/>
            <a:ext cx="18059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5" name="Google Shape;1055;p33">
            <a:extLst xmlns:a="http://schemas.openxmlformats.org/drawingml/2006/main">
              <a:ext uri="{FF2B5EF4-FFF2-40B4-BE49-F238E27FC236}">
                <a16:creationId xmlns:a16="http://schemas.microsoft.com/office/drawing/2014/main" id="{05CB0298-EC96-45BA-90A7-F2BCD59E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491" y="2368296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40</a:t>
            </a:r>
            <a:endParaRPr/>
          </a:p>
        </p:txBody>
      </p:sp>
      <p:sp>
        <p:nvSpPr>
          <p:cNvPr id="1056" name="Google Shape;1056;p33">
            <a:extLst xmlns:a="http://schemas.openxmlformats.org/drawingml/2006/main">
              <a:ext uri="{FF2B5EF4-FFF2-40B4-BE49-F238E27FC236}">
                <a16:creationId xmlns:a16="http://schemas.microsoft.com/office/drawing/2014/main" id="{0EEC7D95-D5FA-41EE-B135-D12B26E6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5768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reliability</a:t>
            </a:r>
            <a:endParaRPr/>
          </a:p>
        </p:txBody>
      </p:sp>
      <p:sp>
        <p:nvSpPr>
          <p:cNvPr id="1057" name="Google Shape;1057;p33">
            <a:extLst xmlns:a="http://schemas.openxmlformats.org/drawingml/2006/main">
              <a:ext uri="{FF2B5EF4-FFF2-40B4-BE49-F238E27FC236}">
                <a16:creationId xmlns:a16="http://schemas.microsoft.com/office/drawing/2014/main" id="{FBAEE941-A7C0-436F-BA35-27D266BB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34056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8" name="Google Shape;1058;p33">
            <a:extLst xmlns:a="http://schemas.openxmlformats.org/drawingml/2006/main">
              <a:ext uri="{FF2B5EF4-FFF2-40B4-BE49-F238E27FC236}">
                <a16:creationId xmlns:a16="http://schemas.microsoft.com/office/drawing/2014/main" id="{87982302-59AA-42B7-9470-23EB0AFC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34056"/>
            <a:ext cx="1128712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9" name="Google Shape;1059;p33">
            <a:extLst xmlns:a="http://schemas.openxmlformats.org/drawingml/2006/main">
              <a:ext uri="{FF2B5EF4-FFF2-40B4-BE49-F238E27FC236}">
                <a16:creationId xmlns:a16="http://schemas.microsoft.com/office/drawing/2014/main" id="{3EFF1134-274E-475F-90D1-B8E4A048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264" y="2706624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25</a:t>
            </a:r>
            <a:endParaRPr/>
          </a:p>
        </p:txBody>
      </p:sp>
      <p:sp>
        <p:nvSpPr>
          <p:cNvPr id="1060" name="Google Shape;1060;p33">
            <a:extLst xmlns:a="http://schemas.openxmlformats.org/drawingml/2006/main">
              <a:ext uri="{FF2B5EF4-FFF2-40B4-BE49-F238E27FC236}">
                <a16:creationId xmlns:a16="http://schemas.microsoft.com/office/drawing/2014/main" id="{2B2C7C29-6EB8-4059-9360-61A88C40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4096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security</a:t>
            </a:r>
            <a:endParaRPr/>
          </a:p>
        </p:txBody>
      </p:sp>
      <p:sp>
        <p:nvSpPr>
          <p:cNvPr id="1061" name="Google Shape;1061;p33">
            <a:extLst xmlns:a="http://schemas.openxmlformats.org/drawingml/2006/main">
              <a:ext uri="{FF2B5EF4-FFF2-40B4-BE49-F238E27FC236}">
                <a16:creationId xmlns:a16="http://schemas.microsoft.com/office/drawing/2014/main" id="{89D3BBFB-C9DA-468C-91A9-5D7231AA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72384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2" name="Google Shape;1062;p33">
            <a:extLst xmlns:a="http://schemas.openxmlformats.org/drawingml/2006/main">
              <a:ext uri="{FF2B5EF4-FFF2-40B4-BE49-F238E27FC236}">
                <a16:creationId xmlns:a16="http://schemas.microsoft.com/office/drawing/2014/main" id="{4C34A426-C892-4874-A428-A119344E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72384"/>
            <a:ext cx="857821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3" name="Google Shape;1063;p33">
            <a:extLst xmlns:a="http://schemas.openxmlformats.org/drawingml/2006/main">
              <a:ext uri="{FF2B5EF4-FFF2-40B4-BE49-F238E27FC236}">
                <a16:creationId xmlns:a16="http://schemas.microsoft.com/office/drawing/2014/main" id="{EA450E6A-E7BE-4DD4-AC85-B5579133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373" y="3044952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19</a:t>
            </a:r>
            <a:endParaRPr/>
          </a:p>
        </p:txBody>
      </p:sp>
      <p:sp>
        <p:nvSpPr>
          <p:cNvPr id="1064" name="Google Shape;1064;p33">
            <a:extLst xmlns:a="http://schemas.openxmlformats.org/drawingml/2006/main">
              <a:ext uri="{FF2B5EF4-FFF2-40B4-BE49-F238E27FC236}">
                <a16:creationId xmlns:a16="http://schemas.microsoft.com/office/drawing/2014/main" id="{33C27E79-F3F9-42E3-B993-D4F79D9B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2424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accuracy</a:t>
            </a:r>
            <a:endParaRPr/>
          </a:p>
        </p:txBody>
      </p:sp>
      <p:sp>
        <p:nvSpPr>
          <p:cNvPr id="1065" name="Google Shape;1065;p33">
            <a:extLst xmlns:a="http://schemas.openxmlformats.org/drawingml/2006/main">
              <a:ext uri="{FF2B5EF4-FFF2-40B4-BE49-F238E27FC236}">
                <a16:creationId xmlns:a16="http://schemas.microsoft.com/office/drawing/2014/main" id="{30A8604F-2E6B-428F-B28A-58336DD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10712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6" name="Google Shape;1066;p33">
            <a:extLst xmlns:a="http://schemas.openxmlformats.org/drawingml/2006/main">
              <a:ext uri="{FF2B5EF4-FFF2-40B4-BE49-F238E27FC236}">
                <a16:creationId xmlns:a16="http://schemas.microsoft.com/office/drawing/2014/main" id="{CA27CB63-6D4E-425F-94D3-5BF338BC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10712"/>
            <a:ext cx="722376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9C3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7" name="Google Shape;1067;p33">
            <a:extLst xmlns:a="http://schemas.openxmlformats.org/drawingml/2006/main">
              <a:ext uri="{FF2B5EF4-FFF2-40B4-BE49-F238E27FC236}">
                <a16:creationId xmlns:a16="http://schemas.microsoft.com/office/drawing/2014/main" id="{F2DC501A-0F12-47A9-A73B-844D7EDB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383280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16</a:t>
            </a:r>
            <a:endParaRPr/>
          </a:p>
        </p:txBody>
      </p:sp>
      <p:sp>
        <p:nvSpPr>
          <p:cNvPr id="1068" name="Google Shape;1068;p33">
            <a:extLst xmlns:a="http://schemas.openxmlformats.org/drawingml/2006/main">
              <a:ext uri="{FF2B5EF4-FFF2-40B4-BE49-F238E27FC236}">
                <a16:creationId xmlns:a16="http://schemas.microsoft.com/office/drawing/2014/main" id="{DBC30185-2005-4A56-B1B4-3E2C55CE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0752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testability</a:t>
            </a:r>
            <a:endParaRPr/>
          </a:p>
        </p:txBody>
      </p:sp>
      <p:sp>
        <p:nvSpPr>
          <p:cNvPr id="1069" name="Google Shape;1069;p33">
            <a:extLst xmlns:a="http://schemas.openxmlformats.org/drawingml/2006/main">
              <a:ext uri="{FF2B5EF4-FFF2-40B4-BE49-F238E27FC236}">
                <a16:creationId xmlns:a16="http://schemas.microsoft.com/office/drawing/2014/main" id="{1D27F134-1F20-40B4-8EF0-15DA5F1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9039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0" name="Google Shape;1070;p33">
            <a:extLst xmlns:a="http://schemas.openxmlformats.org/drawingml/2006/main">
              <a:ext uri="{FF2B5EF4-FFF2-40B4-BE49-F238E27FC236}">
                <a16:creationId xmlns:a16="http://schemas.microsoft.com/office/drawing/2014/main" id="{C9AEAC07-156C-4695-A0FA-19355CA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9039"/>
            <a:ext cx="541782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1" name="Google Shape;1071;p33">
            <a:extLst xmlns:a="http://schemas.openxmlformats.org/drawingml/2006/main">
              <a:ext uri="{FF2B5EF4-FFF2-40B4-BE49-F238E27FC236}">
                <a16:creationId xmlns:a16="http://schemas.microsoft.com/office/drawing/2014/main" id="{9BBAC69D-5ADF-4776-8667-02D46825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2334" y="3721607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12</a:t>
            </a:r>
            <a:endParaRPr/>
          </a:p>
        </p:txBody>
      </p:sp>
      <p:sp>
        <p:nvSpPr>
          <p:cNvPr id="1072" name="Google Shape;1072;p33">
            <a:extLst xmlns:a="http://schemas.openxmlformats.org/drawingml/2006/main">
              <a:ext uri="{FF2B5EF4-FFF2-40B4-BE49-F238E27FC236}">
                <a16:creationId xmlns:a16="http://schemas.microsoft.com/office/drawing/2014/main" id="{30D0042E-4143-46A1-B354-2AFD2D9D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9080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explainability</a:t>
            </a:r>
            <a:endParaRPr/>
          </a:p>
        </p:txBody>
      </p:sp>
      <p:sp>
        <p:nvSpPr>
          <p:cNvPr id="1073" name="Google Shape;1073;p33">
            <a:extLst xmlns:a="http://schemas.openxmlformats.org/drawingml/2006/main">
              <a:ext uri="{FF2B5EF4-FFF2-40B4-BE49-F238E27FC236}">
                <a16:creationId xmlns:a16="http://schemas.microsoft.com/office/drawing/2014/main" id="{D1A1BDC3-8E1D-49A1-A725-4606EE47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87368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4" name="Google Shape;1074;p33">
            <a:extLst xmlns:a="http://schemas.openxmlformats.org/drawingml/2006/main">
              <a:ext uri="{FF2B5EF4-FFF2-40B4-BE49-F238E27FC236}">
                <a16:creationId xmlns:a16="http://schemas.microsoft.com/office/drawing/2014/main" id="{F8B3FD55-EE33-409B-BDB2-46CCA2E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87368"/>
            <a:ext cx="496633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5" name="Google Shape;1075;p33">
            <a:extLst xmlns:a="http://schemas.openxmlformats.org/drawingml/2006/main">
              <a:ext uri="{FF2B5EF4-FFF2-40B4-BE49-F238E27FC236}">
                <a16:creationId xmlns:a16="http://schemas.microsoft.com/office/drawing/2014/main" id="{018E5E61-22C4-4A7B-82AA-1807BC2E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185" y="4059935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11</a:t>
            </a:r>
            <a:endParaRPr/>
          </a:p>
        </p:txBody>
      </p:sp>
      <p:sp>
        <p:nvSpPr>
          <p:cNvPr id="1076" name="Google Shape;1076;p33">
            <a:extLst xmlns:a="http://schemas.openxmlformats.org/drawingml/2006/main">
              <a:ext uri="{FF2B5EF4-FFF2-40B4-BE49-F238E27FC236}">
                <a16:creationId xmlns:a16="http://schemas.microsoft.com/office/drawing/2014/main" id="{3B062FE4-FA7D-4F28-9449-77F8F7C5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7408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maintainability</a:t>
            </a:r>
            <a:endParaRPr/>
          </a:p>
        </p:txBody>
      </p:sp>
      <p:sp>
        <p:nvSpPr>
          <p:cNvPr id="1077" name="Google Shape;1077;p33">
            <a:extLst xmlns:a="http://schemas.openxmlformats.org/drawingml/2006/main">
              <a:ext uri="{FF2B5EF4-FFF2-40B4-BE49-F238E27FC236}">
                <a16:creationId xmlns:a16="http://schemas.microsoft.com/office/drawing/2014/main" id="{1490A3D6-6846-4859-90FF-DF04E5A7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25696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8" name="Google Shape;1078;p33">
            <a:extLst xmlns:a="http://schemas.openxmlformats.org/drawingml/2006/main">
              <a:ext uri="{FF2B5EF4-FFF2-40B4-BE49-F238E27FC236}">
                <a16:creationId xmlns:a16="http://schemas.microsoft.com/office/drawing/2014/main" id="{3899B949-871B-4914-B73E-15AD9A3D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25696"/>
            <a:ext cx="496633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9" name="Google Shape;1079;p33">
            <a:extLst xmlns:a="http://schemas.openxmlformats.org/drawingml/2006/main">
              <a:ext uri="{FF2B5EF4-FFF2-40B4-BE49-F238E27FC236}">
                <a16:creationId xmlns:a16="http://schemas.microsoft.com/office/drawing/2014/main" id="{7374E1A5-10FE-4B43-8507-AFDB6711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185" y="4398264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11</a:t>
            </a:r>
            <a:endParaRPr/>
          </a:p>
        </p:txBody>
      </p:sp>
      <p:sp>
        <p:nvSpPr>
          <p:cNvPr id="1080" name="Google Shape;1080;p33">
            <a:extLst xmlns:a="http://schemas.openxmlformats.org/drawingml/2006/main">
              <a:ext uri="{FF2B5EF4-FFF2-40B4-BE49-F238E27FC236}">
                <a16:creationId xmlns:a16="http://schemas.microsoft.com/office/drawing/2014/main" id="{CCAC9266-ED15-4BCD-A0C0-3F6A9CE6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5736"/>
            <a:ext cx="1243584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>
                <a:solidFill>
                  <a:srgbClr val="172533"/>
                </a:solidFill>
                <a:latin typeface="Arial"/>
                <a:ea typeface="Arial"/>
                <a:cs typeface="Arial"/>
              </a:rPr>
              <a:t>performance</a:t>
            </a:r>
            <a:endParaRPr/>
          </a:p>
        </p:txBody>
      </p:sp>
      <p:sp>
        <p:nvSpPr>
          <p:cNvPr id="1081" name="Google Shape;1081;p33">
            <a:extLst xmlns:a="http://schemas.openxmlformats.org/drawingml/2006/main">
              <a:ext uri="{FF2B5EF4-FFF2-40B4-BE49-F238E27FC236}">
                <a16:creationId xmlns:a16="http://schemas.microsoft.com/office/drawing/2014/main" id="{82B3AB5E-F896-47AA-95B9-E024CA18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64024"/>
            <a:ext cx="36118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2" name="Google Shape;1082;p33">
            <a:extLst xmlns:a="http://schemas.openxmlformats.org/drawingml/2006/main">
              <a:ext uri="{FF2B5EF4-FFF2-40B4-BE49-F238E27FC236}">
                <a16:creationId xmlns:a16="http://schemas.microsoft.com/office/drawing/2014/main" id="{1AB92377-7ABF-460E-8649-38E05259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64024"/>
            <a:ext cx="406336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3" name="Google Shape;1083;p33">
            <a:extLst xmlns:a="http://schemas.openxmlformats.org/drawingml/2006/main">
              <a:ext uri="{FF2B5EF4-FFF2-40B4-BE49-F238E27FC236}">
                <a16:creationId xmlns:a16="http://schemas.microsoft.com/office/drawing/2014/main" id="{101C1129-D582-49E5-A24D-B5D6BD3C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6888" y="4736592"/>
            <a:ext cx="38404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9</a:t>
            </a:r>
            <a:endParaRPr/>
          </a:p>
        </p:txBody>
      </p:sp>
      <p:sp>
        <p:nvSpPr>
          <p:cNvPr id="1084" name="Google Shape;1084;p33">
            <a:extLst xmlns:a="http://schemas.openxmlformats.org/drawingml/2006/main">
              <a:ext uri="{FF2B5EF4-FFF2-40B4-BE49-F238E27FC236}">
                <a16:creationId xmlns:a16="http://schemas.microsoft.com/office/drawing/2014/main" id="{93B0A1FE-2AF5-4AAF-B662-D3B21CC4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12080"/>
            <a:ext cx="12344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>
                <a:solidFill>
                  <a:srgbClr val="5D7083"/>
                </a:solidFill>
                <a:latin typeface="Arial"/>
                <a:ea typeface="Arial"/>
                <a:cs typeface="Arial"/>
              </a:rPr>
              <a:t>papers mentioning goal</a:t>
            </a:r>
            <a:endParaRPr/>
          </a:p>
        </p:txBody>
      </p:sp>
      <p:sp>
        <p:nvSpPr>
          <p:cNvPr id="1085" name="Google Shape;1085;p33">
            <a:extLst xmlns:a="http://schemas.openxmlformats.org/drawingml/2006/main">
              <a:ext uri="{FF2B5EF4-FFF2-40B4-BE49-F238E27FC236}">
                <a16:creationId xmlns:a16="http://schemas.microsoft.com/office/drawing/2014/main" id="{DE0B0E0E-9434-4CA3-B4B1-F2A3ECC0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413248"/>
            <a:ext cx="402336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>
                <a:solidFill>
                  <a:srgbClr val="5D7083"/>
                </a:solidFill>
                <a:latin typeface="Arial"/>
                <a:ea typeface="Arial"/>
                <a:cs typeface="Arial"/>
              </a:rPr>
              <a:t>SE4AI quality goals reference</a:t>
            </a:r>
            <a:endParaRPr/>
          </a:p>
        </p:txBody>
      </p:sp>
      <p:sp>
        <p:nvSpPr>
          <p:cNvPr id="1086" name="Google Shape;1086;p33">
            <a:extLst xmlns:a="http://schemas.openxmlformats.org/drawingml/2006/main">
              <a:ext uri="{FF2B5EF4-FFF2-40B4-BE49-F238E27FC236}">
                <a16:creationId xmlns:a16="http://schemas.microsoft.com/office/drawing/2014/main" id="{A2BA8BE1-BB4C-470C-B758-E4020627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91640"/>
            <a:ext cx="34747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COURSE MANTRA</a:t>
            </a:r>
            <a:endParaRPr/>
          </a:p>
        </p:txBody>
      </p:sp>
      <p:sp>
        <p:nvSpPr>
          <p:cNvPr id="1087" name="Google Shape;1087;p33">
            <a:extLst xmlns:a="http://schemas.openxmlformats.org/drawingml/2006/main">
              <a:ext uri="{FF2B5EF4-FFF2-40B4-BE49-F238E27FC236}">
                <a16:creationId xmlns:a16="http://schemas.microsoft.com/office/drawing/2014/main" id="{5EA687B4-8D09-47BE-866C-B17DF40C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148840"/>
            <a:ext cx="452628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2A6FC5"/>
                </a:solidFill>
                <a:latin typeface="Arial"/>
                <a:ea typeface="Arial"/>
                <a:cs typeface="Arial"/>
              </a:rPr>
              <a:t>Model quality</a:t>
            </a:r>
            <a:endParaRPr/>
          </a:p>
        </p:txBody>
      </p:sp>
      <p:sp>
        <p:nvSpPr>
          <p:cNvPr id="1088" name="Google Shape;1088;p33">
            <a:extLst xmlns:a="http://schemas.openxmlformats.org/drawingml/2006/main">
              <a:ext uri="{FF2B5EF4-FFF2-40B4-BE49-F238E27FC236}">
                <a16:creationId xmlns:a16="http://schemas.microsoft.com/office/drawing/2014/main" id="{D6C8D5E3-482E-45A6-9435-0FF99710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88336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172533"/>
                </a:solidFill>
                <a:latin typeface="Arial"/>
                <a:ea typeface="Arial"/>
                <a:cs typeface="Arial"/>
              </a:rPr>
              <a:t>is not system quality.</a:t>
            </a:r>
            <a:endParaRPr/>
          </a:p>
        </p:txBody>
      </p:sp>
      <p:sp>
        <p:nvSpPr>
          <p:cNvPr id="1089" name="Google Shape;1089;p33">
            <a:extLst xmlns:a="http://schemas.openxmlformats.org/drawingml/2006/main">
              <a:ext uri="{FF2B5EF4-FFF2-40B4-BE49-F238E27FC236}">
                <a16:creationId xmlns:a16="http://schemas.microsoft.com/office/drawing/2014/main" id="{159E9F8C-8F44-45ED-B584-80DB64F5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547872"/>
            <a:ext cx="4617720" cy="11887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CCD5D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0" name="Google Shape;1090;p33">
            <a:extLst xmlns:a="http://schemas.openxmlformats.org/drawingml/2006/main">
              <a:ext uri="{FF2B5EF4-FFF2-40B4-BE49-F238E27FC236}">
                <a16:creationId xmlns:a16="http://schemas.microsoft.com/office/drawing/2014/main" id="{3C7F969E-CD9E-43FE-BC5A-D48D3F2B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3749039"/>
            <a:ext cx="4078224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20" b="1">
                <a:solidFill>
                  <a:srgbClr val="172533"/>
                </a:solidFill>
                <a:latin typeface="Arial"/>
                <a:ea typeface="Arial"/>
                <a:cs typeface="Arial"/>
              </a:rPr>
              <a:t>The chart reports frequency in reviewed papers—not an importance ranking.</a:t>
            </a:r>
            <a:endParaRPr/>
          </a:p>
        </p:txBody>
      </p:sp>
      <p:sp>
        <p:nvSpPr>
          <p:cNvPr id="1091" name="Google Shape;1091;p33">
            <a:extLst xmlns:a="http://schemas.openxmlformats.org/drawingml/2006/main">
              <a:ext uri="{FF2B5EF4-FFF2-40B4-BE49-F238E27FC236}">
                <a16:creationId xmlns:a16="http://schemas.microsoft.com/office/drawing/2014/main" id="{330EE203-2DC7-4D5A-9162-FBA6E544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10469880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25" cmpd="sng">
            <a:solidFill>
              <a:srgbClr val="1E4F9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2" name="Google Shape;1092;p33">
            <a:extLst xmlns:a="http://schemas.openxmlformats.org/drawingml/2006/main">
              <a:ext uri="{FF2B5EF4-FFF2-40B4-BE49-F238E27FC236}">
                <a16:creationId xmlns:a16="http://schemas.microsoft.com/office/drawing/2014/main" id="{D432992C-BF68-4F79-A2F9-BD5A5709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79008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9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3" name="Google Shape;1093;p33">
            <a:extLst xmlns:a="http://schemas.openxmlformats.org/drawingml/2006/main">
              <a:ext uri="{FF2B5EF4-FFF2-40B4-BE49-F238E27FC236}">
                <a16:creationId xmlns:a16="http://schemas.microsoft.com/office/drawing/2014/main" id="{E3F9C3B1-0DFF-4E4F-A6E3-34BA17FB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715000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Accuracy is one system-quality concern, not the whole quality argument.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6573994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Google Shape;16;p3"/>
          <p:cNvCxnSpPr/>
          <p:nvPr/>
        </p:nvCxnSpPr>
        <p:spPr>
          <a:xfrm xmlns:a="http://schemas.openxmlformats.org/drawingml/2006/main">
            <a:off x="841248" y="749808"/>
            <a:ext cx="2221992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rgbClr val="1E4F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DFEFB5DB-8FEE-4D5D-9231-C9D81979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060704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150"/>
              <a:buFont typeface="Arial"/>
              <a:buNone/>
            </a:pPr>
            <a:r>
              <a:rPr sz="115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SUMMARY</a:t>
            </a:r>
            <a:endParaRPr sz="11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6AFED890-BF9D-475B-9CA6-5DF5897A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9052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Lecture 1</a:t>
            </a:r>
          </a:p>
          <a:p xmlns:a="http://schemas.openxmlformats.org/drawingml/2006/main">
            <a:pPr algn="l">
              <a:buNone/>
            </a:pPr>
            <a:r>
              <a:rPr sz="320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Summary</a:t>
            </a: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BBADEEEA-7586-4FD9-9BC9-CB71A884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07792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SYSTEM VIEW</a:t>
            </a:r>
            <a:endParaRPr sz="14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FF577538-C48D-437B-9582-262AD434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101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120"/>
              <a:buFont typeface="Arial"/>
              <a:buNone/>
            </a:pPr>
            <a:r>
              <a:rPr sz="112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An AI product is a software system, not only a trained model.</a:t>
            </a:r>
            <a:endParaRPr sz="112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273B32A6-0926-42AC-A490-F440B240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639312"/>
            <a:ext cx="65836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60"/>
              <a:buFont typeface="Arial"/>
              <a:buNone/>
            </a:pPr>
            <a:r>
              <a:rPr sz="1060" b="0" i="0" u="none" cap="none">
                <a:solidFill>
                  <a:srgbClr val="5D7083"/>
                </a:solidFill>
                <a:latin typeface="Arial"/>
                <a:ea typeface="Arial"/>
                <a:cs typeface="Arial"/>
              </a:rPr>
              <a:t>Trust comes from linked evidence across data, development, serving, and monitoring.</a:t>
            </a:r>
            <a:endParaRPr sz="106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6BE8BFD2-493E-46AE-A990-14C6E73A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10912"/>
            <a:ext cx="713232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1450"/>
              <a:buFont typeface="Arial"/>
              <a:buNone/>
            </a:pPr>
            <a:r>
              <a:rPr sz="1450" b="1" i="0" u="none" cap="none">
                <a:solidFill>
                  <a:srgbClr val="1E4F91"/>
                </a:solidFill>
                <a:latin typeface="Arial"/>
                <a:ea typeface="Arial"/>
                <a:cs typeface="Arial"/>
              </a:rPr>
              <a:t>A model can be accurate—and the system can still fail.</a:t>
            </a:r>
            <a:endParaRPr sz="145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7D77A62F-917F-4D7B-80DA-1662058F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6768" y="786384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CCD5DF"/>
              </a:buClr>
              <a:buSzPts val="1700"/>
              <a:buFont typeface="Arial"/>
              <a:buNone/>
            </a:pPr>
            <a:r>
              <a:rPr sz="1700" b="1" i="0" u="none" cap="none">
                <a:solidFill>
                  <a:srgbClr val="CCD5DF"/>
                </a:solidFill>
                <a:latin typeface="Arial"/>
                <a:ea typeface="Arial"/>
                <a:cs typeface="Arial"/>
              </a:rPr>
              <a:t>22</a:t>
            </a:r>
            <a:endParaRPr sz="17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512910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4" name="Google Shape;1104;p35">
            <a:extLst xmlns:a="http://schemas.openxmlformats.org/drawingml/2006/main">
              <a:ext uri="{FF2B5EF4-FFF2-40B4-BE49-F238E27FC236}">
                <a16:creationId xmlns:a16="http://schemas.microsoft.com/office/drawing/2014/main" id="{EF1237DB-FF7B-40AB-B9B0-006260CB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6888"/>
            <a:ext cx="438912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830"/>
              <a:buFont typeface="Arial"/>
              <a:buNone/>
            </a:pPr>
            <a:r>
              <a:rPr sz="83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BRIDGE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5" name="Google Shape;1105;p35">
            <a:extLst xmlns:a="http://schemas.openxmlformats.org/drawingml/2006/main">
              <a:ext uri="{FF2B5EF4-FFF2-40B4-BE49-F238E27FC236}">
                <a16:creationId xmlns:a16="http://schemas.microsoft.com/office/drawing/2014/main" id="{0024FEA6-B862-440A-BC79-2D95A8D3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30352"/>
            <a:ext cx="8778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72533"/>
              </a:buClr>
              <a:buSzPts val="2450"/>
              <a:buFont typeface="Play"/>
              <a:buNone/>
            </a:pPr>
            <a:r>
              <a:rPr sz="2450" b="1">
                <a:solidFill>
                  <a:srgbClr val="172533"/>
                </a:solidFill>
                <a:latin typeface="Play"/>
                <a:ea typeface="Play"/>
                <a:cs typeface="Play"/>
              </a:rPr>
              <a:t>Next Lecture</a:t>
            </a:r>
            <a:endParaRPr sz="245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43" name="Google Shape;1106;p35"/>
          <p:cNvCxnSpPr/>
          <p:nvPr/>
        </p:nvCxnSpPr>
        <p:spPr>
          <a:xfrm xmlns:a="http://schemas.openxmlformats.org/drawingml/2006/main">
            <a:off x="566928" y="1124712"/>
            <a:ext cx="10515600" cy="0"/>
          </a:xfrm>
          <a:prstGeom xmlns:a="http://schemas.openxmlformats.org/drawingml/2006/main" prst="straightConnector1">
            <a:avLst/>
          </a:prstGeom>
          <a:ln xmlns:a="http://schemas.openxmlformats.org/drawingml/2006/main" w="101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07" name="Google Shape;1107;p35">
            <a:extLst xmlns:a="http://schemas.openxmlformats.org/drawingml/2006/main">
              <a:ext uri="{FF2B5EF4-FFF2-40B4-BE49-F238E27FC236}">
                <a16:creationId xmlns:a16="http://schemas.microsoft.com/office/drawing/2014/main" id="{69F1169F-DD18-4507-A61E-C80E4245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73952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Lecture 1 | 23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8" name="Google Shape;1108;p35">
            <a:extLst xmlns:a="http://schemas.openxmlformats.org/drawingml/2006/main">
              <a:ext uri="{FF2B5EF4-FFF2-40B4-BE49-F238E27FC236}">
                <a16:creationId xmlns:a16="http://schemas.microsoft.com/office/drawing/2014/main" id="{5EE3283D-D1D2-4A48-A61D-334D34E4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473952"/>
            <a:ext cx="32004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720"/>
              <a:buFont typeface="Arial"/>
              <a:buNone/>
            </a:pPr>
            <a:r>
              <a:rPr sz="720">
                <a:solidFill>
                  <a:srgbClr val="5D7083"/>
                </a:solidFill>
                <a:latin typeface="Arial"/>
                <a:ea typeface="Arial"/>
                <a:cs typeface="Arial"/>
              </a:rPr>
              <a:t>AI Implementation Technologies</a:t>
            </a:r>
            <a:endParaRPr sz="7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9" name="Google Shape;1109;p35">
            <a:extLst xmlns:a="http://schemas.openxmlformats.org/drawingml/2006/main">
              <a:ext uri="{FF2B5EF4-FFF2-40B4-BE49-F238E27FC236}">
                <a16:creationId xmlns:a16="http://schemas.microsoft.com/office/drawing/2014/main" id="{482B9D87-37FB-49C5-8ADB-B5DE4B58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920240"/>
            <a:ext cx="854964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1E4F91"/>
              </a:buClr>
              <a:buSzPts val="2100"/>
              <a:buFont typeface="Arial"/>
              <a:buNone/>
            </a:pPr>
            <a:r>
              <a:rPr sz="2100" b="1">
                <a:solidFill>
                  <a:srgbClr val="1E4F91"/>
                </a:solidFill>
                <a:latin typeface="Arial"/>
                <a:ea typeface="Arial"/>
                <a:cs typeface="Arial"/>
              </a:rPr>
              <a:t>Next: ML Lifecycle and Pipeline Artifacts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47" name="Google Shape;1110;p35"/>
          <p:cNvCxnSpPr/>
          <p:nvPr/>
        </p:nvCxnSpPr>
        <p:spPr>
          <a:xfrm xmlns:a="http://schemas.openxmlformats.org/drawingml/2006/main">
            <a:off x="2057400" y="3090672"/>
            <a:ext cx="8092440" cy="0"/>
          </a:xfrm>
          <a:prstGeom xmlns:a="http://schemas.openxmlformats.org/drawingml/2006/main" prst="straightConnector1">
            <a:avLst/>
          </a:prstGeom>
          <a:ln xmlns:a="http://schemas.openxmlformats.org/drawingml/2006/main" w="13950" cap="flat">
            <a:solidFill>
              <a:srgbClr val="CCD5D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11" name="Google Shape;1111;p35">
            <a:extLst xmlns:a="http://schemas.openxmlformats.org/drawingml/2006/main">
              <a:ext uri="{FF2B5EF4-FFF2-40B4-BE49-F238E27FC236}">
                <a16:creationId xmlns:a16="http://schemas.microsoft.com/office/drawing/2014/main" id="{BA250321-86FF-461A-8275-60DDFEE9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108" y="304038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6FC5"/>
          </a:solidFill>
          <a:ln xmlns:a="http://schemas.openxmlformats.org/drawingml/2006/main" w="11425" cmpd="sng">
            <a:solidFill>
              <a:srgbClr val="2A6FC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5">
            <a:extLst xmlns:a="http://schemas.openxmlformats.org/drawingml/2006/main">
              <a:ext uri="{FF2B5EF4-FFF2-40B4-BE49-F238E27FC236}">
                <a16:creationId xmlns:a16="http://schemas.microsoft.com/office/drawing/2014/main" id="{9A56D2BA-336B-4C48-BE58-31183FF5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236976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2A6FC5"/>
              </a:buClr>
              <a:buSzPts val="820"/>
              <a:buFont typeface="Arial"/>
              <a:buNone/>
            </a:pPr>
            <a:r>
              <a:rPr sz="820" b="1">
                <a:solidFill>
                  <a:srgbClr val="2A6FC5"/>
                </a:solidFill>
                <a:latin typeface="Arial"/>
                <a:ea typeface="Arial"/>
                <a:cs typeface="Arial"/>
              </a:rPr>
              <a:t>system view</a:t>
            </a:r>
            <a:endParaRPr sz="8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3" name="Google Shape;1113;p35">
            <a:extLst xmlns:a="http://schemas.openxmlformats.org/drawingml/2006/main">
              <a:ext uri="{FF2B5EF4-FFF2-40B4-BE49-F238E27FC236}">
                <a16:creationId xmlns:a16="http://schemas.microsoft.com/office/drawing/2014/main" id="{3BDEAC5C-5E0B-4340-8946-DB120793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588" y="304038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4" name="Google Shape;1114;p35">
            <a:extLst xmlns:a="http://schemas.openxmlformats.org/drawingml/2006/main">
              <a:ext uri="{FF2B5EF4-FFF2-40B4-BE49-F238E27FC236}">
                <a16:creationId xmlns:a16="http://schemas.microsoft.com/office/drawing/2014/main" id="{ADB060F2-FE47-4B28-8DB5-65924EC3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236976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20"/>
              <a:buFont typeface="Arial"/>
              <a:buNone/>
            </a:pPr>
            <a:r>
              <a:rPr sz="820">
                <a:solidFill>
                  <a:srgbClr val="5D7083"/>
                </a:solidFill>
                <a:latin typeface="Arial"/>
                <a:ea typeface="Arial"/>
                <a:cs typeface="Arial"/>
              </a:rPr>
              <a:t>explicit pipeline</a:t>
            </a:r>
            <a:endParaRPr sz="8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5" name="Google Shape;1115;p35">
            <a:extLst xmlns:a="http://schemas.openxmlformats.org/drawingml/2006/main">
              <a:ext uri="{FF2B5EF4-FFF2-40B4-BE49-F238E27FC236}">
                <a16:creationId xmlns:a16="http://schemas.microsoft.com/office/drawing/2014/main" id="{1DAA0524-8F87-4B60-864C-B5636B07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068" y="304038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5">
            <a:extLst xmlns:a="http://schemas.openxmlformats.org/drawingml/2006/main">
              <a:ext uri="{FF2B5EF4-FFF2-40B4-BE49-F238E27FC236}">
                <a16:creationId xmlns:a16="http://schemas.microsoft.com/office/drawing/2014/main" id="{37BE3345-219C-4DB7-BCFC-E7EFBF63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236976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20"/>
              <a:buFont typeface="Arial"/>
              <a:buNone/>
            </a:pPr>
            <a:r>
              <a:rPr sz="820">
                <a:solidFill>
                  <a:srgbClr val="5D7083"/>
                </a:solidFill>
                <a:latin typeface="Arial"/>
                <a:ea typeface="Arial"/>
                <a:cs typeface="Arial"/>
              </a:rPr>
              <a:t>artifacts</a:t>
            </a:r>
            <a:endParaRPr sz="8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7" name="Google Shape;1117;p35">
            <a:extLst xmlns:a="http://schemas.openxmlformats.org/drawingml/2006/main">
              <a:ext uri="{FF2B5EF4-FFF2-40B4-BE49-F238E27FC236}">
                <a16:creationId xmlns:a16="http://schemas.microsoft.com/office/drawing/2014/main" id="{2FA45AEB-D05A-4E5D-9309-843755B8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9548" y="304038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25" cmpd="sng">
            <a:solidFill>
              <a:srgbClr val="5D708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35">
            <a:extLst xmlns:a="http://schemas.openxmlformats.org/drawingml/2006/main">
              <a:ext uri="{FF2B5EF4-FFF2-40B4-BE49-F238E27FC236}">
                <a16:creationId xmlns:a16="http://schemas.microsoft.com/office/drawing/2014/main" id="{89669E52-D866-4432-9AB2-F76C1EEF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236976"/>
            <a:ext cx="877824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820"/>
              <a:buFont typeface="Arial"/>
              <a:buNone/>
            </a:pPr>
            <a:r>
              <a:rPr sz="820">
                <a:solidFill>
                  <a:srgbClr val="5D7083"/>
                </a:solidFill>
                <a:latin typeface="Arial"/>
                <a:ea typeface="Arial"/>
                <a:cs typeface="Arial"/>
              </a:rPr>
              <a:t>reproducible run</a:t>
            </a:r>
            <a:endParaRPr sz="82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9" name="Google Shape;1119;p35">
            <a:extLst xmlns:a="http://schemas.openxmlformats.org/drawingml/2006/main">
              <a:ext uri="{FF2B5EF4-FFF2-40B4-BE49-F238E27FC236}">
                <a16:creationId xmlns:a16="http://schemas.microsoft.com/office/drawing/2014/main" id="{4F8131E8-8752-4557-9EF7-EFF9DF69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42432"/>
            <a:ext cx="9921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5D7083"/>
              </a:buClr>
              <a:buSzPts val="1030"/>
              <a:buFont typeface="Arial"/>
              <a:buNone/>
            </a:pPr>
            <a:r>
              <a:rPr sz="1030" b="1">
                <a:solidFill>
                  <a:srgbClr val="5D7083"/>
                </a:solidFill>
                <a:latin typeface="Arial"/>
                <a:ea typeface="Arial"/>
                <a:cs typeface="Arial"/>
              </a:rPr>
              <a:t>We move from notebook experiments to reproducible, testable AI pipelines.</a:t>
            </a:r>
            <a:endParaRPr sz="103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4540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2026-08-31T09:16:14.1390000Z</dcterms:created>
  <dcterms:modified xsi:type="dcterms:W3CDTF">2026-08-31T09:16:14.1390000Z</dcterms:modified>
</coreProperties>
</file>