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embeddedFontLst>
    <p:embeddedFont>
      <p:font typeface="Play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lay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6" name="Google Shape;28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36" name="Google Shape;3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65" name="Google Shape;36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20" name="Google Shape;42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0" name="Google Shape;47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04" name="Google Shape;50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43" name="Google Shape;54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1" name="Google Shape;57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72" name="Google Shape;57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01" name="Google Shape;60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35" name="Google Shape;63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8" name="Google Shape;67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79" name="Google Shape;67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8" name="Google Shape;69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99" name="Google Shape;69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2" name="Google Shape;72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23" name="Google Shape;72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83" name="Google Shape;78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1" name="Google Shape;791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92" name="Google Shape;792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drive.google.com/file/d/1obRDyyOYyR4BlLlFDUZh57wzu9yJGVE-/view" TargetMode="External"/><Relationship Id="rId4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841248" y="749808"/>
            <a:ext cx="2221992" cy="0"/>
          </a:xfrm>
          <a:prstGeom prst="straightConnector1">
            <a:avLst/>
          </a:prstGeom>
          <a:noFill/>
          <a:ln cap="flat" cmpd="sng" w="2540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/>
          <p:nvPr/>
        </p:nvSpPr>
        <p:spPr>
          <a:xfrm>
            <a:off x="841248" y="106070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50"/>
              <a:buFont typeface="Arial"/>
              <a:buNone/>
            </a:pPr>
            <a:r>
              <a:rPr b="1" i="0" lang="en-US" sz="115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LECTURE 1</a:t>
            </a:r>
            <a:endParaRPr b="0" i="0" sz="11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1554480"/>
            <a:ext cx="9052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3100"/>
              <a:buFont typeface="Play"/>
              <a:buNone/>
            </a:pPr>
            <a:r>
              <a:rPr b="1" i="0" lang="en-US" sz="310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AI-Based Software Systems</a:t>
            </a:r>
            <a:endParaRPr b="0" i="0" sz="3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3100"/>
              <a:buFont typeface="Play"/>
              <a:buNone/>
            </a:pPr>
            <a:r>
              <a:rPr b="1" i="0" lang="en-US" sz="310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and the MLOps Lifecycle</a:t>
            </a:r>
            <a:endParaRPr b="0" i="0" sz="3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59536" y="29077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14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59536" y="331012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120"/>
              <a:buFont typeface="Arial"/>
              <a:buNone/>
            </a:pPr>
            <a:r>
              <a:rPr b="0" i="0" lang="en-US" sz="11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Senior Lecturer • AI &amp; Computer Vision</a:t>
            </a:r>
            <a:endParaRPr b="0" i="0" sz="11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59536" y="3639312"/>
            <a:ext cx="6583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60"/>
              <a:buFont typeface="Arial"/>
              <a:buNone/>
            </a:pPr>
            <a:r>
              <a:rPr b="0" i="0" lang="en-US" sz="106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4th-year university course | Production AI systems engineering</a:t>
            </a:r>
            <a:endParaRPr b="0" i="0" sz="10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59536" y="5010912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450"/>
              <a:buFont typeface="Arial"/>
              <a:buNone/>
            </a:pPr>
            <a:r>
              <a:rPr b="1" i="0" lang="en-US" sz="145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From trained models to reliable software systems.</a:t>
            </a:r>
            <a:endParaRPr b="0" i="0" sz="1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0716768" y="78638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D5DF"/>
              </a:buClr>
              <a:buSzPts val="1700"/>
              <a:buFont typeface="Arial"/>
              <a:buNone/>
            </a:pPr>
            <a:r>
              <a:rPr b="1" i="0" lang="en-US" sz="1700" u="none" cap="none">
                <a:solidFill>
                  <a:srgbClr val="CCD5D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7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What This Course Is About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02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14400" y="166420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380"/>
              <a:buFont typeface="Arial"/>
              <a:buNone/>
            </a:pPr>
            <a:r>
              <a:rPr b="1" i="0" lang="en-US" sz="138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The course starts after two things are already familiar:</a:t>
            </a:r>
            <a:endParaRPr b="0" i="0" sz="13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914400" y="2212848"/>
            <a:ext cx="10012680" cy="0"/>
          </a:xfrm>
          <a:prstGeom prst="straightConnector1">
            <a:avLst/>
          </a:prstGeom>
          <a:noFill/>
          <a:ln cap="flat" cmpd="sng" w="1395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914400" y="2359152"/>
            <a:ext cx="311261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Software foundations</a:t>
            </a:r>
            <a:endParaRPr b="0" i="0" sz="1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255618" y="2359152"/>
            <a:ext cx="66714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140"/>
              <a:buFont typeface="Arial"/>
              <a:buNone/>
            </a:pPr>
            <a:r>
              <a:rPr b="0" i="0" lang="en-US" sz="114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repositories, APIs, containers, tests, CI/CD</a:t>
            </a:r>
            <a:endParaRPr b="0" i="0" sz="11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914400" y="2944368"/>
            <a:ext cx="1001268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914400" y="3017520"/>
            <a:ext cx="311261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Model foundations</a:t>
            </a:r>
            <a:endParaRPr b="0" i="0" sz="1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255618" y="3017520"/>
            <a:ext cx="66714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140"/>
              <a:buFont typeface="Arial"/>
              <a:buNone/>
            </a:pPr>
            <a:r>
              <a:rPr b="0" i="0" lang="en-US" sz="114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training, metrics, datasets, CNNs, detection models</a:t>
            </a:r>
            <a:endParaRPr b="0" i="0" sz="11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914400" y="3602736"/>
            <a:ext cx="1001268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4"/>
          <p:cNvSpPr/>
          <p:nvPr/>
        </p:nvSpPr>
        <p:spPr>
          <a:xfrm>
            <a:off x="914400" y="3675888"/>
            <a:ext cx="311261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This course</a:t>
            </a:r>
            <a:endParaRPr b="0" i="0" sz="10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255618" y="3675888"/>
            <a:ext cx="66714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140"/>
              <a:buFont typeface="Arial"/>
              <a:buNone/>
            </a:pPr>
            <a:r>
              <a:rPr b="0" i="0" lang="en-US" sz="114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contracts, evidence, serving, monitoring, release decisions</a:t>
            </a:r>
            <a:endParaRPr b="0" i="0" sz="11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4"/>
          <p:cNvCxnSpPr/>
          <p:nvPr/>
        </p:nvCxnSpPr>
        <p:spPr>
          <a:xfrm>
            <a:off x="914400" y="4261104"/>
            <a:ext cx="1001268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4"/>
          <p:cNvSpPr/>
          <p:nvPr/>
        </p:nvSpPr>
        <p:spPr>
          <a:xfrm>
            <a:off x="1143000" y="5742432"/>
            <a:ext cx="9921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30"/>
              <a:buFont typeface="Arial"/>
              <a:buNone/>
            </a:pPr>
            <a:r>
              <a:rPr b="1" i="0" lang="en-US" sz="103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We use these foundations; we do not reteach them. The target is production evidence.</a:t>
            </a:r>
            <a:endParaRPr b="0" i="0" sz="10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The Main Shift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5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03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051560" y="1664208"/>
            <a:ext cx="9966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The engineering question changes because part of the behavior is learned.</a:t>
            </a:r>
            <a:endParaRPr b="0" i="0" sz="14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1234440" y="2414016"/>
            <a:ext cx="9738360" cy="0"/>
          </a:xfrm>
          <a:prstGeom prst="straightConnector1">
            <a:avLst/>
          </a:prstGeom>
          <a:noFill/>
          <a:ln cap="flat" cmpd="sng" w="1395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1234440" y="2560320"/>
            <a:ext cx="3024835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100"/>
              <a:buFont typeface="Arial"/>
              <a:buNone/>
            </a:pPr>
            <a:r>
              <a:rPr b="1" i="0" lang="en-US" sz="110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Deterministic software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487875" y="2560320"/>
            <a:ext cx="64849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200"/>
              <a:buFont typeface="Arial"/>
              <a:buNone/>
            </a:pPr>
            <a:r>
              <a:rPr b="0" i="0" lang="en-US" sz="12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Did the code implement the expected behavior?</a:t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1234440" y="3355848"/>
            <a:ext cx="973836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/>
          <p:nvPr/>
        </p:nvSpPr>
        <p:spPr>
          <a:xfrm>
            <a:off x="1234440" y="3429000"/>
            <a:ext cx="3024835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1100"/>
              <a:buFont typeface="Arial"/>
              <a:buNone/>
            </a:pPr>
            <a:r>
              <a:rPr b="1" i="0" lang="en-US" sz="11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Production AI system</a:t>
            </a:r>
            <a:endParaRPr b="0" i="0" sz="11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487875" y="3429000"/>
            <a:ext cx="64849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200"/>
              <a:buFont typeface="Arial"/>
              <a:buNone/>
            </a:pPr>
            <a:r>
              <a:rPr b="0" i="0" lang="en-US" sz="12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Is learned behavior still acceptable under changing data, users, models, and environments?</a:t>
            </a:r>
            <a:endParaRPr b="0" i="0" sz="12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5"/>
          <p:cNvCxnSpPr/>
          <p:nvPr/>
        </p:nvCxnSpPr>
        <p:spPr>
          <a:xfrm>
            <a:off x="1234440" y="4224528"/>
            <a:ext cx="973836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5"/>
          <p:cNvSpPr/>
          <p:nvPr/>
        </p:nvSpPr>
        <p:spPr>
          <a:xfrm>
            <a:off x="1097280" y="5650992"/>
            <a:ext cx="100126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" name="Google Shape;65;p5"/>
          <p:cNvSpPr/>
          <p:nvPr/>
        </p:nvSpPr>
        <p:spPr>
          <a:xfrm>
            <a:off x="1325880" y="5769864"/>
            <a:ext cx="9555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220"/>
              <a:buFont typeface="Arial"/>
              <a:buNone/>
            </a:pPr>
            <a:r>
              <a:rPr b="1" i="0" lang="en-US" sz="122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The question changes because part of the behavior is learned.</a:t>
            </a:r>
            <a:endParaRPr b="0" i="0" sz="12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530352" y="21945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9"/>
              <a:buFont typeface="Arial"/>
              <a:buNone/>
            </a:pPr>
            <a:r>
              <a:rPr b="1" i="0" lang="en-US" sz="8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PRODUCTION RISK</a:t>
            </a:r>
            <a:endParaRPr sz="1800"/>
          </a:p>
        </p:txBody>
      </p:sp>
      <p:sp>
        <p:nvSpPr>
          <p:cNvPr id="72" name="Google Shape;72;p6"/>
          <p:cNvSpPr/>
          <p:nvPr/>
        </p:nvSpPr>
        <p:spPr>
          <a:xfrm>
            <a:off x="530352" y="49377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Arial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 Green Service Can Hide a Bad Decision</a:t>
            </a:r>
            <a:endParaRPr sz="1800"/>
          </a:p>
        </p:txBody>
      </p:sp>
      <p:cxnSp>
        <p:nvCxnSpPr>
          <p:cNvPr id="73" name="Google Shape;73;p6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4" name="Google Shape;74;p6"/>
          <p:cNvSpPr/>
          <p:nvPr/>
        </p:nvSpPr>
        <p:spPr>
          <a:xfrm>
            <a:off x="530352" y="645566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1800"/>
          </a:p>
        </p:txBody>
      </p:sp>
      <p:sp>
        <p:nvSpPr>
          <p:cNvPr id="75" name="Google Shape;75;p6"/>
          <p:cNvSpPr/>
          <p:nvPr/>
        </p:nvSpPr>
        <p:spPr>
          <a:xfrm>
            <a:off x="10378440" y="64556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04</a:t>
            </a:r>
            <a:endParaRPr sz="1800"/>
          </a:p>
        </p:txBody>
      </p:sp>
      <p:sp>
        <p:nvSpPr>
          <p:cNvPr id="76" name="Google Shape;76;p6"/>
          <p:cNvSpPr/>
          <p:nvPr/>
        </p:nvSpPr>
        <p:spPr>
          <a:xfrm>
            <a:off x="841248" y="1280160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50"/>
              <a:buFont typeface="Arial"/>
              <a:buNone/>
            </a:pPr>
            <a:r>
              <a:rPr b="1" i="0" lang="en-US" sz="14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FireWatch can return HTTP 200 while missed smoke alerts are already increasing.</a:t>
            </a:r>
            <a:endParaRPr sz="1800"/>
          </a:p>
        </p:txBody>
      </p:sp>
      <p:sp>
        <p:nvSpPr>
          <p:cNvPr id="77" name="Google Shape;77;p6"/>
          <p:cNvSpPr/>
          <p:nvPr/>
        </p:nvSpPr>
        <p:spPr>
          <a:xfrm>
            <a:off x="841248" y="1901952"/>
            <a:ext cx="4389120" cy="2286000"/>
          </a:xfrm>
          <a:prstGeom prst="roundRect">
            <a:avLst>
              <a:gd fmla="val 16667" name="adj"/>
            </a:avLst>
          </a:prstGeom>
          <a:solidFill>
            <a:srgbClr val="E8F6EF"/>
          </a:solidFill>
          <a:ln cap="flat" cmpd="sng" w="184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097280" y="2103120"/>
            <a:ext cx="3877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900"/>
              <a:buFont typeface="Arial"/>
              <a:buNone/>
            </a:pPr>
            <a:r>
              <a:rPr b="1" i="0" lang="en-US" sz="90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VISIBLE SERVICE EVIDENCE</a:t>
            </a:r>
            <a:endParaRPr sz="1800"/>
          </a:p>
        </p:txBody>
      </p:sp>
      <p:sp>
        <p:nvSpPr>
          <p:cNvPr id="79" name="Google Shape;79;p6"/>
          <p:cNvSpPr/>
          <p:nvPr/>
        </p:nvSpPr>
        <p:spPr>
          <a:xfrm>
            <a:off x="1188720" y="2606040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100"/>
              <a:buFont typeface="Arial"/>
              <a:buNone/>
            </a:pPr>
            <a:r>
              <a:rPr b="1" i="0" lang="en-US" sz="110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HTTP STATUS</a:t>
            </a:r>
            <a:endParaRPr sz="1800"/>
          </a:p>
        </p:txBody>
      </p:sp>
      <p:sp>
        <p:nvSpPr>
          <p:cNvPr id="80" name="Google Shape;80;p6"/>
          <p:cNvSpPr/>
          <p:nvPr/>
        </p:nvSpPr>
        <p:spPr>
          <a:xfrm>
            <a:off x="3438144" y="2578608"/>
            <a:ext cx="13716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483863" y="2596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900"/>
              <a:buFont typeface="Arial"/>
              <a:buNone/>
            </a:pPr>
            <a:r>
              <a:rPr b="1" i="0" lang="en-US" sz="90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200</a:t>
            </a:r>
            <a:endParaRPr sz="1800"/>
          </a:p>
        </p:txBody>
      </p:sp>
      <p:sp>
        <p:nvSpPr>
          <p:cNvPr id="82" name="Google Shape;82;p6"/>
          <p:cNvSpPr/>
          <p:nvPr/>
        </p:nvSpPr>
        <p:spPr>
          <a:xfrm>
            <a:off x="1188720" y="3127248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100"/>
              <a:buFont typeface="Arial"/>
              <a:buNone/>
            </a:pPr>
            <a:r>
              <a:rPr b="1" i="0" lang="en-US" sz="110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P95 LATENCY</a:t>
            </a:r>
            <a:endParaRPr sz="1800"/>
          </a:p>
        </p:txBody>
      </p:sp>
      <p:sp>
        <p:nvSpPr>
          <p:cNvPr id="83" name="Google Shape;83;p6"/>
          <p:cNvSpPr/>
          <p:nvPr/>
        </p:nvSpPr>
        <p:spPr>
          <a:xfrm>
            <a:off x="3438144" y="3099816"/>
            <a:ext cx="13716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483863" y="311810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900"/>
              <a:buFont typeface="Arial"/>
              <a:buNone/>
            </a:pPr>
            <a:r>
              <a:rPr b="1" i="0" lang="en-US" sz="90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sz="1800"/>
          </a:p>
        </p:txBody>
      </p:sp>
      <p:sp>
        <p:nvSpPr>
          <p:cNvPr id="85" name="Google Shape;85;p6"/>
          <p:cNvSpPr/>
          <p:nvPr/>
        </p:nvSpPr>
        <p:spPr>
          <a:xfrm>
            <a:off x="1188720" y="3648456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100"/>
              <a:buFont typeface="Arial"/>
              <a:buNone/>
            </a:pPr>
            <a:r>
              <a:rPr b="1" i="0" lang="en-US" sz="110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800"/>
          </a:p>
        </p:txBody>
      </p:sp>
      <p:sp>
        <p:nvSpPr>
          <p:cNvPr id="86" name="Google Shape;86;p6"/>
          <p:cNvSpPr/>
          <p:nvPr/>
        </p:nvSpPr>
        <p:spPr>
          <a:xfrm>
            <a:off x="3438144" y="3621024"/>
            <a:ext cx="1371600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483863" y="363931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900"/>
              <a:buFont typeface="Arial"/>
              <a:buNone/>
            </a:pPr>
            <a:r>
              <a:rPr b="1" i="0" lang="en-US" sz="90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endParaRPr sz="1800"/>
          </a:p>
        </p:txBody>
      </p:sp>
      <p:sp>
        <p:nvSpPr>
          <p:cNvPr id="88" name="Google Shape;88;p6"/>
          <p:cNvSpPr/>
          <p:nvPr/>
        </p:nvSpPr>
        <p:spPr>
          <a:xfrm>
            <a:off x="5358384" y="2514600"/>
            <a:ext cx="1463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4600"/>
              <a:buFont typeface="Arial"/>
              <a:buNone/>
            </a:pPr>
            <a:r>
              <a:rPr b="1" i="0" lang="en-US" sz="46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sz="1800"/>
          </a:p>
        </p:txBody>
      </p:sp>
      <p:sp>
        <p:nvSpPr>
          <p:cNvPr id="89" name="Google Shape;89;p6"/>
          <p:cNvSpPr/>
          <p:nvPr/>
        </p:nvSpPr>
        <p:spPr>
          <a:xfrm>
            <a:off x="5212080" y="3465576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40"/>
              <a:buFont typeface="Arial"/>
              <a:buNone/>
            </a:pPr>
            <a:r>
              <a:rPr b="1" i="0" lang="en-US" sz="74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NOT THE SAME SIGNAL</a:t>
            </a:r>
            <a:endParaRPr sz="1800"/>
          </a:p>
        </p:txBody>
      </p:sp>
      <p:sp>
        <p:nvSpPr>
          <p:cNvPr id="90" name="Google Shape;90;p6"/>
          <p:cNvSpPr/>
          <p:nvPr/>
        </p:nvSpPr>
        <p:spPr>
          <a:xfrm>
            <a:off x="6967728" y="1901952"/>
            <a:ext cx="4389120" cy="2286000"/>
          </a:xfrm>
          <a:prstGeom prst="roundRect">
            <a:avLst>
              <a:gd fmla="val 16667" name="adj"/>
            </a:avLst>
          </a:prstGeom>
          <a:solidFill>
            <a:srgbClr val="FCEBEC"/>
          </a:solidFill>
          <a:ln cap="flat" cmpd="sng" w="1840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223760" y="2103120"/>
            <a:ext cx="3877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900"/>
              <a:buFont typeface="Arial"/>
              <a:buNone/>
            </a:pPr>
            <a:r>
              <a:rPr b="1" i="0" lang="en-US" sz="90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HIDDEN PRODUCT EVIDENCE</a:t>
            </a:r>
            <a:endParaRPr sz="1800"/>
          </a:p>
        </p:txBody>
      </p:sp>
      <p:sp>
        <p:nvSpPr>
          <p:cNvPr id="92" name="Google Shape;92;p6"/>
          <p:cNvSpPr/>
          <p:nvPr/>
        </p:nvSpPr>
        <p:spPr>
          <a:xfrm>
            <a:off x="7452360" y="2679192"/>
            <a:ext cx="34015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OPERATOR RECEIVES</a:t>
            </a:r>
            <a:endParaRPr sz="1800"/>
          </a:p>
        </p:txBody>
      </p:sp>
      <p:sp>
        <p:nvSpPr>
          <p:cNvPr id="93" name="Google Shape;93;p6"/>
          <p:cNvSpPr/>
          <p:nvPr/>
        </p:nvSpPr>
        <p:spPr>
          <a:xfrm>
            <a:off x="7360920" y="2980944"/>
            <a:ext cx="35844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2300"/>
              <a:buFont typeface="Arial"/>
              <a:buNone/>
            </a:pPr>
            <a:r>
              <a:rPr b="1" i="0" lang="en-US" sz="230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FEWER TRUE ALERTS</a:t>
            </a:r>
            <a:endParaRPr sz="1800"/>
          </a:p>
        </p:txBody>
      </p:sp>
      <p:sp>
        <p:nvSpPr>
          <p:cNvPr id="94" name="Google Shape;94;p6"/>
          <p:cNvSpPr/>
          <p:nvPr/>
        </p:nvSpPr>
        <p:spPr>
          <a:xfrm>
            <a:off x="7818120" y="3639312"/>
            <a:ext cx="2670048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863840" y="36576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NO SIGNAL EXPLAINS THE DROP</a:t>
            </a:r>
            <a:endParaRPr sz="1800"/>
          </a:p>
        </p:txBody>
      </p:sp>
      <p:sp>
        <p:nvSpPr>
          <p:cNvPr id="96" name="Google Shape;96;p6"/>
          <p:cNvSpPr/>
          <p:nvPr/>
        </p:nvSpPr>
        <p:spPr>
          <a:xfrm>
            <a:off x="1508760" y="4498848"/>
            <a:ext cx="9189720" cy="7863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755648" y="4645152"/>
            <a:ext cx="8686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PREDICTION LOGS</a:t>
            </a:r>
            <a:r>
              <a:rPr b="0" i="0" lang="en-US" sz="10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  +  </a:t>
            </a:r>
            <a:r>
              <a:rPr b="1" i="0" lang="en-US" sz="10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EXPECTED OUTCOMES</a:t>
            </a:r>
            <a:r>
              <a:rPr b="1" i="0" lang="en-US" sz="105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  →  </a:t>
            </a:r>
            <a:r>
              <a:rPr b="1" i="0" lang="en-US" sz="10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BEHAVIOR COMPARISON</a:t>
            </a:r>
            <a:endParaRPr sz="1800"/>
          </a:p>
        </p:txBody>
      </p:sp>
      <p:sp>
        <p:nvSpPr>
          <p:cNvPr id="98" name="Google Shape;98;p6"/>
          <p:cNvSpPr/>
          <p:nvPr/>
        </p:nvSpPr>
        <p:spPr>
          <a:xfrm>
            <a:off x="2011680" y="4919472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68"/>
              <a:buFont typeface="Arial"/>
              <a:buNone/>
            </a:pPr>
            <a:r>
              <a:rPr b="0" i="0" lang="en-US" sz="869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The missing evidence links each alert to the expected outcome and the operator's decision.</a:t>
            </a:r>
            <a:endParaRPr sz="1800"/>
          </a:p>
        </p:txBody>
      </p:sp>
      <p:sp>
        <p:nvSpPr>
          <p:cNvPr id="99" name="Google Shape;99;p6"/>
          <p:cNvSpPr/>
          <p:nvPr/>
        </p:nvSpPr>
        <p:spPr>
          <a:xfrm>
            <a:off x="868680" y="5669280"/>
            <a:ext cx="1046988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078992" y="5779008"/>
            <a:ext cx="45720" cy="256032"/>
          </a:xfrm>
          <a:prstGeom prst="rect">
            <a:avLst/>
          </a:prstGeom>
          <a:solidFill>
            <a:srgbClr val="CC47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298448" y="5715000"/>
            <a:ext cx="9738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1130"/>
              <a:buFont typeface="Arial"/>
              <a:buNone/>
            </a:pPr>
            <a:r>
              <a:rPr b="1" i="0" lang="en-US" sz="113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The most dangerous AI failure is often a working service with worse decisions.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530352" y="21945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9"/>
              <a:buFont typeface="Arial"/>
              <a:buNone/>
            </a:pPr>
            <a:r>
              <a:rPr b="1" i="0" lang="en-US" sz="8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SYSTEM BOUNDARY</a:t>
            </a:r>
            <a:endParaRPr sz="1800"/>
          </a:p>
        </p:txBody>
      </p:sp>
      <p:sp>
        <p:nvSpPr>
          <p:cNvPr id="108" name="Google Shape;108;p7"/>
          <p:cNvSpPr/>
          <p:nvPr/>
        </p:nvSpPr>
        <p:spPr>
          <a:xfrm>
            <a:off x="530352" y="49377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Arial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 Model Is Not The System</a:t>
            </a:r>
            <a:endParaRPr sz="1800"/>
          </a:p>
        </p:txBody>
      </p:sp>
      <p:cxnSp>
        <p:nvCxnSpPr>
          <p:cNvPr id="109" name="Google Shape;109;p7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0" name="Google Shape;110;p7"/>
          <p:cNvSpPr/>
          <p:nvPr/>
        </p:nvSpPr>
        <p:spPr>
          <a:xfrm>
            <a:off x="530352" y="645566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1800"/>
          </a:p>
        </p:txBody>
      </p:sp>
      <p:sp>
        <p:nvSpPr>
          <p:cNvPr id="111" name="Google Shape;111;p7"/>
          <p:cNvSpPr/>
          <p:nvPr/>
        </p:nvSpPr>
        <p:spPr>
          <a:xfrm>
            <a:off x="10378440" y="64556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05</a:t>
            </a:r>
            <a:endParaRPr sz="1800"/>
          </a:p>
        </p:txBody>
      </p:sp>
      <p:sp>
        <p:nvSpPr>
          <p:cNvPr id="112" name="Google Shape;112;p7"/>
          <p:cNvSpPr/>
          <p:nvPr/>
        </p:nvSpPr>
        <p:spPr>
          <a:xfrm>
            <a:off x="640080" y="1389888"/>
            <a:ext cx="672084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41248" y="1572768"/>
            <a:ext cx="205740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886968" y="1591056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50"/>
              <a:buFont typeface="Arial"/>
              <a:buNone/>
            </a:pPr>
            <a:r>
              <a:rPr b="1" i="0" lang="en-US" sz="8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PRODUCTION AI SYSTEM</a:t>
            </a:r>
            <a:endParaRPr sz="1800"/>
          </a:p>
        </p:txBody>
      </p:sp>
      <p:sp>
        <p:nvSpPr>
          <p:cNvPr id="115" name="Google Shape;115;p7"/>
          <p:cNvSpPr/>
          <p:nvPr/>
        </p:nvSpPr>
        <p:spPr>
          <a:xfrm>
            <a:off x="896112" y="2258568"/>
            <a:ext cx="1042415" cy="9692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969264" y="2386584"/>
            <a:ext cx="89611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1800"/>
          </a:p>
        </p:txBody>
      </p:sp>
      <p:sp>
        <p:nvSpPr>
          <p:cNvPr id="117" name="Google Shape;117;p7"/>
          <p:cNvSpPr/>
          <p:nvPr/>
        </p:nvSpPr>
        <p:spPr>
          <a:xfrm>
            <a:off x="969264" y="2651760"/>
            <a:ext cx="89611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/>
          </a:p>
        </p:txBody>
      </p:sp>
      <p:sp>
        <p:nvSpPr>
          <p:cNvPr id="118" name="Google Shape;118;p7"/>
          <p:cNvSpPr/>
          <p:nvPr/>
        </p:nvSpPr>
        <p:spPr>
          <a:xfrm>
            <a:off x="2157984" y="2258568"/>
            <a:ext cx="1042415" cy="9692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231136" y="2386584"/>
            <a:ext cx="89611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sz="1800"/>
          </a:p>
        </p:txBody>
      </p:sp>
      <p:sp>
        <p:nvSpPr>
          <p:cNvPr id="120" name="Google Shape;120;p7"/>
          <p:cNvSpPr/>
          <p:nvPr/>
        </p:nvSpPr>
        <p:spPr>
          <a:xfrm>
            <a:off x="2231136" y="2651760"/>
            <a:ext cx="89611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endParaRPr sz="1800"/>
          </a:p>
        </p:txBody>
      </p:sp>
      <p:sp>
        <p:nvSpPr>
          <p:cNvPr id="121" name="Google Shape;121;p7"/>
          <p:cNvSpPr/>
          <p:nvPr/>
        </p:nvSpPr>
        <p:spPr>
          <a:xfrm>
            <a:off x="3419856" y="2258568"/>
            <a:ext cx="1042415" cy="969264"/>
          </a:xfrm>
          <a:prstGeom prst="roundRect">
            <a:avLst>
              <a:gd fmla="val 16667" name="adj"/>
            </a:avLst>
          </a:prstGeom>
          <a:solidFill>
            <a:srgbClr val="2A6FC5"/>
          </a:solidFill>
          <a:ln cap="flat" cmpd="sng" w="171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493008" y="2386584"/>
            <a:ext cx="89611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/>
          </a:p>
        </p:txBody>
      </p:sp>
      <p:sp>
        <p:nvSpPr>
          <p:cNvPr id="123" name="Google Shape;123;p7"/>
          <p:cNvSpPr/>
          <p:nvPr/>
        </p:nvSpPr>
        <p:spPr>
          <a:xfrm>
            <a:off x="3493008" y="2651760"/>
            <a:ext cx="89611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learned behavior</a:t>
            </a:r>
            <a:endParaRPr sz="1800"/>
          </a:p>
        </p:txBody>
      </p:sp>
      <p:sp>
        <p:nvSpPr>
          <p:cNvPr id="124" name="Google Shape;124;p7"/>
          <p:cNvSpPr/>
          <p:nvPr/>
        </p:nvSpPr>
        <p:spPr>
          <a:xfrm>
            <a:off x="4681728" y="2258568"/>
            <a:ext cx="1042415" cy="969264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7125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754880" y="2386584"/>
            <a:ext cx="89611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 sz="1800"/>
          </a:p>
        </p:txBody>
      </p:sp>
      <p:sp>
        <p:nvSpPr>
          <p:cNvPr id="126" name="Google Shape;126;p7"/>
          <p:cNvSpPr/>
          <p:nvPr/>
        </p:nvSpPr>
        <p:spPr>
          <a:xfrm>
            <a:off x="4754880" y="2651760"/>
            <a:ext cx="89611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fallback</a:t>
            </a:r>
            <a:endParaRPr sz="1800"/>
          </a:p>
        </p:txBody>
      </p:sp>
      <p:sp>
        <p:nvSpPr>
          <p:cNvPr id="127" name="Google Shape;127;p7"/>
          <p:cNvSpPr/>
          <p:nvPr/>
        </p:nvSpPr>
        <p:spPr>
          <a:xfrm>
            <a:off x="5943600" y="2258568"/>
            <a:ext cx="1042415" cy="96926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016752" y="2386584"/>
            <a:ext cx="89611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sz="1800"/>
          </a:p>
        </p:txBody>
      </p:sp>
      <p:sp>
        <p:nvSpPr>
          <p:cNvPr id="129" name="Google Shape;129;p7"/>
          <p:cNvSpPr/>
          <p:nvPr/>
        </p:nvSpPr>
        <p:spPr>
          <a:xfrm>
            <a:off x="6016752" y="2651760"/>
            <a:ext cx="896111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1800"/>
          </a:p>
        </p:txBody>
      </p:sp>
      <p:cxnSp>
        <p:nvCxnSpPr>
          <p:cNvPr id="130" name="Google Shape;130;p7"/>
          <p:cNvCxnSpPr/>
          <p:nvPr/>
        </p:nvCxnSpPr>
        <p:spPr>
          <a:xfrm>
            <a:off x="1938528" y="2743200"/>
            <a:ext cx="109727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1" name="Google Shape;131;p7"/>
          <p:cNvSpPr/>
          <p:nvPr/>
        </p:nvSpPr>
        <p:spPr>
          <a:xfrm rot="5400000">
            <a:off x="2002536" y="267919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7"/>
          <p:cNvCxnSpPr/>
          <p:nvPr/>
        </p:nvCxnSpPr>
        <p:spPr>
          <a:xfrm>
            <a:off x="3200400" y="2743200"/>
            <a:ext cx="109728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3" name="Google Shape;133;p7"/>
          <p:cNvSpPr/>
          <p:nvPr/>
        </p:nvSpPr>
        <p:spPr>
          <a:xfrm rot="5400000">
            <a:off x="3264408" y="267919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7"/>
          <p:cNvCxnSpPr/>
          <p:nvPr/>
        </p:nvCxnSpPr>
        <p:spPr>
          <a:xfrm>
            <a:off x="4462272" y="2743200"/>
            <a:ext cx="109728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5" name="Google Shape;135;p7"/>
          <p:cNvSpPr/>
          <p:nvPr/>
        </p:nvSpPr>
        <p:spPr>
          <a:xfrm rot="5400000">
            <a:off x="4526280" y="267919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5724144" y="2743200"/>
            <a:ext cx="109728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7" name="Google Shape;137;p7"/>
          <p:cNvSpPr/>
          <p:nvPr/>
        </p:nvSpPr>
        <p:spPr>
          <a:xfrm rot="5400000">
            <a:off x="5788152" y="267919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32688" y="3520440"/>
            <a:ext cx="6126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SURROUNDING SOFTWARE RESPONSIBILITY</a:t>
            </a:r>
            <a:endParaRPr sz="1800"/>
          </a:p>
        </p:txBody>
      </p:sp>
      <p:sp>
        <p:nvSpPr>
          <p:cNvPr id="139" name="Google Shape;139;p7"/>
          <p:cNvSpPr/>
          <p:nvPr/>
        </p:nvSpPr>
        <p:spPr>
          <a:xfrm>
            <a:off x="1005840" y="3858768"/>
            <a:ext cx="135331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78992" y="3986783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sz="1800"/>
          </a:p>
        </p:txBody>
      </p:sp>
      <p:sp>
        <p:nvSpPr>
          <p:cNvPr id="141" name="Google Shape;141;p7"/>
          <p:cNvSpPr/>
          <p:nvPr/>
        </p:nvSpPr>
        <p:spPr>
          <a:xfrm>
            <a:off x="1078992" y="4251959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assumptions</a:t>
            </a:r>
            <a:endParaRPr sz="1800"/>
          </a:p>
        </p:txBody>
      </p:sp>
      <p:sp>
        <p:nvSpPr>
          <p:cNvPr id="142" name="Google Shape;142;p7"/>
          <p:cNvSpPr/>
          <p:nvPr/>
        </p:nvSpPr>
        <p:spPr>
          <a:xfrm>
            <a:off x="2578608" y="3858768"/>
            <a:ext cx="135331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651760" y="3986783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LOGS</a:t>
            </a:r>
            <a:endParaRPr sz="1800"/>
          </a:p>
        </p:txBody>
      </p:sp>
      <p:sp>
        <p:nvSpPr>
          <p:cNvPr id="144" name="Google Shape;144;p7"/>
          <p:cNvSpPr/>
          <p:nvPr/>
        </p:nvSpPr>
        <p:spPr>
          <a:xfrm>
            <a:off x="2651760" y="4251959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1800"/>
          </a:p>
        </p:txBody>
      </p:sp>
      <p:sp>
        <p:nvSpPr>
          <p:cNvPr id="145" name="Google Shape;145;p7"/>
          <p:cNvSpPr/>
          <p:nvPr/>
        </p:nvSpPr>
        <p:spPr>
          <a:xfrm>
            <a:off x="4151376" y="3858768"/>
            <a:ext cx="135331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24528" y="3986783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sz="1800"/>
          </a:p>
        </p:txBody>
      </p:sp>
      <p:sp>
        <p:nvSpPr>
          <p:cNvPr id="147" name="Google Shape;147;p7"/>
          <p:cNvSpPr/>
          <p:nvPr/>
        </p:nvSpPr>
        <p:spPr>
          <a:xfrm>
            <a:off x="4224528" y="4251959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signals</a:t>
            </a:r>
            <a:endParaRPr sz="1800"/>
          </a:p>
        </p:txBody>
      </p:sp>
      <p:sp>
        <p:nvSpPr>
          <p:cNvPr id="148" name="Google Shape;148;p7"/>
          <p:cNvSpPr/>
          <p:nvPr/>
        </p:nvSpPr>
        <p:spPr>
          <a:xfrm>
            <a:off x="5724144" y="3858768"/>
            <a:ext cx="1353312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797296" y="3986783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sz="1800"/>
          </a:p>
        </p:txBody>
      </p:sp>
      <p:sp>
        <p:nvSpPr>
          <p:cNvPr id="150" name="Google Shape;150;p7"/>
          <p:cNvSpPr/>
          <p:nvPr/>
        </p:nvSpPr>
        <p:spPr>
          <a:xfrm>
            <a:off x="5797296" y="4251959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50"/>
              <a:buFont typeface="Arial"/>
              <a:buNone/>
            </a:pPr>
            <a:r>
              <a:rPr b="0" i="0" lang="en-US" sz="9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next action</a:t>
            </a:r>
            <a:endParaRPr sz="1800"/>
          </a:p>
        </p:txBody>
      </p:sp>
      <p:sp>
        <p:nvSpPr>
          <p:cNvPr id="151" name="Google Shape;151;p7"/>
          <p:cNvSpPr/>
          <p:nvPr/>
        </p:nvSpPr>
        <p:spPr>
          <a:xfrm>
            <a:off x="7726679" y="1481328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50"/>
              <a:buFont typeface="Arial"/>
              <a:buNone/>
            </a:pPr>
            <a:r>
              <a:rPr b="1" i="0" lang="en-US" sz="85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INTERPRETATION</a:t>
            </a:r>
            <a:endParaRPr sz="1800"/>
          </a:p>
        </p:txBody>
      </p:sp>
      <p:sp>
        <p:nvSpPr>
          <p:cNvPr id="152" name="Google Shape;152;p7"/>
          <p:cNvSpPr/>
          <p:nvPr/>
        </p:nvSpPr>
        <p:spPr>
          <a:xfrm>
            <a:off x="7726679" y="1773936"/>
            <a:ext cx="3749039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540"/>
              <a:buFont typeface="Arial"/>
              <a:buNone/>
            </a:pPr>
            <a:r>
              <a:rPr b="1" i="0" lang="en-US" sz="154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The model is not the product, the service, or the production responsibility.</a:t>
            </a:r>
            <a:endParaRPr sz="1800"/>
          </a:p>
        </p:txBody>
      </p:sp>
      <p:cxnSp>
        <p:nvCxnSpPr>
          <p:cNvPr id="153" name="Google Shape;153;p7"/>
          <p:cNvCxnSpPr/>
          <p:nvPr/>
        </p:nvCxnSpPr>
        <p:spPr>
          <a:xfrm>
            <a:off x="7726679" y="3364992"/>
            <a:ext cx="3611881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726679" y="2761488"/>
            <a:ext cx="1353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AI COMPONENT</a:t>
            </a:r>
            <a:endParaRPr sz="1800"/>
          </a:p>
        </p:txBody>
      </p:sp>
      <p:sp>
        <p:nvSpPr>
          <p:cNvPr id="155" name="Google Shape;155;p7"/>
          <p:cNvSpPr/>
          <p:nvPr/>
        </p:nvSpPr>
        <p:spPr>
          <a:xfrm>
            <a:off x="9125712" y="2734056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b="0" i="0" lang="en-US" sz="103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learned behavior used inside the system</a:t>
            </a:r>
            <a:endParaRPr sz="1800"/>
          </a:p>
        </p:txBody>
      </p:sp>
      <p:cxnSp>
        <p:nvCxnSpPr>
          <p:cNvPr id="156" name="Google Shape;156;p7"/>
          <p:cNvCxnSpPr/>
          <p:nvPr/>
        </p:nvCxnSpPr>
        <p:spPr>
          <a:xfrm>
            <a:off x="7726679" y="4133087"/>
            <a:ext cx="3611881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7" name="Google Shape;157;p7"/>
          <p:cNvSpPr/>
          <p:nvPr/>
        </p:nvSpPr>
        <p:spPr>
          <a:xfrm>
            <a:off x="7726679" y="3529584"/>
            <a:ext cx="1353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OTHER COMPONENTS</a:t>
            </a:r>
            <a:endParaRPr sz="1800"/>
          </a:p>
        </p:txBody>
      </p:sp>
      <p:sp>
        <p:nvSpPr>
          <p:cNvPr id="158" name="Google Shape;158;p7"/>
          <p:cNvSpPr/>
          <p:nvPr/>
        </p:nvSpPr>
        <p:spPr>
          <a:xfrm>
            <a:off x="9125712" y="3502152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b="0" i="0" lang="en-US" sz="103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data, code, interface, runtime, logs, owners</a:t>
            </a:r>
            <a:endParaRPr sz="1800"/>
          </a:p>
        </p:txBody>
      </p:sp>
      <p:cxnSp>
        <p:nvCxnSpPr>
          <p:cNvPr id="159" name="Google Shape;159;p7"/>
          <p:cNvCxnSpPr/>
          <p:nvPr/>
        </p:nvCxnSpPr>
        <p:spPr>
          <a:xfrm>
            <a:off x="7726679" y="4901184"/>
            <a:ext cx="3611881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" name="Google Shape;160;p7"/>
          <p:cNvSpPr/>
          <p:nvPr/>
        </p:nvSpPr>
        <p:spPr>
          <a:xfrm>
            <a:off x="7726679" y="4297680"/>
            <a:ext cx="1353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SYSTEM CLAIM</a:t>
            </a:r>
            <a:endParaRPr sz="1800"/>
          </a:p>
        </p:txBody>
      </p:sp>
      <p:sp>
        <p:nvSpPr>
          <p:cNvPr id="161" name="Google Shape;161;p7"/>
          <p:cNvSpPr/>
          <p:nvPr/>
        </p:nvSpPr>
        <p:spPr>
          <a:xfrm>
            <a:off x="9125712" y="4270248"/>
            <a:ext cx="2240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b="0" i="0" lang="en-US" sz="103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behavior must be justified across the boundary</a:t>
            </a:r>
            <a:endParaRPr sz="1800"/>
          </a:p>
        </p:txBody>
      </p:sp>
      <p:sp>
        <p:nvSpPr>
          <p:cNvPr id="162" name="Google Shape;162;p7"/>
          <p:cNvSpPr/>
          <p:nvPr/>
        </p:nvSpPr>
        <p:spPr>
          <a:xfrm>
            <a:off x="868680" y="5669280"/>
            <a:ext cx="1046988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78992" y="5779008"/>
            <a:ext cx="45720" cy="256032"/>
          </a:xfrm>
          <a:prstGeom prst="rect">
            <a:avLst/>
          </a:prstGeom>
          <a:solidFill>
            <a:srgbClr val="1E4F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298448" y="5715000"/>
            <a:ext cx="9738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30"/>
              <a:buFont typeface="Arial"/>
              <a:buNone/>
            </a:pPr>
            <a:r>
              <a:rPr b="1" i="0" lang="en-US" sz="11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A production AI system includes the model and the surrounding software responsibility.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530352" y="21945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9"/>
              <a:buFont typeface="Arial"/>
              <a:buNone/>
            </a:pPr>
            <a:r>
              <a:rPr b="1" i="0" lang="en-US" sz="8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RECURRING MODEL</a:t>
            </a:r>
            <a:endParaRPr sz="1800"/>
          </a:p>
        </p:txBody>
      </p:sp>
      <p:sp>
        <p:nvSpPr>
          <p:cNvPr id="171" name="Google Shape;171;p8"/>
          <p:cNvSpPr/>
          <p:nvPr/>
        </p:nvSpPr>
        <p:spPr>
          <a:xfrm>
            <a:off x="530352" y="49377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Arial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FireWatch: One System Boundary</a:t>
            </a:r>
            <a:endParaRPr sz="1800"/>
          </a:p>
        </p:txBody>
      </p:sp>
      <p:cxnSp>
        <p:nvCxnSpPr>
          <p:cNvPr id="172" name="Google Shape;172;p8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3" name="Google Shape;173;p8"/>
          <p:cNvSpPr/>
          <p:nvPr/>
        </p:nvSpPr>
        <p:spPr>
          <a:xfrm>
            <a:off x="530352" y="645566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1800"/>
          </a:p>
        </p:txBody>
      </p:sp>
      <p:sp>
        <p:nvSpPr>
          <p:cNvPr id="174" name="Google Shape;174;p8"/>
          <p:cNvSpPr/>
          <p:nvPr/>
        </p:nvSpPr>
        <p:spPr>
          <a:xfrm>
            <a:off x="10378440" y="64556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06</a:t>
            </a:r>
            <a:endParaRPr sz="1800"/>
          </a:p>
        </p:txBody>
      </p:sp>
      <p:sp>
        <p:nvSpPr>
          <p:cNvPr id="175" name="Google Shape;175;p8"/>
          <p:cNvSpPr/>
          <p:nvPr/>
        </p:nvSpPr>
        <p:spPr>
          <a:xfrm>
            <a:off x="658368" y="1371600"/>
            <a:ext cx="10881360" cy="21396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859536" y="1545336"/>
            <a:ext cx="1591056" cy="31089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05256" y="1563624"/>
            <a:ext cx="14996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50"/>
              <a:buFont typeface="Arial"/>
              <a:buNone/>
            </a:pPr>
            <a:r>
              <a:rPr b="1" i="0" lang="en-US" sz="8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PRODUCTION PATH</a:t>
            </a:r>
            <a:endParaRPr sz="1800"/>
          </a:p>
        </p:txBody>
      </p:sp>
      <p:sp>
        <p:nvSpPr>
          <p:cNvPr id="178" name="Google Shape;178;p8"/>
          <p:cNvSpPr/>
          <p:nvPr/>
        </p:nvSpPr>
        <p:spPr>
          <a:xfrm>
            <a:off x="859536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32688" y="23042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 sz="1800"/>
          </a:p>
        </p:txBody>
      </p:sp>
      <p:sp>
        <p:nvSpPr>
          <p:cNvPr id="180" name="Google Shape;180;p8"/>
          <p:cNvSpPr/>
          <p:nvPr/>
        </p:nvSpPr>
        <p:spPr>
          <a:xfrm>
            <a:off x="2395728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468880" y="23042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FRAME CHECK</a:t>
            </a:r>
            <a:endParaRPr sz="1800"/>
          </a:p>
        </p:txBody>
      </p:sp>
      <p:sp>
        <p:nvSpPr>
          <p:cNvPr id="182" name="Google Shape;182;p8"/>
          <p:cNvSpPr/>
          <p:nvPr/>
        </p:nvSpPr>
        <p:spPr>
          <a:xfrm>
            <a:off x="3931920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005072" y="23042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PREPROCESS</a:t>
            </a:r>
            <a:endParaRPr sz="1800"/>
          </a:p>
        </p:txBody>
      </p:sp>
      <p:sp>
        <p:nvSpPr>
          <p:cNvPr id="184" name="Google Shape;184;p8"/>
          <p:cNvSpPr/>
          <p:nvPr/>
        </p:nvSpPr>
        <p:spPr>
          <a:xfrm>
            <a:off x="5468112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2A6FC5"/>
          </a:solidFill>
          <a:ln cap="flat" cmpd="sng" w="171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541264" y="23042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/>
          </a:p>
        </p:txBody>
      </p:sp>
      <p:sp>
        <p:nvSpPr>
          <p:cNvPr id="186" name="Google Shape;186;p8"/>
          <p:cNvSpPr/>
          <p:nvPr/>
        </p:nvSpPr>
        <p:spPr>
          <a:xfrm>
            <a:off x="7004304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077456" y="23042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ALERT POLICY</a:t>
            </a:r>
            <a:endParaRPr sz="1800"/>
          </a:p>
        </p:txBody>
      </p:sp>
      <p:sp>
        <p:nvSpPr>
          <p:cNvPr id="188" name="Google Shape;188;p8"/>
          <p:cNvSpPr/>
          <p:nvPr/>
        </p:nvSpPr>
        <p:spPr>
          <a:xfrm>
            <a:off x="8540496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613648" y="230428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EVENT LOG</a:t>
            </a:r>
            <a:endParaRPr sz="1800"/>
          </a:p>
        </p:txBody>
      </p:sp>
      <p:sp>
        <p:nvSpPr>
          <p:cNvPr id="190" name="Google Shape;190;p8"/>
          <p:cNvSpPr/>
          <p:nvPr/>
        </p:nvSpPr>
        <p:spPr>
          <a:xfrm>
            <a:off x="10076688" y="2176272"/>
            <a:ext cx="1170432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12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0149840" y="2304288"/>
            <a:ext cx="1024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OUTCOME CHECK</a:t>
            </a:r>
            <a:endParaRPr sz="1800"/>
          </a:p>
        </p:txBody>
      </p:sp>
      <p:cxnSp>
        <p:nvCxnSpPr>
          <p:cNvPr id="192" name="Google Shape;192;p8"/>
          <p:cNvCxnSpPr/>
          <p:nvPr/>
        </p:nvCxnSpPr>
        <p:spPr>
          <a:xfrm>
            <a:off x="2029968" y="2551176"/>
            <a:ext cx="256032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3" name="Google Shape;193;p8"/>
          <p:cNvSpPr/>
          <p:nvPr/>
        </p:nvSpPr>
        <p:spPr>
          <a:xfrm rot="5400000">
            <a:off x="2240280" y="248716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3566160" y="2551176"/>
            <a:ext cx="256031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5" name="Google Shape;195;p8"/>
          <p:cNvSpPr/>
          <p:nvPr/>
        </p:nvSpPr>
        <p:spPr>
          <a:xfrm rot="5400000">
            <a:off x="3776472" y="248716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5102352" y="2551176"/>
            <a:ext cx="256032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7" name="Google Shape;197;p8"/>
          <p:cNvSpPr/>
          <p:nvPr/>
        </p:nvSpPr>
        <p:spPr>
          <a:xfrm rot="5400000">
            <a:off x="5312664" y="248716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6638544" y="2551176"/>
            <a:ext cx="256032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" name="Google Shape;199;p8"/>
          <p:cNvSpPr/>
          <p:nvPr/>
        </p:nvSpPr>
        <p:spPr>
          <a:xfrm rot="5400000">
            <a:off x="6848856" y="248716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8174736" y="2551176"/>
            <a:ext cx="256032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 rot="5400000">
            <a:off x="8385048" y="248716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8"/>
          <p:cNvCxnSpPr/>
          <p:nvPr/>
        </p:nvCxnSpPr>
        <p:spPr>
          <a:xfrm>
            <a:off x="9710928" y="2551176"/>
            <a:ext cx="256032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3" name="Google Shape;203;p8"/>
          <p:cNvSpPr/>
          <p:nvPr/>
        </p:nvSpPr>
        <p:spPr>
          <a:xfrm rot="5400000">
            <a:off x="9921240" y="248716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41248" y="376732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CONTROLS AROUND THE PATH</a:t>
            </a:r>
            <a:endParaRPr sz="1800"/>
          </a:p>
        </p:txBody>
      </p:sp>
      <p:sp>
        <p:nvSpPr>
          <p:cNvPr id="205" name="Google Shape;205;p8"/>
          <p:cNvSpPr/>
          <p:nvPr/>
        </p:nvSpPr>
        <p:spPr>
          <a:xfrm>
            <a:off x="841248" y="4142232"/>
            <a:ext cx="233172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96696" y="4261104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68"/>
              <a:buFont typeface="Arial"/>
              <a:buNone/>
            </a:pPr>
            <a:r>
              <a:rPr b="1" i="0" lang="en-US" sz="869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sz="1800"/>
          </a:p>
        </p:txBody>
      </p:sp>
      <p:sp>
        <p:nvSpPr>
          <p:cNvPr id="207" name="Google Shape;207;p8"/>
          <p:cNvSpPr/>
          <p:nvPr/>
        </p:nvSpPr>
        <p:spPr>
          <a:xfrm>
            <a:off x="996696" y="4526280"/>
            <a:ext cx="20208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50"/>
              <a:buFont typeface="Arial"/>
              <a:buNone/>
            </a:pPr>
            <a:r>
              <a:rPr b="0" i="0" lang="en-US" sz="8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reject invalid frames before alerting</a:t>
            </a:r>
            <a:endParaRPr sz="1800"/>
          </a:p>
        </p:txBody>
      </p:sp>
      <p:sp>
        <p:nvSpPr>
          <p:cNvPr id="208" name="Google Shape;208;p8"/>
          <p:cNvSpPr/>
          <p:nvPr/>
        </p:nvSpPr>
        <p:spPr>
          <a:xfrm>
            <a:off x="3611880" y="4142232"/>
            <a:ext cx="233172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767328" y="4261104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68"/>
              <a:buFont typeface="Arial"/>
              <a:buNone/>
            </a:pPr>
            <a:r>
              <a:rPr b="1" i="0" lang="en-US" sz="869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VERSIONING</a:t>
            </a:r>
            <a:endParaRPr sz="1800"/>
          </a:p>
        </p:txBody>
      </p:sp>
      <p:sp>
        <p:nvSpPr>
          <p:cNvPr id="210" name="Google Shape;210;p8"/>
          <p:cNvSpPr/>
          <p:nvPr/>
        </p:nvSpPr>
        <p:spPr>
          <a:xfrm>
            <a:off x="3767328" y="4526280"/>
            <a:ext cx="20208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50"/>
              <a:buFont typeface="Arial"/>
              <a:buNone/>
            </a:pPr>
            <a:r>
              <a:rPr b="0" i="0" lang="en-US" sz="8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link camera, code, model, and policy versions</a:t>
            </a:r>
            <a:endParaRPr sz="1800"/>
          </a:p>
        </p:txBody>
      </p:sp>
      <p:sp>
        <p:nvSpPr>
          <p:cNvPr id="211" name="Google Shape;211;p8"/>
          <p:cNvSpPr/>
          <p:nvPr/>
        </p:nvSpPr>
        <p:spPr>
          <a:xfrm>
            <a:off x="6382512" y="4142232"/>
            <a:ext cx="233172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537960" y="4261104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68"/>
              <a:buFont typeface="Arial"/>
              <a:buNone/>
            </a:pPr>
            <a:r>
              <a:rPr b="1" i="0" lang="en-US" sz="869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ROLLBACK</a:t>
            </a:r>
            <a:endParaRPr sz="1800"/>
          </a:p>
        </p:txBody>
      </p:sp>
      <p:sp>
        <p:nvSpPr>
          <p:cNvPr id="213" name="Google Shape;213;p8"/>
          <p:cNvSpPr/>
          <p:nvPr/>
        </p:nvSpPr>
        <p:spPr>
          <a:xfrm>
            <a:off x="6537960" y="4526280"/>
            <a:ext cx="20208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50"/>
              <a:buFont typeface="Arial"/>
              <a:buNone/>
            </a:pPr>
            <a:r>
              <a:rPr b="0" i="0" lang="en-US" sz="8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restore the last trusted package</a:t>
            </a:r>
            <a:endParaRPr sz="1800"/>
          </a:p>
        </p:txBody>
      </p:sp>
      <p:sp>
        <p:nvSpPr>
          <p:cNvPr id="214" name="Google Shape;214;p8"/>
          <p:cNvSpPr/>
          <p:nvPr/>
        </p:nvSpPr>
        <p:spPr>
          <a:xfrm>
            <a:off x="9153144" y="4142232"/>
            <a:ext cx="2331720" cy="11155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9308592" y="4261104"/>
            <a:ext cx="2020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68"/>
              <a:buFont typeface="Arial"/>
              <a:buNone/>
            </a:pPr>
            <a:r>
              <a:rPr b="1" i="0" lang="en-US" sz="869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endParaRPr sz="1800"/>
          </a:p>
        </p:txBody>
      </p:sp>
      <p:sp>
        <p:nvSpPr>
          <p:cNvPr id="216" name="Google Shape;216;p8"/>
          <p:cNvSpPr/>
          <p:nvPr/>
        </p:nvSpPr>
        <p:spPr>
          <a:xfrm>
            <a:off x="9308592" y="4526280"/>
            <a:ext cx="202082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50"/>
              <a:buFont typeface="Arial"/>
              <a:buNone/>
            </a:pPr>
            <a:r>
              <a:rPr b="0" i="0" lang="en-US" sz="8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decide when to investigate, pause, or update</a:t>
            </a:r>
            <a:endParaRPr sz="1800"/>
          </a:p>
        </p:txBody>
      </p:sp>
      <p:sp>
        <p:nvSpPr>
          <p:cNvPr id="217" name="Google Shape;217;p8"/>
          <p:cNvSpPr/>
          <p:nvPr/>
        </p:nvSpPr>
        <p:spPr>
          <a:xfrm>
            <a:off x="868680" y="5669280"/>
            <a:ext cx="1046988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078992" y="5779008"/>
            <a:ext cx="45720" cy="256032"/>
          </a:xfrm>
          <a:prstGeom prst="rect">
            <a:avLst/>
          </a:prstGeom>
          <a:solidFill>
            <a:srgbClr val="1E4F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298448" y="5715000"/>
            <a:ext cx="9738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30"/>
              <a:buFont typeface="Arial"/>
              <a:buNone/>
            </a:pPr>
            <a:r>
              <a:rPr b="1" i="0" lang="en-US" sz="11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FireWatch is the full decision path—not only the classifier.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FAILURE PATHWAYS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How FireWatch Can Fail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9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9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07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960120" y="1581912"/>
            <a:ext cx="10149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 failure can enter before the classifier and appear later as an unsafe alert decision.</a:t>
            </a:r>
            <a:endParaRPr b="0" i="0" sz="14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9"/>
          <p:cNvCxnSpPr/>
          <p:nvPr/>
        </p:nvCxnSpPr>
        <p:spPr>
          <a:xfrm>
            <a:off x="1143000" y="2313432"/>
            <a:ext cx="98298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9"/>
          <p:cNvSpPr/>
          <p:nvPr/>
        </p:nvSpPr>
        <p:spPr>
          <a:xfrm>
            <a:off x="1188720" y="202996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enters as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193792" y="202996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system state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400032" y="2029968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appears as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9"/>
          <p:cNvCxnSpPr/>
          <p:nvPr/>
        </p:nvCxnSpPr>
        <p:spPr>
          <a:xfrm>
            <a:off x="1234440" y="303580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9"/>
          <p:cNvSpPr/>
          <p:nvPr/>
        </p:nvSpPr>
        <p:spPr>
          <a:xfrm>
            <a:off x="1234440" y="265176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Camera shift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514600" y="264261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b="0" i="0" lang="en-US" sz="86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new angle, glare, darkness</a:t>
            </a:r>
            <a:endParaRPr b="0" i="0" sz="8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9"/>
          <p:cNvCxnSpPr/>
          <p:nvPr/>
        </p:nvCxnSpPr>
        <p:spPr>
          <a:xfrm>
            <a:off x="1234440" y="353872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9"/>
          <p:cNvSpPr/>
          <p:nvPr/>
        </p:nvSpPr>
        <p:spPr>
          <a:xfrm>
            <a:off x="1234440" y="315468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Label gap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514600" y="314553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b="0" i="0" lang="en-US" sz="86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steam-like scenes were never labeled</a:t>
            </a:r>
            <a:endParaRPr b="0" i="0" sz="8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9"/>
          <p:cNvCxnSpPr/>
          <p:nvPr/>
        </p:nvCxnSpPr>
        <p:spPr>
          <a:xfrm>
            <a:off x="1234440" y="404164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9"/>
          <p:cNvSpPr/>
          <p:nvPr/>
        </p:nvSpPr>
        <p:spPr>
          <a:xfrm>
            <a:off x="1234440" y="365760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Policy error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514600" y="364845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b="0" i="0" lang="en-US" sz="86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 weak score becomes an urgent alert</a:t>
            </a:r>
            <a:endParaRPr b="0" i="0" sz="8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663440" y="2962656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B9D"/>
              </a:buClr>
              <a:buSzPts val="1437"/>
              <a:buFont typeface="Arial"/>
              <a:buNone/>
            </a:pPr>
            <a:r>
              <a:rPr b="1" lang="en-US" sz="1438">
                <a:solidFill>
                  <a:srgbClr val="285B9D"/>
                </a:solidFill>
                <a:latin typeface="Arial"/>
                <a:ea typeface="Arial"/>
                <a:cs typeface="Arial"/>
                <a:sym typeface="Arial"/>
              </a:rPr>
              <a:t>FireWatch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B9D"/>
              </a:buClr>
              <a:buSzPts val="1437"/>
              <a:buFont typeface="Arial"/>
              <a:buNone/>
            </a:pPr>
            <a:r>
              <a:rPr b="1" lang="en-US" sz="1438">
                <a:solidFill>
                  <a:srgbClr val="285B9D"/>
                </a:solidFill>
                <a:latin typeface="Arial"/>
                <a:ea typeface="Arial"/>
                <a:cs typeface="Arial"/>
                <a:sym typeface="Arial"/>
              </a:rPr>
              <a:t>frames + model + policy + operator</a:t>
            </a:r>
            <a:endParaRPr/>
          </a:p>
        </p:txBody>
      </p:sp>
      <p:cxnSp>
        <p:nvCxnSpPr>
          <p:cNvPr id="245" name="Google Shape;245;p9"/>
          <p:cNvCxnSpPr/>
          <p:nvPr/>
        </p:nvCxnSpPr>
        <p:spPr>
          <a:xfrm>
            <a:off x="7955280" y="303580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/>
          <p:nvPr/>
        </p:nvSpPr>
        <p:spPr>
          <a:xfrm>
            <a:off x="7955280" y="265176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Model update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235440" y="264261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b="0" i="0" lang="en-US" sz="86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trusted scenes now behave differently</a:t>
            </a:r>
            <a:endParaRPr b="0" i="0" sz="8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9"/>
          <p:cNvCxnSpPr/>
          <p:nvPr/>
        </p:nvCxnSpPr>
        <p:spPr>
          <a:xfrm>
            <a:off x="7955280" y="353872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7955280" y="315468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Late alert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9235440" y="314553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b="0" i="0" lang="en-US" sz="86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the operator receives it too late</a:t>
            </a:r>
            <a:endParaRPr b="0" i="0" sz="8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7955280" y="4041648"/>
            <a:ext cx="3063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9"/>
          <p:cNvSpPr/>
          <p:nvPr/>
        </p:nvSpPr>
        <p:spPr>
          <a:xfrm>
            <a:off x="7955280" y="3657600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Silent drift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9235440" y="3648456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b="0" i="0" lang="en-US" sz="86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no comparison exposes the loss</a:t>
            </a:r>
            <a:endParaRPr b="0" i="0" sz="86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874520" y="5559552"/>
            <a:ext cx="8458200" cy="512064"/>
          </a:xfrm>
          <a:prstGeom prst="roundRect">
            <a:avLst>
              <a:gd fmla="val 14286" name="adj"/>
            </a:avLst>
          </a:prstGeom>
          <a:solidFill>
            <a:srgbClr val="F4F8FD"/>
          </a:solidFill>
          <a:ln cap="flat" cmpd="sng" w="9525">
            <a:solidFill>
              <a:srgbClr val="1E4F91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5" name="Google Shape;255;p9"/>
          <p:cNvSpPr/>
          <p:nvPr/>
        </p:nvSpPr>
        <p:spPr>
          <a:xfrm>
            <a:off x="2148840" y="5715000"/>
            <a:ext cx="7909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40"/>
              <a:buFont typeface="Arial"/>
              <a:buNone/>
            </a:pPr>
            <a:r>
              <a:rPr b="1" i="0" lang="en-US" sz="11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Production work makes each failure path observable and actionable.</a:t>
            </a:r>
            <a:endParaRPr b="0" i="0" sz="11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CLASS ACTIVITY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lang="en-US" sz="2450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Boundary Check: What Must Be Included?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0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0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0"/>
          <p:cNvCxnSpPr/>
          <p:nvPr/>
        </p:nvCxnSpPr>
        <p:spPr>
          <a:xfrm>
            <a:off x="1280160" y="2185416"/>
            <a:ext cx="96469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0"/>
          <p:cNvSpPr/>
          <p:nvPr/>
        </p:nvSpPr>
        <p:spPr>
          <a:xfrm>
            <a:off x="1280160" y="1773936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System boundary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2834640" y="176479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Which components belong inside FireWatch?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10"/>
          <p:cNvCxnSpPr/>
          <p:nvPr/>
        </p:nvCxnSpPr>
        <p:spPr>
          <a:xfrm>
            <a:off x="1280160" y="2715768"/>
            <a:ext cx="96469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0"/>
          <p:cNvSpPr/>
          <p:nvPr/>
        </p:nvSpPr>
        <p:spPr>
          <a:xfrm>
            <a:off x="1280160" y="230428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2834640" y="2295144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What enters before the classifier?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0"/>
          <p:cNvCxnSpPr/>
          <p:nvPr/>
        </p:nvCxnSpPr>
        <p:spPr>
          <a:xfrm>
            <a:off x="1280160" y="3246120"/>
            <a:ext cx="96469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10"/>
          <p:cNvSpPr/>
          <p:nvPr/>
        </p:nvSpPr>
        <p:spPr>
          <a:xfrm>
            <a:off x="1280160" y="28346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834640" y="2825496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Who receives the alert, and what action follows?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0"/>
          <p:cNvCxnSpPr/>
          <p:nvPr/>
        </p:nvCxnSpPr>
        <p:spPr>
          <a:xfrm>
            <a:off x="1280160" y="3776472"/>
            <a:ext cx="96469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0"/>
          <p:cNvSpPr/>
          <p:nvPr/>
        </p:nvSpPr>
        <p:spPr>
          <a:xfrm>
            <a:off x="1280160" y="3364992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Failure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2834640" y="335584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What if the alert is wrong, late, or missing?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0"/>
          <p:cNvCxnSpPr/>
          <p:nvPr/>
        </p:nvCxnSpPr>
        <p:spPr>
          <a:xfrm>
            <a:off x="1280160" y="4306824"/>
            <a:ext cx="96469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0"/>
          <p:cNvSpPr/>
          <p:nvPr/>
        </p:nvSpPr>
        <p:spPr>
          <a:xfrm>
            <a:off x="1280160" y="3895344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56B7"/>
              </a:buClr>
              <a:buSzPts val="880"/>
              <a:buFont typeface="Arial"/>
              <a:buNone/>
            </a:pPr>
            <a:r>
              <a:rPr b="1" lang="en-US" sz="880">
                <a:solidFill>
                  <a:srgbClr val="6F56B7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834640" y="388620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What would reveal that failure?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874520" y="5559552"/>
            <a:ext cx="8458200" cy="512064"/>
          </a:xfrm>
          <a:prstGeom prst="roundRect">
            <a:avLst>
              <a:gd fmla="val 14286" name="adj"/>
            </a:avLst>
          </a:prstGeom>
          <a:solidFill>
            <a:srgbClr val="F4F8FD"/>
          </a:solidFill>
          <a:ln cap="flat" cmpd="sng" w="9525">
            <a:solidFill>
              <a:srgbClr val="1E4F91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p10"/>
          <p:cNvSpPr/>
          <p:nvPr/>
        </p:nvSpPr>
        <p:spPr>
          <a:xfrm>
            <a:off x="2148840" y="5715000"/>
            <a:ext cx="7909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If the decision, owner, failure, and evidence are unclear, the boundary is incomplete.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REFERENCE CONNECTION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Software Engineering Still Matters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11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11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09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77240" y="1737360"/>
            <a:ext cx="3154680" cy="246888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11"/>
          <p:cNvSpPr/>
          <p:nvPr/>
        </p:nvSpPr>
        <p:spPr>
          <a:xfrm>
            <a:off x="941832" y="1938528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300"/>
              <a:buFont typeface="Arial"/>
              <a:buNone/>
            </a:pPr>
            <a:r>
              <a:rPr b="1" i="0" lang="en-US" sz="130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1033272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DDECFF"/>
          </a:solidFill>
          <a:ln cap="flat" cmpd="sng" w="1015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6" name="Google Shape;296;p11"/>
          <p:cNvSpPr/>
          <p:nvPr/>
        </p:nvSpPr>
        <p:spPr>
          <a:xfrm>
            <a:off x="1106424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elicit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1"/>
          <p:cNvCxnSpPr/>
          <p:nvPr/>
        </p:nvCxnSpPr>
        <p:spPr>
          <a:xfrm>
            <a:off x="1819656" y="2807208"/>
            <a:ext cx="128016" cy="0"/>
          </a:xfrm>
          <a:prstGeom prst="straightConnector1">
            <a:avLst/>
          </a:prstGeom>
          <a:noFill/>
          <a:ln cap="flat" cmpd="sng" w="1015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1"/>
          <p:cNvSpPr/>
          <p:nvPr/>
        </p:nvSpPr>
        <p:spPr>
          <a:xfrm>
            <a:off x="1838858" y="2756916"/>
            <a:ext cx="89611" cy="1005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A6FC5"/>
          </a:solidFill>
          <a:ln cap="flat" cmpd="sng" w="12700">
            <a:solidFill>
              <a:srgbClr val="2A6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99" name="Google Shape;299;p11"/>
          <p:cNvSpPr/>
          <p:nvPr/>
        </p:nvSpPr>
        <p:spPr>
          <a:xfrm>
            <a:off x="1975104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DDECFF"/>
          </a:solidFill>
          <a:ln cap="flat" cmpd="sng" w="1015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0" name="Google Shape;300;p11"/>
          <p:cNvSpPr/>
          <p:nvPr/>
        </p:nvSpPr>
        <p:spPr>
          <a:xfrm>
            <a:off x="2048256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specify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>
            <a:off x="2761488" y="2807208"/>
            <a:ext cx="128016" cy="0"/>
          </a:xfrm>
          <a:prstGeom prst="straightConnector1">
            <a:avLst/>
          </a:prstGeom>
          <a:noFill/>
          <a:ln cap="flat" cmpd="sng" w="1015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1"/>
          <p:cNvSpPr/>
          <p:nvPr/>
        </p:nvSpPr>
        <p:spPr>
          <a:xfrm>
            <a:off x="2780690" y="2756916"/>
            <a:ext cx="89611" cy="1005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A6FC5"/>
          </a:solidFill>
          <a:ln cap="flat" cmpd="sng" w="12700">
            <a:solidFill>
              <a:srgbClr val="2A6FC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3" name="Google Shape;303;p11"/>
          <p:cNvSpPr/>
          <p:nvPr/>
        </p:nvSpPr>
        <p:spPr>
          <a:xfrm>
            <a:off x="2916936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DDECFF"/>
          </a:solidFill>
          <a:ln cap="flat" cmpd="sng" w="1015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4" name="Google Shape;304;p11"/>
          <p:cNvSpPr/>
          <p:nvPr/>
        </p:nvSpPr>
        <p:spPr>
          <a:xfrm>
            <a:off x="2990088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051560" y="340156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20"/>
              <a:buFont typeface="Arial"/>
              <a:buNone/>
            </a:pPr>
            <a:r>
              <a:rPr b="0" i="0" lang="en-US" sz="8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users, constraints, acceptance criteria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251960" y="1737360"/>
            <a:ext cx="3154680" cy="246888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7" name="Google Shape;307;p11"/>
          <p:cNvSpPr/>
          <p:nvPr/>
        </p:nvSpPr>
        <p:spPr>
          <a:xfrm>
            <a:off x="4416552" y="1938528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1300"/>
              <a:buFont typeface="Arial"/>
              <a:buNone/>
            </a:pPr>
            <a:r>
              <a:rPr b="1" i="0" lang="en-US" sz="13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07992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FFF0D5"/>
          </a:solidFill>
          <a:ln cap="flat" cmpd="sng" w="1015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11"/>
          <p:cNvSpPr/>
          <p:nvPr/>
        </p:nvSpPr>
        <p:spPr>
          <a:xfrm>
            <a:off x="4581144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11"/>
          <p:cNvCxnSpPr/>
          <p:nvPr/>
        </p:nvCxnSpPr>
        <p:spPr>
          <a:xfrm>
            <a:off x="5294376" y="2807208"/>
            <a:ext cx="128016" cy="0"/>
          </a:xfrm>
          <a:prstGeom prst="straightConnector1">
            <a:avLst/>
          </a:prstGeom>
          <a:noFill/>
          <a:ln cap="flat" cmpd="sng" w="1015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1"/>
          <p:cNvSpPr/>
          <p:nvPr/>
        </p:nvSpPr>
        <p:spPr>
          <a:xfrm>
            <a:off x="5313578" y="2756916"/>
            <a:ext cx="89611" cy="1005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C31"/>
          </a:solidFill>
          <a:ln cap="flat" cmpd="sng" w="12700">
            <a:solidFill>
              <a:srgbClr val="E69C3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2" name="Google Shape;312;p11"/>
          <p:cNvSpPr/>
          <p:nvPr/>
        </p:nvSpPr>
        <p:spPr>
          <a:xfrm>
            <a:off x="5449824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FFF0D5"/>
          </a:solidFill>
          <a:ln cap="flat" cmpd="sng" w="1015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3" name="Google Shape;313;p11"/>
          <p:cNvSpPr/>
          <p:nvPr/>
        </p:nvSpPr>
        <p:spPr>
          <a:xfrm>
            <a:off x="5522976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components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1"/>
          <p:cNvCxnSpPr/>
          <p:nvPr/>
        </p:nvCxnSpPr>
        <p:spPr>
          <a:xfrm>
            <a:off x="6236208" y="2807208"/>
            <a:ext cx="128016" cy="0"/>
          </a:xfrm>
          <a:prstGeom prst="straightConnector1">
            <a:avLst/>
          </a:prstGeom>
          <a:noFill/>
          <a:ln cap="flat" cmpd="sng" w="1015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1"/>
          <p:cNvSpPr/>
          <p:nvPr/>
        </p:nvSpPr>
        <p:spPr>
          <a:xfrm>
            <a:off x="6255410" y="2756916"/>
            <a:ext cx="89611" cy="1005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69C31"/>
          </a:solidFill>
          <a:ln cap="flat" cmpd="sng" w="12700">
            <a:solidFill>
              <a:srgbClr val="E69C3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6" name="Google Shape;316;p11"/>
          <p:cNvSpPr/>
          <p:nvPr/>
        </p:nvSpPr>
        <p:spPr>
          <a:xfrm>
            <a:off x="6391656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FFF0D5"/>
          </a:solidFill>
          <a:ln cap="flat" cmpd="sng" w="1015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17" name="Google Shape;317;p11"/>
          <p:cNvSpPr/>
          <p:nvPr/>
        </p:nvSpPr>
        <p:spPr>
          <a:xfrm>
            <a:off x="6464808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26280" y="340156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20"/>
              <a:buFont typeface="Arial"/>
              <a:buNone/>
            </a:pPr>
            <a:r>
              <a:rPr b="0" i="0" lang="en-US" sz="8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structure, behavior, dependencies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726680" y="1737360"/>
            <a:ext cx="3154680" cy="246888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11"/>
          <p:cNvSpPr/>
          <p:nvPr/>
        </p:nvSpPr>
        <p:spPr>
          <a:xfrm>
            <a:off x="7891272" y="1938528"/>
            <a:ext cx="2825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300"/>
              <a:buFont typeface="Arial"/>
              <a:buNone/>
            </a:pPr>
            <a:r>
              <a:rPr b="1" i="0" lang="en-US" sz="130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Validation / Testing</a:t>
            </a:r>
            <a:endParaRPr b="0" i="0" sz="13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7982712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DAF4EA"/>
          </a:solidFill>
          <a:ln cap="flat" cmpd="sng" w="1015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2" name="Google Shape;322;p11"/>
          <p:cNvSpPr/>
          <p:nvPr/>
        </p:nvSpPr>
        <p:spPr>
          <a:xfrm>
            <a:off x="8055864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11"/>
          <p:cNvCxnSpPr/>
          <p:nvPr/>
        </p:nvCxnSpPr>
        <p:spPr>
          <a:xfrm>
            <a:off x="8769096" y="2807208"/>
            <a:ext cx="128016" cy="0"/>
          </a:xfrm>
          <a:prstGeom prst="straightConnector1">
            <a:avLst/>
          </a:prstGeom>
          <a:noFill/>
          <a:ln cap="flat" cmpd="sng" w="1015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1"/>
          <p:cNvSpPr/>
          <p:nvPr/>
        </p:nvSpPr>
        <p:spPr>
          <a:xfrm>
            <a:off x="8788298" y="2756916"/>
            <a:ext cx="89611" cy="1005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79771"/>
          </a:solidFill>
          <a:ln cap="flat" cmpd="sng" w="12700">
            <a:solidFill>
              <a:srgbClr val="27977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5" name="Google Shape;325;p11"/>
          <p:cNvSpPr/>
          <p:nvPr/>
        </p:nvSpPr>
        <p:spPr>
          <a:xfrm>
            <a:off x="8924544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DAF4EA"/>
          </a:solidFill>
          <a:ln cap="flat" cmpd="sng" w="1015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6" name="Google Shape;326;p11"/>
          <p:cNvSpPr/>
          <p:nvPr/>
        </p:nvSpPr>
        <p:spPr>
          <a:xfrm>
            <a:off x="8997696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11"/>
          <p:cNvCxnSpPr/>
          <p:nvPr/>
        </p:nvCxnSpPr>
        <p:spPr>
          <a:xfrm>
            <a:off x="9710928" y="2807208"/>
            <a:ext cx="128016" cy="0"/>
          </a:xfrm>
          <a:prstGeom prst="straightConnector1">
            <a:avLst/>
          </a:prstGeom>
          <a:noFill/>
          <a:ln cap="flat" cmpd="sng" w="1015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1"/>
          <p:cNvSpPr/>
          <p:nvPr/>
        </p:nvSpPr>
        <p:spPr>
          <a:xfrm>
            <a:off x="9730130" y="2756916"/>
            <a:ext cx="89611" cy="1005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79771"/>
          </a:solidFill>
          <a:ln cap="flat" cmpd="sng" w="12700">
            <a:solidFill>
              <a:srgbClr val="27977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29" name="Google Shape;329;p11"/>
          <p:cNvSpPr/>
          <p:nvPr/>
        </p:nvSpPr>
        <p:spPr>
          <a:xfrm>
            <a:off x="9866376" y="2578608"/>
            <a:ext cx="758952" cy="457200"/>
          </a:xfrm>
          <a:prstGeom prst="roundRect">
            <a:avLst>
              <a:gd fmla="val 16000" name="adj"/>
            </a:avLst>
          </a:prstGeom>
          <a:solidFill>
            <a:srgbClr val="DAF4EA"/>
          </a:solidFill>
          <a:ln cap="flat" cmpd="sng" w="1015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11"/>
          <p:cNvSpPr/>
          <p:nvPr/>
        </p:nvSpPr>
        <p:spPr>
          <a:xfrm>
            <a:off x="9939528" y="2624328"/>
            <a:ext cx="612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780"/>
              <a:buFont typeface="Arial"/>
              <a:buNone/>
            </a:pPr>
            <a:r>
              <a:rPr b="1" i="0" lang="en-US" sz="78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7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001000" y="340156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20"/>
              <a:buFont typeface="Arial"/>
              <a:buNone/>
            </a:pPr>
            <a:r>
              <a:rPr b="0" i="0" lang="en-US" sz="8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unit, integration, acceptance evidence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143000" y="5742432"/>
            <a:ext cx="9921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30"/>
              <a:buFont typeface="Arial"/>
              <a:buNone/>
            </a:pPr>
            <a:r>
              <a:rPr b="1" i="0" lang="en-US" sz="103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Requirements, design, and testing remain essential; learned behavior adds new evidence needs.</a:t>
            </a:r>
            <a:endParaRPr b="0" i="0" sz="10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MLOPS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MLOps In One Sentence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2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2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10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832104" y="1563624"/>
            <a:ext cx="5605272" cy="3319272"/>
          </a:xfrm>
          <a:prstGeom prst="roundRect">
            <a:avLst>
              <a:gd fmla="val 826" name="adj"/>
            </a:avLst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344" name="Google Shape;3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827304"/>
            <a:ext cx="5532120" cy="279191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2"/>
          <p:cNvSpPr/>
          <p:nvPr/>
        </p:nvSpPr>
        <p:spPr>
          <a:xfrm>
            <a:off x="868680" y="4901184"/>
            <a:ext cx="5532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40"/>
              <a:buFont typeface="Arial"/>
              <a:buNone/>
            </a:pPr>
            <a:r>
              <a:rPr b="0" i="0" lang="en-US" sz="74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ML + Ops loop </a:t>
            </a:r>
            <a:endParaRPr b="0" i="0" sz="7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12"/>
          <p:cNvCxnSpPr/>
          <p:nvPr/>
        </p:nvCxnSpPr>
        <p:spPr>
          <a:xfrm>
            <a:off x="6720840" y="1956816"/>
            <a:ext cx="475488" cy="0"/>
          </a:xfrm>
          <a:prstGeom prst="straightConnector1">
            <a:avLst/>
          </a:prstGeom>
          <a:noFill/>
          <a:ln cap="flat" cmpd="sng" w="2030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12"/>
          <p:cNvSpPr/>
          <p:nvPr/>
        </p:nvSpPr>
        <p:spPr>
          <a:xfrm>
            <a:off x="7324344" y="1865376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740"/>
              <a:buFont typeface="Arial"/>
              <a:buNone/>
            </a:pPr>
            <a:r>
              <a:rPr b="1" i="0" lang="en-US" sz="7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INTERPRETATION</a:t>
            </a:r>
            <a:endParaRPr b="0" i="0" sz="7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2"/>
          <p:cNvCxnSpPr/>
          <p:nvPr/>
        </p:nvCxnSpPr>
        <p:spPr>
          <a:xfrm>
            <a:off x="6748272" y="2752344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12"/>
          <p:cNvSpPr/>
          <p:nvPr/>
        </p:nvSpPr>
        <p:spPr>
          <a:xfrm>
            <a:off x="6748272" y="2395728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Repeatable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11312" y="2386584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89"/>
              <a:buFont typeface="Arial"/>
              <a:buNone/>
            </a:pPr>
            <a:r>
              <a:rPr b="0" i="0" lang="en-US" sz="89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same inputs and versions can be rerun</a:t>
            </a:r>
            <a:endParaRPr b="0" i="0" sz="89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12"/>
          <p:cNvCxnSpPr/>
          <p:nvPr/>
        </p:nvCxnSpPr>
        <p:spPr>
          <a:xfrm>
            <a:off x="6748272" y="3227832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2"/>
          <p:cNvSpPr/>
          <p:nvPr/>
        </p:nvSpPr>
        <p:spPr>
          <a:xfrm>
            <a:off x="6748272" y="2871216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Testable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8211312" y="28620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89"/>
              <a:buFont typeface="Arial"/>
              <a:buNone/>
            </a:pPr>
            <a:r>
              <a:rPr b="0" i="0" lang="en-US" sz="89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assumptions become checks</a:t>
            </a:r>
            <a:endParaRPr b="0" i="0" sz="89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2"/>
          <p:cNvCxnSpPr/>
          <p:nvPr/>
        </p:nvCxnSpPr>
        <p:spPr>
          <a:xfrm>
            <a:off x="6748272" y="3703320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2"/>
          <p:cNvSpPr/>
          <p:nvPr/>
        </p:nvSpPr>
        <p:spPr>
          <a:xfrm>
            <a:off x="6748272" y="3346704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211312" y="333756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89"/>
              <a:buFont typeface="Arial"/>
              <a:buNone/>
            </a:pPr>
            <a:r>
              <a:rPr b="0" i="0" lang="en-US" sz="89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runtime behavior leaves evidence</a:t>
            </a:r>
            <a:endParaRPr b="0" i="0" sz="89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2"/>
          <p:cNvCxnSpPr/>
          <p:nvPr/>
        </p:nvCxnSpPr>
        <p:spPr>
          <a:xfrm>
            <a:off x="6748272" y="4178808"/>
            <a:ext cx="41605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2"/>
          <p:cNvSpPr/>
          <p:nvPr/>
        </p:nvSpPr>
        <p:spPr>
          <a:xfrm>
            <a:off x="6748272" y="382219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56B7"/>
              </a:buClr>
              <a:buSzPts val="820"/>
              <a:buFont typeface="Arial"/>
              <a:buNone/>
            </a:pPr>
            <a:r>
              <a:rPr b="1" i="0" lang="en-US" sz="820" u="none" cap="none">
                <a:solidFill>
                  <a:srgbClr val="6F56B7"/>
                </a:solidFill>
                <a:latin typeface="Arial"/>
                <a:ea typeface="Arial"/>
                <a:cs typeface="Arial"/>
                <a:sym typeface="Arial"/>
              </a:rPr>
              <a:t>Maintainable</a:t>
            </a:r>
            <a:endParaRPr b="0" i="0" sz="8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8211312" y="3813048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89"/>
              <a:buFont typeface="Arial"/>
              <a:buNone/>
            </a:pPr>
            <a:r>
              <a:rPr b="0" i="0" lang="en-US" sz="89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owners can respond when signals change</a:t>
            </a:r>
            <a:endParaRPr b="0" i="0" sz="89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1874520" y="5559552"/>
            <a:ext cx="8458200" cy="512064"/>
          </a:xfrm>
          <a:prstGeom prst="roundRect">
            <a:avLst>
              <a:gd fmla="val 14286" name="adj"/>
            </a:avLst>
          </a:prstGeom>
          <a:solidFill>
            <a:srgbClr val="F4F8FD"/>
          </a:solidFill>
          <a:ln cap="flat" cmpd="sng" w="9525">
            <a:solidFill>
              <a:srgbClr val="1E4F91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12"/>
          <p:cNvSpPr/>
          <p:nvPr/>
        </p:nvSpPr>
        <p:spPr>
          <a:xfrm>
            <a:off x="2148840" y="5715000"/>
            <a:ext cx="7909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40"/>
              <a:buFont typeface="Arial"/>
              <a:buNone/>
            </a:pPr>
            <a:r>
              <a:rPr b="1" i="0" lang="en-US" sz="11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MLOps is not a tool list. It is a way to structure production ML work.</a:t>
            </a:r>
            <a:endParaRPr b="0" i="0" sz="11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/>
          <p:nvPr/>
        </p:nvSpPr>
        <p:spPr>
          <a:xfrm>
            <a:off x="530352" y="21945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9"/>
              <a:buFont typeface="Arial"/>
              <a:buNone/>
            </a:pPr>
            <a:r>
              <a:rPr b="1" i="0" lang="en-US" sz="8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LIFECYCLE</a:t>
            </a:r>
            <a:endParaRPr sz="1800"/>
          </a:p>
        </p:txBody>
      </p:sp>
      <p:sp>
        <p:nvSpPr>
          <p:cNvPr id="368" name="Google Shape;368;p13"/>
          <p:cNvSpPr/>
          <p:nvPr/>
        </p:nvSpPr>
        <p:spPr>
          <a:xfrm>
            <a:off x="530352" y="49377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Arial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Workflow: From Data to Inference</a:t>
            </a:r>
            <a:endParaRPr sz="1800"/>
          </a:p>
        </p:txBody>
      </p:sp>
      <p:cxnSp>
        <p:nvCxnSpPr>
          <p:cNvPr id="369" name="Google Shape;369;p13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0" name="Google Shape;370;p13"/>
          <p:cNvSpPr/>
          <p:nvPr/>
        </p:nvSpPr>
        <p:spPr>
          <a:xfrm>
            <a:off x="530352" y="645566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1800"/>
          </a:p>
        </p:txBody>
      </p:sp>
      <p:sp>
        <p:nvSpPr>
          <p:cNvPr id="371" name="Google Shape;371;p13"/>
          <p:cNvSpPr/>
          <p:nvPr/>
        </p:nvSpPr>
        <p:spPr>
          <a:xfrm>
            <a:off x="10378440" y="64556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11</a:t>
            </a:r>
            <a:endParaRPr sz="1800"/>
          </a:p>
        </p:txBody>
      </p:sp>
      <p:sp>
        <p:nvSpPr>
          <p:cNvPr id="372" name="Google Shape;372;p13"/>
          <p:cNvSpPr/>
          <p:nvPr/>
        </p:nvSpPr>
        <p:spPr>
          <a:xfrm>
            <a:off x="841248" y="138988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REFERENCE WORKFLOW / NATIVE REDRAW</a:t>
            </a:r>
            <a:endParaRPr sz="1800"/>
          </a:p>
        </p:txBody>
      </p:sp>
      <p:cxnSp>
        <p:nvCxnSpPr>
          <p:cNvPr id="373" name="Google Shape;373;p13"/>
          <p:cNvCxnSpPr/>
          <p:nvPr/>
        </p:nvCxnSpPr>
        <p:spPr>
          <a:xfrm>
            <a:off x="1810512" y="2606040"/>
            <a:ext cx="91440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4" name="Google Shape;374;p13"/>
          <p:cNvSpPr/>
          <p:nvPr/>
        </p:nvSpPr>
        <p:spPr>
          <a:xfrm rot="5400000">
            <a:off x="1856232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13"/>
          <p:cNvCxnSpPr/>
          <p:nvPr/>
        </p:nvCxnSpPr>
        <p:spPr>
          <a:xfrm>
            <a:off x="3236976" y="2606040"/>
            <a:ext cx="91440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6" name="Google Shape;376;p13"/>
          <p:cNvSpPr/>
          <p:nvPr/>
        </p:nvSpPr>
        <p:spPr>
          <a:xfrm rot="5400000">
            <a:off x="3282696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3"/>
          <p:cNvCxnSpPr/>
          <p:nvPr/>
        </p:nvCxnSpPr>
        <p:spPr>
          <a:xfrm>
            <a:off x="4663440" y="2606040"/>
            <a:ext cx="91439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8" name="Google Shape;378;p13"/>
          <p:cNvSpPr/>
          <p:nvPr/>
        </p:nvSpPr>
        <p:spPr>
          <a:xfrm rot="5400000">
            <a:off x="4709159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13"/>
          <p:cNvCxnSpPr/>
          <p:nvPr/>
        </p:nvCxnSpPr>
        <p:spPr>
          <a:xfrm>
            <a:off x="6089903" y="2606040"/>
            <a:ext cx="91441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0" name="Google Shape;380;p13"/>
          <p:cNvSpPr/>
          <p:nvPr/>
        </p:nvSpPr>
        <p:spPr>
          <a:xfrm rot="5400000">
            <a:off x="6135624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3"/>
          <p:cNvCxnSpPr/>
          <p:nvPr/>
        </p:nvCxnSpPr>
        <p:spPr>
          <a:xfrm>
            <a:off x="7516368" y="2606040"/>
            <a:ext cx="91440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2" name="Google Shape;382;p13"/>
          <p:cNvSpPr/>
          <p:nvPr/>
        </p:nvSpPr>
        <p:spPr>
          <a:xfrm rot="5400000">
            <a:off x="7562088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13"/>
          <p:cNvCxnSpPr/>
          <p:nvPr/>
        </p:nvCxnSpPr>
        <p:spPr>
          <a:xfrm>
            <a:off x="8942832" y="2606040"/>
            <a:ext cx="91440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4" name="Google Shape;384;p13"/>
          <p:cNvSpPr/>
          <p:nvPr/>
        </p:nvSpPr>
        <p:spPr>
          <a:xfrm rot="5400000">
            <a:off x="8988552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13"/>
          <p:cNvCxnSpPr/>
          <p:nvPr/>
        </p:nvCxnSpPr>
        <p:spPr>
          <a:xfrm>
            <a:off x="10369296" y="2606040"/>
            <a:ext cx="91440" cy="0"/>
          </a:xfrm>
          <a:prstGeom prst="straightConnector1">
            <a:avLst/>
          </a:prstGeom>
          <a:noFill/>
          <a:ln cap="flat" cmpd="sng" w="17775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6" name="Google Shape;386;p13"/>
          <p:cNvSpPr/>
          <p:nvPr/>
        </p:nvSpPr>
        <p:spPr>
          <a:xfrm rot="5400000">
            <a:off x="10415016" y="254203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CCD5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585216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658368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Collect</a:t>
            </a:r>
            <a:br>
              <a:rPr lang="en-US" sz="1800"/>
            </a:br>
            <a:r>
              <a:rPr b="1" i="0" lang="en-US" sz="94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/>
          </a:p>
        </p:txBody>
      </p:sp>
      <p:sp>
        <p:nvSpPr>
          <p:cNvPr id="389" name="Google Shape;389;p13"/>
          <p:cNvSpPr/>
          <p:nvPr/>
        </p:nvSpPr>
        <p:spPr>
          <a:xfrm>
            <a:off x="2011680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2084832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Preprocess</a:t>
            </a:r>
            <a:br>
              <a:rPr lang="en-US" sz="1800"/>
            </a:br>
            <a:r>
              <a:rPr b="1" i="0" lang="en-US" sz="94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/>
          </a:p>
        </p:txBody>
      </p:sp>
      <p:sp>
        <p:nvSpPr>
          <p:cNvPr id="391" name="Google Shape;391;p13"/>
          <p:cNvSpPr/>
          <p:nvPr/>
        </p:nvSpPr>
        <p:spPr>
          <a:xfrm>
            <a:off x="3438144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5875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3511296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Design a</a:t>
            </a:r>
            <a:br>
              <a:rPr lang="en-US" sz="1800"/>
            </a:br>
            <a:r>
              <a:rPr b="1" i="0" lang="en-US" sz="94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/>
          </a:p>
        </p:txBody>
      </p:sp>
      <p:sp>
        <p:nvSpPr>
          <p:cNvPr id="393" name="Google Shape;393;p13"/>
          <p:cNvSpPr/>
          <p:nvPr/>
        </p:nvSpPr>
        <p:spPr>
          <a:xfrm>
            <a:off x="4864607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5875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937759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Train a</a:t>
            </a:r>
            <a:br>
              <a:rPr lang="en-US" sz="1800"/>
            </a:br>
            <a:r>
              <a:rPr b="1" i="0" lang="en-US" sz="94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/>
          </a:p>
        </p:txBody>
      </p:sp>
      <p:sp>
        <p:nvSpPr>
          <p:cNvPr id="395" name="Google Shape;395;p13"/>
          <p:cNvSpPr/>
          <p:nvPr/>
        </p:nvSpPr>
        <p:spPr>
          <a:xfrm>
            <a:off x="6291072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E8F6EF"/>
          </a:solidFill>
          <a:ln cap="flat" cmpd="sng" w="1587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6364224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br>
              <a:rPr lang="en-US" sz="1800"/>
            </a:br>
            <a:r>
              <a:rPr b="1" i="0" lang="en-US" sz="94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 sz="1800"/>
          </a:p>
        </p:txBody>
      </p:sp>
      <p:sp>
        <p:nvSpPr>
          <p:cNvPr id="397" name="Google Shape;397;p13"/>
          <p:cNvSpPr/>
          <p:nvPr/>
        </p:nvSpPr>
        <p:spPr>
          <a:xfrm>
            <a:off x="7717536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E8F6EF"/>
          </a:solidFill>
          <a:ln cap="flat" cmpd="sng" w="1587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7790688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Convert</a:t>
            </a:r>
            <a:br>
              <a:rPr lang="en-US" sz="1800"/>
            </a:br>
            <a:r>
              <a:rPr b="1" i="0" lang="en-US" sz="94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/>
          </a:p>
        </p:txBody>
      </p:sp>
      <p:sp>
        <p:nvSpPr>
          <p:cNvPr id="399" name="Google Shape;399;p13"/>
          <p:cNvSpPr/>
          <p:nvPr/>
        </p:nvSpPr>
        <p:spPr>
          <a:xfrm>
            <a:off x="9144000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FCEBEC"/>
          </a:solidFill>
          <a:ln cap="flat" cmpd="sng" w="15875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9217152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br>
              <a:rPr lang="en-US" sz="1800"/>
            </a:br>
            <a:r>
              <a:rPr b="1" i="0" lang="en-US" sz="94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800"/>
          </a:p>
        </p:txBody>
      </p:sp>
      <p:sp>
        <p:nvSpPr>
          <p:cNvPr id="401" name="Google Shape;401;p13"/>
          <p:cNvSpPr/>
          <p:nvPr/>
        </p:nvSpPr>
        <p:spPr>
          <a:xfrm>
            <a:off x="10570464" y="2066543"/>
            <a:ext cx="1225296" cy="1078992"/>
          </a:xfrm>
          <a:prstGeom prst="roundRect">
            <a:avLst>
              <a:gd fmla="val 16667" name="adj"/>
            </a:avLst>
          </a:prstGeom>
          <a:solidFill>
            <a:srgbClr val="FCEBEC"/>
          </a:solidFill>
          <a:ln cap="flat" cmpd="sng" w="15875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10643616" y="2221992"/>
            <a:ext cx="107899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939"/>
              <a:buFont typeface="Arial"/>
              <a:buNone/>
            </a:pPr>
            <a:r>
              <a:rPr b="1" i="0" lang="en-US" sz="94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Make</a:t>
            </a:r>
            <a:br>
              <a:rPr lang="en-US" sz="1800"/>
            </a:br>
            <a:r>
              <a:rPr b="1" i="0" lang="en-US" sz="94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Inferences</a:t>
            </a:r>
            <a:endParaRPr sz="1800"/>
          </a:p>
        </p:txBody>
      </p:sp>
      <p:sp>
        <p:nvSpPr>
          <p:cNvPr id="403" name="Google Shape;403;p13"/>
          <p:cNvSpPr/>
          <p:nvPr/>
        </p:nvSpPr>
        <p:spPr>
          <a:xfrm>
            <a:off x="822960" y="3511296"/>
            <a:ext cx="2249424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868680" y="3529584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800"/>
          </a:p>
        </p:txBody>
      </p:sp>
      <p:sp>
        <p:nvSpPr>
          <p:cNvPr id="405" name="Google Shape;405;p13"/>
          <p:cNvSpPr/>
          <p:nvPr/>
        </p:nvSpPr>
        <p:spPr>
          <a:xfrm>
            <a:off x="3639312" y="3511296"/>
            <a:ext cx="2249424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685032" y="3529584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sz="1800"/>
          </a:p>
        </p:txBody>
      </p:sp>
      <p:sp>
        <p:nvSpPr>
          <p:cNvPr id="407" name="Google Shape;407;p13"/>
          <p:cNvSpPr/>
          <p:nvPr/>
        </p:nvSpPr>
        <p:spPr>
          <a:xfrm>
            <a:off x="6455664" y="3511296"/>
            <a:ext cx="2249424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501383" y="3529584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VALIDATE + PACKAGE</a:t>
            </a:r>
            <a:endParaRPr sz="1800"/>
          </a:p>
        </p:txBody>
      </p:sp>
      <p:sp>
        <p:nvSpPr>
          <p:cNvPr id="409" name="Google Shape;409;p13"/>
          <p:cNvSpPr/>
          <p:nvPr/>
        </p:nvSpPr>
        <p:spPr>
          <a:xfrm>
            <a:off x="9272016" y="3511296"/>
            <a:ext cx="2249424" cy="365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9317736" y="3529584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sz="1800"/>
          </a:p>
        </p:txBody>
      </p:sp>
      <p:sp>
        <p:nvSpPr>
          <p:cNvPr id="411" name="Google Shape;411;p13"/>
          <p:cNvSpPr/>
          <p:nvPr/>
        </p:nvSpPr>
        <p:spPr>
          <a:xfrm>
            <a:off x="1005840" y="4261104"/>
            <a:ext cx="1014984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316736" y="4434840"/>
            <a:ext cx="260604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20"/>
              <a:buFont typeface="Arial"/>
              <a:buNone/>
            </a:pPr>
            <a:r>
              <a:rPr b="1" i="0" lang="en-US" sz="142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 workflow describes one pass through technical stages.</a:t>
            </a:r>
            <a:endParaRPr sz="1800"/>
          </a:p>
        </p:txBody>
      </p:sp>
      <p:sp>
        <p:nvSpPr>
          <p:cNvPr id="413" name="Google Shape;413;p13"/>
          <p:cNvSpPr/>
          <p:nvPr/>
        </p:nvSpPr>
        <p:spPr>
          <a:xfrm>
            <a:off x="3703320" y="4425696"/>
            <a:ext cx="7086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320"/>
              <a:buFont typeface="Arial"/>
              <a:buNone/>
            </a:pPr>
            <a:r>
              <a:rPr b="1" i="0" lang="en-US" sz="132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It is not yet the system's operating lifecycle.</a:t>
            </a:r>
            <a:endParaRPr sz="1800"/>
          </a:p>
        </p:txBody>
      </p:sp>
      <p:sp>
        <p:nvSpPr>
          <p:cNvPr id="414" name="Google Shape;414;p13"/>
          <p:cNvSpPr/>
          <p:nvPr/>
        </p:nvSpPr>
        <p:spPr>
          <a:xfrm>
            <a:off x="868680" y="5669280"/>
            <a:ext cx="1046988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1078992" y="5779008"/>
            <a:ext cx="45720" cy="256032"/>
          </a:xfrm>
          <a:prstGeom prst="rect">
            <a:avLst/>
          </a:prstGeom>
          <a:solidFill>
            <a:srgbClr val="1E4F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1298448" y="5715000"/>
            <a:ext cx="9738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30"/>
              <a:buFont typeface="Arial"/>
              <a:buNone/>
            </a:pPr>
            <a:r>
              <a:rPr b="1" i="0" lang="en-US" sz="11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Every stage must leave evidence the next stage can trust.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4"/>
          <p:cNvSpPr/>
          <p:nvPr/>
        </p:nvSpPr>
        <p:spPr>
          <a:xfrm>
            <a:off x="530352" y="21945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9"/>
              <a:buFont typeface="Arial"/>
              <a:buNone/>
            </a:pPr>
            <a:r>
              <a:rPr b="1" i="0" lang="en-US" sz="8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LIFECYCLE</a:t>
            </a:r>
            <a:endParaRPr sz="1800"/>
          </a:p>
        </p:txBody>
      </p:sp>
      <p:sp>
        <p:nvSpPr>
          <p:cNvPr id="423" name="Google Shape;423;p14"/>
          <p:cNvSpPr/>
          <p:nvPr/>
        </p:nvSpPr>
        <p:spPr>
          <a:xfrm>
            <a:off x="530352" y="49377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Arial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Lifecycle: Keeping the System Useful</a:t>
            </a:r>
            <a:endParaRPr sz="1800"/>
          </a:p>
        </p:txBody>
      </p:sp>
      <p:cxnSp>
        <p:nvCxnSpPr>
          <p:cNvPr id="424" name="Google Shape;424;p14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5" name="Google Shape;425;p14"/>
          <p:cNvSpPr/>
          <p:nvPr/>
        </p:nvSpPr>
        <p:spPr>
          <a:xfrm>
            <a:off x="530352" y="645566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1800"/>
          </a:p>
        </p:txBody>
      </p:sp>
      <p:sp>
        <p:nvSpPr>
          <p:cNvPr id="426" name="Google Shape;426;p14"/>
          <p:cNvSpPr/>
          <p:nvPr/>
        </p:nvSpPr>
        <p:spPr>
          <a:xfrm>
            <a:off x="10378440" y="64556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12</a:t>
            </a:r>
            <a:endParaRPr sz="1800"/>
          </a:p>
        </p:txBody>
      </p:sp>
      <p:sp>
        <p:nvSpPr>
          <p:cNvPr id="427" name="Google Shape;427;p14"/>
          <p:cNvSpPr/>
          <p:nvPr/>
        </p:nvSpPr>
        <p:spPr>
          <a:xfrm>
            <a:off x="841248" y="134416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60"/>
              <a:buFont typeface="Arial"/>
              <a:buNone/>
            </a:pPr>
            <a:r>
              <a:rPr b="1" i="0" lang="en-US" sz="86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MLOPS PROCESS / NATIVE REDRAW</a:t>
            </a:r>
            <a:endParaRPr sz="1800"/>
          </a:p>
        </p:txBody>
      </p:sp>
      <p:sp>
        <p:nvSpPr>
          <p:cNvPr id="428" name="Google Shape;428;p14"/>
          <p:cNvSpPr/>
          <p:nvPr/>
        </p:nvSpPr>
        <p:spPr>
          <a:xfrm>
            <a:off x="713232" y="1755648"/>
            <a:ext cx="1481328" cy="74980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786384" y="1828800"/>
            <a:ext cx="1335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18"/>
              <a:buFont typeface="Arial"/>
              <a:buNone/>
            </a:pP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br>
              <a:rPr lang="en-US" sz="1800"/>
            </a:b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sz="1800"/>
          </a:p>
        </p:txBody>
      </p:sp>
      <p:sp>
        <p:nvSpPr>
          <p:cNvPr id="430" name="Google Shape;430;p14"/>
          <p:cNvSpPr/>
          <p:nvPr/>
        </p:nvSpPr>
        <p:spPr>
          <a:xfrm>
            <a:off x="2468880" y="2249424"/>
            <a:ext cx="1481328" cy="74980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2542032" y="2322576"/>
            <a:ext cx="1335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18"/>
              <a:buFont typeface="Arial"/>
              <a:buNone/>
            </a:pP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br>
              <a:rPr lang="en-US" sz="1800"/>
            </a:b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sz="1800"/>
          </a:p>
        </p:txBody>
      </p:sp>
      <p:sp>
        <p:nvSpPr>
          <p:cNvPr id="432" name="Google Shape;432;p14"/>
          <p:cNvSpPr/>
          <p:nvPr/>
        </p:nvSpPr>
        <p:spPr>
          <a:xfrm>
            <a:off x="4224528" y="2743200"/>
            <a:ext cx="1481328" cy="74980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4297680" y="2816352"/>
            <a:ext cx="1335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18"/>
              <a:buFont typeface="Arial"/>
              <a:buNone/>
            </a:pP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br>
              <a:rPr lang="en-US" sz="1800"/>
            </a:b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sz="1800"/>
          </a:p>
        </p:txBody>
      </p:sp>
      <p:sp>
        <p:nvSpPr>
          <p:cNvPr id="434" name="Google Shape;434;p14"/>
          <p:cNvSpPr/>
          <p:nvPr/>
        </p:nvSpPr>
        <p:spPr>
          <a:xfrm>
            <a:off x="5980176" y="3236976"/>
            <a:ext cx="1481328" cy="74980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053328" y="3310128"/>
            <a:ext cx="1335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18"/>
              <a:buFont typeface="Arial"/>
              <a:buNone/>
            </a:pP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br>
              <a:rPr lang="en-US" sz="1800"/>
            </a:b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800"/>
          </a:p>
        </p:txBody>
      </p:sp>
      <p:sp>
        <p:nvSpPr>
          <p:cNvPr id="436" name="Google Shape;436;p14"/>
          <p:cNvSpPr/>
          <p:nvPr/>
        </p:nvSpPr>
        <p:spPr>
          <a:xfrm>
            <a:off x="7735824" y="3730752"/>
            <a:ext cx="1481328" cy="74980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808976" y="3803904"/>
            <a:ext cx="1335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18"/>
              <a:buFont typeface="Arial"/>
              <a:buNone/>
            </a:pP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br>
              <a:rPr lang="en-US" sz="1800"/>
            </a:b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sz="1800"/>
          </a:p>
        </p:txBody>
      </p:sp>
      <p:sp>
        <p:nvSpPr>
          <p:cNvPr id="438" name="Google Shape;438;p14"/>
          <p:cNvSpPr/>
          <p:nvPr/>
        </p:nvSpPr>
        <p:spPr>
          <a:xfrm>
            <a:off x="9491472" y="4224528"/>
            <a:ext cx="1481328" cy="749808"/>
          </a:xfrm>
          <a:prstGeom prst="roundRect">
            <a:avLst>
              <a:gd fmla="val 16667" name="adj"/>
            </a:avLst>
          </a:prstGeom>
          <a:solidFill>
            <a:srgbClr val="EAF3FF"/>
          </a:solidFill>
          <a:ln cap="flat" cmpd="sng" w="1587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9564624" y="4297680"/>
            <a:ext cx="1335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18"/>
              <a:buFont typeface="Arial"/>
              <a:buNone/>
            </a:pP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br>
              <a:rPr lang="en-US" sz="1800"/>
            </a:br>
            <a:r>
              <a:rPr b="1" i="0" lang="en-US" sz="1019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sz="1800"/>
          </a:p>
        </p:txBody>
      </p:sp>
      <p:cxnSp>
        <p:nvCxnSpPr>
          <p:cNvPr id="440" name="Google Shape;440;p14"/>
          <p:cNvCxnSpPr/>
          <p:nvPr/>
        </p:nvCxnSpPr>
        <p:spPr>
          <a:xfrm>
            <a:off x="2194560" y="2130552"/>
            <a:ext cx="164592" cy="0"/>
          </a:xfrm>
          <a:prstGeom prst="straightConnector1">
            <a:avLst/>
          </a:prstGeom>
          <a:noFill/>
          <a:ln cap="flat" cmpd="sng" w="17775">
            <a:solidFill>
              <a:srgbClr val="2A6FC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1" name="Google Shape;441;p14"/>
          <p:cNvSpPr/>
          <p:nvPr/>
        </p:nvSpPr>
        <p:spPr>
          <a:xfrm rot="5400000">
            <a:off x="2313432" y="2066544"/>
            <a:ext cx="137160" cy="128016"/>
          </a:xfrm>
          <a:prstGeom prst="triangle">
            <a:avLst>
              <a:gd fmla="val 50000" name="adj"/>
            </a:avLst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1975104" y="1993392"/>
            <a:ext cx="1152144" cy="292608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2020824" y="2011680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660"/>
              <a:buFont typeface="Arial"/>
              <a:buNone/>
            </a:pPr>
            <a:r>
              <a:rPr b="1" i="0" lang="en-US" sz="66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CODE + CONFIG</a:t>
            </a:r>
            <a:endParaRPr sz="1800"/>
          </a:p>
        </p:txBody>
      </p:sp>
      <p:cxnSp>
        <p:nvCxnSpPr>
          <p:cNvPr id="444" name="Google Shape;444;p14"/>
          <p:cNvCxnSpPr/>
          <p:nvPr/>
        </p:nvCxnSpPr>
        <p:spPr>
          <a:xfrm>
            <a:off x="3950208" y="2624328"/>
            <a:ext cx="164592" cy="0"/>
          </a:xfrm>
          <a:prstGeom prst="straightConnector1">
            <a:avLst/>
          </a:prstGeom>
          <a:noFill/>
          <a:ln cap="flat" cmpd="sng" w="17775">
            <a:solidFill>
              <a:srgbClr val="2A6FC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5" name="Google Shape;445;p14"/>
          <p:cNvSpPr/>
          <p:nvPr/>
        </p:nvSpPr>
        <p:spPr>
          <a:xfrm rot="5400000">
            <a:off x="4069080" y="2560320"/>
            <a:ext cx="137160" cy="128016"/>
          </a:xfrm>
          <a:prstGeom prst="triangle">
            <a:avLst>
              <a:gd fmla="val 50000" name="adj"/>
            </a:avLst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3730752" y="2487168"/>
            <a:ext cx="1152144" cy="292608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3776472" y="250545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660"/>
              <a:buFont typeface="Arial"/>
              <a:buNone/>
            </a:pPr>
            <a:r>
              <a:rPr b="1" i="0" lang="en-US" sz="66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TRAINING PIPELINE</a:t>
            </a:r>
            <a:endParaRPr sz="1800"/>
          </a:p>
        </p:txBody>
      </p:sp>
      <p:cxnSp>
        <p:nvCxnSpPr>
          <p:cNvPr id="448" name="Google Shape;448;p14"/>
          <p:cNvCxnSpPr/>
          <p:nvPr/>
        </p:nvCxnSpPr>
        <p:spPr>
          <a:xfrm>
            <a:off x="5705856" y="3118104"/>
            <a:ext cx="164592" cy="0"/>
          </a:xfrm>
          <a:prstGeom prst="straightConnector1">
            <a:avLst/>
          </a:prstGeom>
          <a:noFill/>
          <a:ln cap="flat" cmpd="sng" w="17775">
            <a:solidFill>
              <a:srgbClr val="2A6FC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9" name="Google Shape;449;p14"/>
          <p:cNvSpPr/>
          <p:nvPr/>
        </p:nvSpPr>
        <p:spPr>
          <a:xfrm rot="5400000">
            <a:off x="5824728" y="3054096"/>
            <a:ext cx="137160" cy="128016"/>
          </a:xfrm>
          <a:prstGeom prst="triangle">
            <a:avLst>
              <a:gd fmla="val 50000" name="adj"/>
            </a:avLst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486400" y="2980944"/>
            <a:ext cx="1152144" cy="292608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5532120" y="2999232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660"/>
              <a:buFont typeface="Arial"/>
              <a:buNone/>
            </a:pPr>
            <a:r>
              <a:rPr b="1" i="0" lang="en-US" sz="66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REGISTERED MODEL</a:t>
            </a:r>
            <a:endParaRPr sz="1800"/>
          </a:p>
        </p:txBody>
      </p:sp>
      <p:cxnSp>
        <p:nvCxnSpPr>
          <p:cNvPr id="452" name="Google Shape;452;p14"/>
          <p:cNvCxnSpPr/>
          <p:nvPr/>
        </p:nvCxnSpPr>
        <p:spPr>
          <a:xfrm>
            <a:off x="7461504" y="3611880"/>
            <a:ext cx="164592" cy="0"/>
          </a:xfrm>
          <a:prstGeom prst="straightConnector1">
            <a:avLst/>
          </a:prstGeom>
          <a:noFill/>
          <a:ln cap="flat" cmpd="sng" w="17775">
            <a:solidFill>
              <a:srgbClr val="2A6FC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3" name="Google Shape;453;p14"/>
          <p:cNvSpPr/>
          <p:nvPr/>
        </p:nvSpPr>
        <p:spPr>
          <a:xfrm rot="5400000">
            <a:off x="7580376" y="3547872"/>
            <a:ext cx="137160" cy="128016"/>
          </a:xfrm>
          <a:prstGeom prst="triangle">
            <a:avLst>
              <a:gd fmla="val 50000" name="adj"/>
            </a:avLst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7242048" y="3474720"/>
            <a:ext cx="1152144" cy="292608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7287768" y="34930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660"/>
              <a:buFont typeface="Arial"/>
              <a:buNone/>
            </a:pPr>
            <a:r>
              <a:rPr b="1" i="0" lang="en-US" sz="66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SERVING PACKAGE</a:t>
            </a:r>
            <a:endParaRPr sz="1800"/>
          </a:p>
        </p:txBody>
      </p:sp>
      <p:cxnSp>
        <p:nvCxnSpPr>
          <p:cNvPr id="456" name="Google Shape;456;p14"/>
          <p:cNvCxnSpPr/>
          <p:nvPr/>
        </p:nvCxnSpPr>
        <p:spPr>
          <a:xfrm>
            <a:off x="9217152" y="4105656"/>
            <a:ext cx="164592" cy="0"/>
          </a:xfrm>
          <a:prstGeom prst="straightConnector1">
            <a:avLst/>
          </a:prstGeom>
          <a:noFill/>
          <a:ln cap="flat" cmpd="sng" w="17775">
            <a:solidFill>
              <a:srgbClr val="2A6FC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7" name="Google Shape;457;p14"/>
          <p:cNvSpPr/>
          <p:nvPr/>
        </p:nvSpPr>
        <p:spPr>
          <a:xfrm rot="5400000">
            <a:off x="9336024" y="4041648"/>
            <a:ext cx="137160" cy="128016"/>
          </a:xfrm>
          <a:prstGeom prst="triangle">
            <a:avLst>
              <a:gd fmla="val 50000" name="adj"/>
            </a:avLst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8997696" y="3968496"/>
            <a:ext cx="1152144" cy="292608"/>
          </a:xfrm>
          <a:prstGeom prst="roundRect">
            <a:avLst>
              <a:gd fmla="val 16667" name="adj"/>
            </a:avLst>
          </a:prstGeom>
          <a:solidFill>
            <a:srgbClr val="FFF3DF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9043416" y="3986783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660"/>
              <a:buFont typeface="Arial"/>
              <a:buNone/>
            </a:pPr>
            <a:r>
              <a:rPr b="1" i="0" lang="en-US" sz="66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SERVING LOGS</a:t>
            </a:r>
            <a:endParaRPr sz="1800"/>
          </a:p>
        </p:txBody>
      </p:sp>
      <p:sp>
        <p:nvSpPr>
          <p:cNvPr id="460" name="Google Shape;460;p14"/>
          <p:cNvSpPr/>
          <p:nvPr/>
        </p:nvSpPr>
        <p:spPr>
          <a:xfrm>
            <a:off x="6547104" y="1536192"/>
            <a:ext cx="3584448" cy="713232"/>
          </a:xfrm>
          <a:prstGeom prst="roundRect">
            <a:avLst>
              <a:gd fmla="val 16667" name="adj"/>
            </a:avLst>
          </a:prstGeom>
          <a:solidFill>
            <a:srgbClr val="E8F6EF"/>
          </a:solidFill>
          <a:ln cap="flat" cmpd="sng" w="15875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6711696" y="1709928"/>
            <a:ext cx="32552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50"/>
              <a:buFont typeface="Arial"/>
              <a:buNone/>
            </a:pPr>
            <a:r>
              <a:rPr b="1" i="0" lang="en-US" sz="105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DATA + MODEL MANAGEMENT</a:t>
            </a:r>
            <a:endParaRPr sz="1800"/>
          </a:p>
        </p:txBody>
      </p:sp>
      <p:cxnSp>
        <p:nvCxnSpPr>
          <p:cNvPr id="462" name="Google Shape;462;p14"/>
          <p:cNvCxnSpPr/>
          <p:nvPr/>
        </p:nvCxnSpPr>
        <p:spPr>
          <a:xfrm>
            <a:off x="8339327" y="2249424"/>
            <a:ext cx="0" cy="1280100"/>
          </a:xfrm>
          <a:prstGeom prst="straightConnector1">
            <a:avLst/>
          </a:prstGeom>
          <a:noFill/>
          <a:ln cap="flat" cmpd="sng" w="13950">
            <a:solidFill>
              <a:srgbClr val="27977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3" name="Google Shape;463;p14"/>
          <p:cNvSpPr/>
          <p:nvPr/>
        </p:nvSpPr>
        <p:spPr>
          <a:xfrm>
            <a:off x="841248" y="5248656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MLOps process reference</a:t>
            </a:r>
            <a:endParaRPr sz="1800"/>
          </a:p>
        </p:txBody>
      </p:sp>
      <p:sp>
        <p:nvSpPr>
          <p:cNvPr id="464" name="Google Shape;464;p14"/>
          <p:cNvSpPr/>
          <p:nvPr/>
        </p:nvSpPr>
        <p:spPr>
          <a:xfrm>
            <a:off x="868680" y="5669280"/>
            <a:ext cx="1046988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1078992" y="5779008"/>
            <a:ext cx="45720" cy="256032"/>
          </a:xfrm>
          <a:prstGeom prst="rect">
            <a:avLst/>
          </a:prstGeom>
          <a:solidFill>
            <a:srgbClr val="1E4F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1298448" y="5715000"/>
            <a:ext cx="9738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30"/>
              <a:buFont typeface="Arial"/>
              <a:buNone/>
            </a:pPr>
            <a:r>
              <a:rPr b="1" i="0" lang="en-US" sz="11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The lifecycle continues after deployment through serving, monitoring, and response.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MAP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Nine Lectures, One Evidence Chain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15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5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13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832104" y="1563624"/>
            <a:ext cx="5285232" cy="3364992"/>
          </a:xfrm>
          <a:prstGeom prst="roundRect">
            <a:avLst>
              <a:gd fmla="val 815" name="adj"/>
            </a:avLst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9572" y="1600200"/>
            <a:ext cx="2030297" cy="3291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15"/>
          <p:cNvCxnSpPr/>
          <p:nvPr/>
        </p:nvCxnSpPr>
        <p:spPr>
          <a:xfrm>
            <a:off x="6446520" y="1892808"/>
            <a:ext cx="475488" cy="0"/>
          </a:xfrm>
          <a:prstGeom prst="straightConnector1">
            <a:avLst/>
          </a:prstGeom>
          <a:noFill/>
          <a:ln cap="flat" cmpd="sng" w="203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15"/>
          <p:cNvSpPr/>
          <p:nvPr/>
        </p:nvSpPr>
        <p:spPr>
          <a:xfrm>
            <a:off x="7050024" y="1801368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40"/>
              <a:buFont typeface="Arial"/>
              <a:buNone/>
            </a:pPr>
            <a:r>
              <a:rPr b="1" i="0" lang="en-US" sz="74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OUR COURSE ORDER</a:t>
            </a:r>
            <a:endParaRPr b="0" i="0" sz="7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6565392" y="2176272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6995160" y="2176272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AI systems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565392" y="2441448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6995160" y="2441448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ML lifecycle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6565392" y="2706624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6995160" y="2706624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6565392" y="2971800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6995160" y="2971800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6565392" y="3236976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6995160" y="3236976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data validation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565392" y="3502152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6995160" y="3502152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experiments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6565392" y="3767328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6995160" y="3767328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00"/>
              <a:buFont typeface="Arial"/>
              <a:buNone/>
            </a:pPr>
            <a:r>
              <a:rPr b="0" i="0" lang="en-US" sz="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6565392" y="4032504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6995160" y="4032504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6565392" y="4297680"/>
            <a:ext cx="292608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70"/>
              <a:buFont typeface="Arial"/>
              <a:buNone/>
            </a:pPr>
            <a:r>
              <a:rPr b="1" i="0" lang="en-US" sz="77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endParaRPr b="0" i="0" sz="7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6995160" y="4297680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00"/>
              <a:buFont typeface="Arial"/>
              <a:buNone/>
            </a:pPr>
            <a:r>
              <a:rPr b="1" i="0" lang="en-US" sz="80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15"/>
          <p:cNvCxnSpPr/>
          <p:nvPr/>
        </p:nvCxnSpPr>
        <p:spPr>
          <a:xfrm>
            <a:off x="1078992" y="5815584"/>
            <a:ext cx="950976" cy="0"/>
          </a:xfrm>
          <a:prstGeom prst="straightConnector1">
            <a:avLst/>
          </a:prstGeom>
          <a:noFill/>
          <a:ln cap="flat" cmpd="sng" w="2285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15"/>
          <p:cNvSpPr/>
          <p:nvPr/>
        </p:nvSpPr>
        <p:spPr>
          <a:xfrm>
            <a:off x="2176272" y="5715000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70"/>
              <a:buFont typeface="Arial"/>
              <a:buNone/>
            </a:pPr>
            <a:r>
              <a:rPr b="1" i="0" lang="en-US" sz="107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Each lecture owns one decision and adds evidence to the same system.</a:t>
            </a:r>
            <a:endParaRPr b="0" i="0" sz="107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6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PROJECT EVIDENCE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The Project Builds an Evidence Trail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p16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16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14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1005840" y="1664208"/>
            <a:ext cx="9966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00"/>
              <a:buFont typeface="Arial"/>
              <a:buNone/>
            </a:pPr>
            <a:r>
              <a:rPr b="1" i="0" lang="en-US" sz="14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FireWatch becomes credible one engineering decision at a time—not in one final demo.</a:t>
            </a:r>
            <a:endParaRPr b="0" i="0" sz="14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6"/>
          <p:cNvCxnSpPr/>
          <p:nvPr/>
        </p:nvCxnSpPr>
        <p:spPr>
          <a:xfrm>
            <a:off x="1051560" y="2761488"/>
            <a:ext cx="9921240" cy="0"/>
          </a:xfrm>
          <a:prstGeom prst="straightConnector1">
            <a:avLst/>
          </a:prstGeom>
          <a:noFill/>
          <a:ln cap="flat" cmpd="sng" w="139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6"/>
          <p:cNvSpPr/>
          <p:nvPr/>
        </p:nvSpPr>
        <p:spPr>
          <a:xfrm>
            <a:off x="1001268" y="2711196"/>
            <a:ext cx="100584" cy="100584"/>
          </a:xfrm>
          <a:prstGeom prst="ellipse">
            <a:avLst/>
          </a:prstGeom>
          <a:solidFill>
            <a:srgbClr val="E69C31"/>
          </a:solidFill>
          <a:ln cap="flat" cmpd="sng" w="11425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4" name="Google Shape;514;p16"/>
          <p:cNvSpPr/>
          <p:nvPr/>
        </p:nvSpPr>
        <p:spPr>
          <a:xfrm>
            <a:off x="61264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10"/>
              <a:buFont typeface="Arial"/>
              <a:buNone/>
            </a:pPr>
            <a:r>
              <a:rPr b="1" i="0" lang="en-US" sz="71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241858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6" name="Google Shape;516;p16"/>
          <p:cNvSpPr/>
          <p:nvPr/>
        </p:nvSpPr>
        <p:spPr>
          <a:xfrm>
            <a:off x="202996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383590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18" name="Google Shape;518;p16"/>
          <p:cNvSpPr/>
          <p:nvPr/>
        </p:nvSpPr>
        <p:spPr>
          <a:xfrm>
            <a:off x="344728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data checks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525322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0" name="Google Shape;520;p16"/>
          <p:cNvSpPr/>
          <p:nvPr/>
        </p:nvSpPr>
        <p:spPr>
          <a:xfrm>
            <a:off x="486460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experiment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667054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2" name="Google Shape;522;p16"/>
          <p:cNvSpPr/>
          <p:nvPr/>
        </p:nvSpPr>
        <p:spPr>
          <a:xfrm>
            <a:off x="628192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808786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4" name="Google Shape;524;p16"/>
          <p:cNvSpPr/>
          <p:nvPr/>
        </p:nvSpPr>
        <p:spPr>
          <a:xfrm>
            <a:off x="769924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950518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6" name="Google Shape;526;p16"/>
          <p:cNvSpPr/>
          <p:nvPr/>
        </p:nvSpPr>
        <p:spPr>
          <a:xfrm>
            <a:off x="911656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10922508" y="2711196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28" name="Google Shape;528;p16"/>
          <p:cNvSpPr/>
          <p:nvPr/>
        </p:nvSpPr>
        <p:spPr>
          <a:xfrm>
            <a:off x="10533888" y="2907792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10"/>
              <a:buFont typeface="Arial"/>
              <a:buNone/>
            </a:pPr>
            <a:r>
              <a:rPr b="0" i="0" lang="en-US" sz="7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 b="0" i="0" sz="7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16"/>
          <p:cNvCxnSpPr/>
          <p:nvPr/>
        </p:nvCxnSpPr>
        <p:spPr>
          <a:xfrm>
            <a:off x="1554480" y="4178808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p16"/>
          <p:cNvSpPr/>
          <p:nvPr/>
        </p:nvSpPr>
        <p:spPr>
          <a:xfrm>
            <a:off x="1554480" y="39136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10"/>
              <a:buFont typeface="Arial"/>
              <a:buNone/>
            </a:pPr>
            <a:r>
              <a:rPr b="1" i="0" lang="en-US" sz="81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Frame the system</a:t>
            </a:r>
            <a:endParaRPr b="0" i="0" sz="8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3200400" y="3904488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10"/>
              <a:buFont typeface="Arial"/>
              <a:buNone/>
            </a:pPr>
            <a:r>
              <a:rPr b="0" i="0" lang="en-US" sz="91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define the user decision, boundary, and first risks</a:t>
            </a:r>
            <a:endParaRPr b="0" i="0" sz="9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16"/>
          <p:cNvCxnSpPr/>
          <p:nvPr/>
        </p:nvCxnSpPr>
        <p:spPr>
          <a:xfrm>
            <a:off x="1554480" y="4562856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3" name="Google Shape;533;p16"/>
          <p:cNvSpPr/>
          <p:nvPr/>
        </p:nvSpPr>
        <p:spPr>
          <a:xfrm>
            <a:off x="1554480" y="4297680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10"/>
              <a:buFont typeface="Arial"/>
              <a:buNone/>
            </a:pPr>
            <a:r>
              <a:rPr b="1" i="0" lang="en-US" sz="81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Build evidence</a:t>
            </a:r>
            <a:endParaRPr b="0" i="0" sz="8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3200400" y="4288536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10"/>
              <a:buFont typeface="Arial"/>
              <a:buNone/>
            </a:pPr>
            <a:r>
              <a:rPr b="0" i="0" lang="en-US" sz="91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connect data, experiment, and test choices</a:t>
            </a:r>
            <a:endParaRPr b="0" i="0" sz="9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16"/>
          <p:cNvCxnSpPr/>
          <p:nvPr/>
        </p:nvCxnSpPr>
        <p:spPr>
          <a:xfrm>
            <a:off x="1554480" y="4946904"/>
            <a:ext cx="8778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6"/>
          <p:cNvSpPr/>
          <p:nvPr/>
        </p:nvSpPr>
        <p:spPr>
          <a:xfrm>
            <a:off x="1554480" y="4681728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56B7"/>
              </a:buClr>
              <a:buSzPts val="810"/>
              <a:buFont typeface="Arial"/>
              <a:buNone/>
            </a:pPr>
            <a:r>
              <a:rPr b="1" i="0" lang="en-US" sz="810" u="none" cap="none">
                <a:solidFill>
                  <a:srgbClr val="6F56B7"/>
                </a:solidFill>
                <a:latin typeface="Arial"/>
                <a:ea typeface="Arial"/>
                <a:cs typeface="Arial"/>
                <a:sym typeface="Arial"/>
              </a:rPr>
              <a:t>Operate and defend</a:t>
            </a:r>
            <a:endParaRPr b="0" i="0" sz="8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3200400" y="4672584"/>
            <a:ext cx="708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10"/>
              <a:buFont typeface="Arial"/>
              <a:buNone/>
            </a:pPr>
            <a:r>
              <a:rPr b="0" i="0" lang="en-US" sz="91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connect serving, monitoring, limits, and ownership</a:t>
            </a:r>
            <a:endParaRPr b="0" i="0" sz="9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1097280" y="5650992"/>
            <a:ext cx="100126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39" name="Google Shape;539;p16"/>
          <p:cNvSpPr/>
          <p:nvPr/>
        </p:nvSpPr>
        <p:spPr>
          <a:xfrm>
            <a:off x="1325880" y="5769864"/>
            <a:ext cx="9555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220"/>
              <a:buFont typeface="Arial"/>
              <a:buNone/>
            </a:pPr>
            <a:r>
              <a:rPr b="1" i="0" lang="en-US" sz="122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Every lab should make one system claim easier to trust.</a:t>
            </a:r>
            <a:endParaRPr b="0" i="0" sz="12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PREVIEW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Question 1: What System Are We Building?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17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17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15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17"/>
          <p:cNvCxnSpPr/>
          <p:nvPr/>
        </p:nvCxnSpPr>
        <p:spPr>
          <a:xfrm>
            <a:off x="914400" y="1737360"/>
            <a:ext cx="475488" cy="0"/>
          </a:xfrm>
          <a:prstGeom prst="straightConnector1">
            <a:avLst/>
          </a:prstGeom>
          <a:noFill/>
          <a:ln cap="flat" cmpd="sng" w="2030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17"/>
          <p:cNvSpPr/>
          <p:nvPr/>
        </p:nvSpPr>
        <p:spPr>
          <a:xfrm>
            <a:off x="1517904" y="16459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740"/>
              <a:buFont typeface="Arial"/>
              <a:buNone/>
            </a:pPr>
            <a:r>
              <a:rPr b="1" i="0" lang="en-US" sz="74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DEFINE THE DECISION</a:t>
            </a:r>
            <a:endParaRPr b="0" i="0" sz="7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960120" y="2139696"/>
            <a:ext cx="47091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800"/>
              <a:buFont typeface="Arial"/>
              <a:buNone/>
            </a:pPr>
            <a:r>
              <a:rPr b="1" i="0" lang="en-US" sz="1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Who acts on what output?</a:t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969264" y="33101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10"/>
              <a:buFont typeface="Arial"/>
              <a:buNone/>
            </a:pPr>
            <a:r>
              <a:rPr b="0" i="0" lang="en-US" sz="9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Before tools, make the boundary explicit.</a:t>
            </a:r>
            <a:endParaRPr b="0" i="0" sz="9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17"/>
          <p:cNvCxnSpPr/>
          <p:nvPr/>
        </p:nvCxnSpPr>
        <p:spPr>
          <a:xfrm>
            <a:off x="6126480" y="1755648"/>
            <a:ext cx="4892040" cy="0"/>
          </a:xfrm>
          <a:prstGeom prst="straightConnector1">
            <a:avLst/>
          </a:prstGeom>
          <a:noFill/>
          <a:ln cap="flat" cmpd="sng" w="1395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17"/>
          <p:cNvSpPr/>
          <p:nvPr/>
        </p:nvSpPr>
        <p:spPr>
          <a:xfrm>
            <a:off x="6126480" y="1901952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User and decision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8024774" y="1901952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who receives the alert, and what do they do?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17"/>
          <p:cNvCxnSpPr/>
          <p:nvPr/>
        </p:nvCxnSpPr>
        <p:spPr>
          <a:xfrm>
            <a:off x="6126480" y="2395728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p17"/>
          <p:cNvSpPr/>
          <p:nvPr/>
        </p:nvSpPr>
        <p:spPr>
          <a:xfrm>
            <a:off x="6126480" y="2468880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Acceptable behavior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8024774" y="2468880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what counts as useful, late, or wrong?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17"/>
          <p:cNvCxnSpPr/>
          <p:nvPr/>
        </p:nvCxnSpPr>
        <p:spPr>
          <a:xfrm>
            <a:off x="6126480" y="2962656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17"/>
          <p:cNvSpPr/>
          <p:nvPr/>
        </p:nvSpPr>
        <p:spPr>
          <a:xfrm>
            <a:off x="6126480" y="3035808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Runtime path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8024774" y="3035808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where does inference run, and what surrounds it?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17"/>
          <p:cNvCxnSpPr/>
          <p:nvPr/>
        </p:nvCxnSpPr>
        <p:spPr>
          <a:xfrm>
            <a:off x="6126480" y="3529584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17"/>
          <p:cNvSpPr/>
          <p:nvPr/>
        </p:nvSpPr>
        <p:spPr>
          <a:xfrm>
            <a:off x="6126480" y="3602736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Fallback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8024774" y="3602736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what happens when evidence is weak?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17"/>
          <p:cNvCxnSpPr/>
          <p:nvPr/>
        </p:nvCxnSpPr>
        <p:spPr>
          <a:xfrm>
            <a:off x="6126480" y="4096512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17"/>
          <p:cNvSpPr/>
          <p:nvPr/>
        </p:nvSpPr>
        <p:spPr>
          <a:xfrm>
            <a:off x="1874520" y="5559552"/>
            <a:ext cx="8458200" cy="512064"/>
          </a:xfrm>
          <a:prstGeom prst="roundRect">
            <a:avLst>
              <a:gd fmla="val 14286" name="adj"/>
            </a:avLst>
          </a:prstGeom>
          <a:solidFill>
            <a:srgbClr val="F4F8FD"/>
          </a:solidFill>
          <a:ln cap="flat" cmpd="sng" w="9525">
            <a:solidFill>
              <a:srgbClr val="1E4F91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568" name="Google Shape;568;p17"/>
          <p:cNvSpPr/>
          <p:nvPr/>
        </p:nvSpPr>
        <p:spPr>
          <a:xfrm>
            <a:off x="2148840" y="5715000"/>
            <a:ext cx="7909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40"/>
              <a:buFont typeface="Arial"/>
              <a:buNone/>
            </a:pPr>
            <a:r>
              <a:rPr b="1" i="0" lang="en-US" sz="114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Today we frame the questions; Lectures 3–4 will answer them.</a:t>
            </a:r>
            <a:endParaRPr b="0" i="0" sz="11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8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i="0" lang="en-US" sz="83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PREVIEW</a:t>
            </a:r>
            <a:endParaRPr b="0" i="0" sz="83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i="0" lang="en-US" sz="2450" u="none" cap="none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Question 2: What Evidence Can We Trust?</a:t>
            </a:r>
            <a:endParaRPr b="0" i="0" sz="24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18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18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16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i="0" lang="en-US" sz="72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b="0" i="0" sz="72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18"/>
          <p:cNvCxnSpPr/>
          <p:nvPr/>
        </p:nvCxnSpPr>
        <p:spPr>
          <a:xfrm>
            <a:off x="914400" y="1737360"/>
            <a:ext cx="475488" cy="0"/>
          </a:xfrm>
          <a:prstGeom prst="straightConnector1">
            <a:avLst/>
          </a:prstGeom>
          <a:noFill/>
          <a:ln cap="flat" cmpd="sng" w="2030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18"/>
          <p:cNvSpPr/>
          <p:nvPr/>
        </p:nvSpPr>
        <p:spPr>
          <a:xfrm>
            <a:off x="1517904" y="16459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740"/>
              <a:buFont typeface="Arial"/>
              <a:buNone/>
            </a:pPr>
            <a:r>
              <a:rPr b="1" i="0" lang="en-US" sz="74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MAKE CLAIMS CHECKABLE</a:t>
            </a:r>
            <a:endParaRPr b="0" i="0" sz="74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960120" y="2139696"/>
            <a:ext cx="47091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800"/>
              <a:buFont typeface="Arial"/>
              <a:buNone/>
            </a:pPr>
            <a:r>
              <a:rPr b="1" i="0" lang="en-US" sz="18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Data, experiments, and tests must leave evidence.</a:t>
            </a:r>
            <a:endParaRPr b="0" i="0" sz="18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969264" y="33101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910"/>
              <a:buFont typeface="Arial"/>
              <a:buNone/>
            </a:pPr>
            <a:r>
              <a:rPr b="0" i="0" lang="en-US" sz="91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Trust comes from linked checks—not one score.</a:t>
            </a:r>
            <a:endParaRPr b="0" i="0" sz="91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18"/>
          <p:cNvCxnSpPr/>
          <p:nvPr/>
        </p:nvCxnSpPr>
        <p:spPr>
          <a:xfrm>
            <a:off x="6126480" y="1755648"/>
            <a:ext cx="4892040" cy="0"/>
          </a:xfrm>
          <a:prstGeom prst="straightConnector1">
            <a:avLst/>
          </a:prstGeom>
          <a:noFill/>
          <a:ln cap="flat" cmpd="sng" w="13950">
            <a:solidFill>
              <a:srgbClr val="CC47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18"/>
          <p:cNvSpPr/>
          <p:nvPr/>
        </p:nvSpPr>
        <p:spPr>
          <a:xfrm>
            <a:off x="6126480" y="1901952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8024774" y="1901952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are inputs valid for the decision?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6" name="Google Shape;586;p18"/>
          <p:cNvCxnSpPr/>
          <p:nvPr/>
        </p:nvCxnSpPr>
        <p:spPr>
          <a:xfrm>
            <a:off x="6126480" y="2395728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18"/>
          <p:cNvSpPr/>
          <p:nvPr/>
        </p:nvSpPr>
        <p:spPr>
          <a:xfrm>
            <a:off x="6126480" y="2468880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Experiment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8024774" y="2468880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why this model and this result?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18"/>
          <p:cNvCxnSpPr/>
          <p:nvPr/>
        </p:nvCxnSpPr>
        <p:spPr>
          <a:xfrm>
            <a:off x="6126480" y="2962656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18"/>
          <p:cNvSpPr/>
          <p:nvPr/>
        </p:nvSpPr>
        <p:spPr>
          <a:xfrm>
            <a:off x="6126480" y="3035808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8024774" y="3035808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what must pass before release?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2" name="Google Shape;592;p18"/>
          <p:cNvCxnSpPr/>
          <p:nvPr/>
        </p:nvCxnSpPr>
        <p:spPr>
          <a:xfrm>
            <a:off x="6126480" y="3529584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3" name="Google Shape;593;p18"/>
          <p:cNvSpPr/>
          <p:nvPr/>
        </p:nvSpPr>
        <p:spPr>
          <a:xfrm>
            <a:off x="6126480" y="3602736"/>
            <a:ext cx="166969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880"/>
              <a:buFont typeface="Arial"/>
              <a:buNone/>
            </a:pPr>
            <a:r>
              <a:rPr b="1" i="0" lang="en-US" sz="880" u="none" cap="none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Version trail</a:t>
            </a:r>
            <a:endParaRPr b="0" i="0" sz="88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8024774" y="3602736"/>
            <a:ext cx="299374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900"/>
              <a:buFont typeface="Arial"/>
              <a:buNone/>
            </a:pPr>
            <a:r>
              <a:rPr b="0" i="0" lang="en-US" sz="900" u="none" cap="none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which data, code, model, and policy?</a:t>
            </a:r>
            <a:endParaRPr b="0" i="0" sz="9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" name="Google Shape;595;p18"/>
          <p:cNvCxnSpPr/>
          <p:nvPr/>
        </p:nvCxnSpPr>
        <p:spPr>
          <a:xfrm>
            <a:off x="6126480" y="4096512"/>
            <a:ext cx="48920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18"/>
          <p:cNvSpPr/>
          <p:nvPr/>
        </p:nvSpPr>
        <p:spPr>
          <a:xfrm>
            <a:off x="1874520" y="5559552"/>
            <a:ext cx="8458200" cy="512064"/>
          </a:xfrm>
          <a:prstGeom prst="roundRect">
            <a:avLst>
              <a:gd fmla="val 14286" name="adj"/>
            </a:avLst>
          </a:prstGeom>
          <a:solidFill>
            <a:srgbClr val="F4F8FD"/>
          </a:solidFill>
          <a:ln cap="flat" cmpd="sng" w="9525">
            <a:solidFill>
              <a:srgbClr val="1E4F91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2148840" y="5715000"/>
            <a:ext cx="79095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40"/>
              <a:buFont typeface="Arial"/>
              <a:buNone/>
            </a:pPr>
            <a:r>
              <a:rPr b="1" lang="en-US" sz="114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Today we see the chain; Lectures 5–7 will build it.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9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PREVIEW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lang="en-US" sz="2450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Question 3: How Will We Respond?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5" name="Google Shape;605;p19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6" name="Google Shape;606;p19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17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914400" y="1627632"/>
            <a:ext cx="10058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Operating the system means comparing signals with a baseline and assigning an action.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19"/>
          <p:cNvCxnSpPr/>
          <p:nvPr/>
        </p:nvCxnSpPr>
        <p:spPr>
          <a:xfrm>
            <a:off x="1051560" y="2176272"/>
            <a:ext cx="10104120" cy="0"/>
          </a:xfrm>
          <a:prstGeom prst="straightConnector1">
            <a:avLst/>
          </a:prstGeom>
          <a:noFill/>
          <a:ln cap="flat" cmpd="sng" w="1395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19"/>
          <p:cNvSpPr/>
          <p:nvPr/>
        </p:nvSpPr>
        <p:spPr>
          <a:xfrm>
            <a:off x="1051560" y="2322576"/>
            <a:ext cx="255391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Area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3678631" y="2322576"/>
            <a:ext cx="376641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7518197" y="2322576"/>
            <a:ext cx="3637483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760"/>
              <a:buFont typeface="Arial"/>
              <a:buNone/>
            </a:pPr>
            <a:r>
              <a:rPr b="1" lang="en-US" sz="760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7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19"/>
          <p:cNvCxnSpPr/>
          <p:nvPr/>
        </p:nvCxnSpPr>
        <p:spPr>
          <a:xfrm>
            <a:off x="1051560" y="2596896"/>
            <a:ext cx="101041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p19"/>
          <p:cNvSpPr/>
          <p:nvPr/>
        </p:nvSpPr>
        <p:spPr>
          <a:xfrm>
            <a:off x="1051560" y="2679192"/>
            <a:ext cx="255391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60"/>
              <a:buFont typeface="Arial"/>
              <a:buNone/>
            </a:pPr>
            <a:r>
              <a:rPr b="1" lang="en-US" sz="860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3678631" y="2679192"/>
            <a:ext cx="376641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latency, errors, availability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7518197" y="2679192"/>
            <a:ext cx="36374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fallback, restore, or investigate?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7" name="Google Shape;617;p19"/>
          <p:cNvCxnSpPr/>
          <p:nvPr/>
        </p:nvCxnSpPr>
        <p:spPr>
          <a:xfrm>
            <a:off x="1051560" y="3136392"/>
            <a:ext cx="101041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19"/>
          <p:cNvSpPr/>
          <p:nvPr/>
        </p:nvSpPr>
        <p:spPr>
          <a:xfrm>
            <a:off x="1051560" y="3209544"/>
            <a:ext cx="255391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860"/>
              <a:buFont typeface="Arial"/>
              <a:buNone/>
            </a:pPr>
            <a:r>
              <a:rPr b="1" lang="en-US" sz="860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3678631" y="3209544"/>
            <a:ext cx="376641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frame validity and profile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7518197" y="3209544"/>
            <a:ext cx="36374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accept, reject, or inspect?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1" name="Google Shape;621;p19"/>
          <p:cNvCxnSpPr/>
          <p:nvPr/>
        </p:nvCxnSpPr>
        <p:spPr>
          <a:xfrm>
            <a:off x="1051560" y="3666744"/>
            <a:ext cx="101041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2" name="Google Shape;622;p19"/>
          <p:cNvSpPr/>
          <p:nvPr/>
        </p:nvSpPr>
        <p:spPr>
          <a:xfrm>
            <a:off x="1051560" y="3739896"/>
            <a:ext cx="255391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860"/>
              <a:buFont typeface="Arial"/>
              <a:buNone/>
            </a:pPr>
            <a:r>
              <a:rPr b="1" lang="en-US" sz="860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Decisions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9"/>
          <p:cNvSpPr/>
          <p:nvPr/>
        </p:nvSpPr>
        <p:spPr>
          <a:xfrm>
            <a:off x="3678631" y="3739896"/>
            <a:ext cx="376641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alerts and later outcomes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9"/>
          <p:cNvSpPr/>
          <p:nvPr/>
        </p:nvSpPr>
        <p:spPr>
          <a:xfrm>
            <a:off x="7518197" y="3739896"/>
            <a:ext cx="36374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continue, retrain, or pause?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19"/>
          <p:cNvCxnSpPr/>
          <p:nvPr/>
        </p:nvCxnSpPr>
        <p:spPr>
          <a:xfrm>
            <a:off x="1051560" y="4197096"/>
            <a:ext cx="101041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6" name="Google Shape;626;p19"/>
          <p:cNvSpPr/>
          <p:nvPr/>
        </p:nvSpPr>
        <p:spPr>
          <a:xfrm>
            <a:off x="1051560" y="4270248"/>
            <a:ext cx="255391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56B7"/>
              </a:buClr>
              <a:buSzPts val="860"/>
              <a:buFont typeface="Arial"/>
              <a:buNone/>
            </a:pPr>
            <a:r>
              <a:rPr b="1" lang="en-US" sz="860">
                <a:solidFill>
                  <a:srgbClr val="6F56B7"/>
                </a:solidFill>
                <a:latin typeface="Arial"/>
                <a:ea typeface="Arial"/>
                <a:cs typeface="Arial"/>
                <a:sym typeface="Arial"/>
              </a:rPr>
              <a:t>Ownership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9"/>
          <p:cNvSpPr/>
          <p:nvPr/>
        </p:nvSpPr>
        <p:spPr>
          <a:xfrm>
            <a:off x="3678631" y="4270248"/>
            <a:ext cx="376641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gate and incident evidence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7518197" y="4270248"/>
            <a:ext cx="363748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860"/>
              <a:buFont typeface="Arial"/>
              <a:buNone/>
            </a:pPr>
            <a:r>
              <a:rPr lang="en-US" sz="86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ship, revert, or escalate?</a:t>
            </a:r>
            <a:endParaRPr sz="8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p19"/>
          <p:cNvCxnSpPr/>
          <p:nvPr/>
        </p:nvCxnSpPr>
        <p:spPr>
          <a:xfrm>
            <a:off x="1051560" y="4727448"/>
            <a:ext cx="1010412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19"/>
          <p:cNvCxnSpPr/>
          <p:nvPr/>
        </p:nvCxnSpPr>
        <p:spPr>
          <a:xfrm>
            <a:off x="1078992" y="5815584"/>
            <a:ext cx="950976" cy="0"/>
          </a:xfrm>
          <a:prstGeom prst="straightConnector1">
            <a:avLst/>
          </a:prstGeom>
          <a:noFill/>
          <a:ln cap="flat" cmpd="sng" w="2285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19"/>
          <p:cNvSpPr/>
          <p:nvPr/>
        </p:nvSpPr>
        <p:spPr>
          <a:xfrm>
            <a:off x="2176272" y="5715000"/>
            <a:ext cx="8046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70"/>
              <a:buFont typeface="Arial"/>
              <a:buNone/>
            </a:pPr>
            <a:r>
              <a:rPr b="1" lang="en-US" sz="107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Today we name the loop; Lectures 8–9 will implement it.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0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SEMESTER MAP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lang="en-US" sz="2450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Course Timeline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p20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20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2" name="Google Shape;642;p20"/>
          <p:cNvCxnSpPr/>
          <p:nvPr/>
        </p:nvCxnSpPr>
        <p:spPr>
          <a:xfrm>
            <a:off x="1097280" y="2944368"/>
            <a:ext cx="9692640" cy="0"/>
          </a:xfrm>
          <a:prstGeom prst="straightConnector1">
            <a:avLst/>
          </a:prstGeom>
          <a:noFill/>
          <a:ln cap="flat" cmpd="sng" w="139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20"/>
          <p:cNvSpPr/>
          <p:nvPr/>
        </p:nvSpPr>
        <p:spPr>
          <a:xfrm>
            <a:off x="1046988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4" name="Google Shape;644;p20"/>
          <p:cNvSpPr/>
          <p:nvPr/>
        </p:nvSpPr>
        <p:spPr>
          <a:xfrm>
            <a:off x="978408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1739319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6" name="Google Shape;646;p20"/>
          <p:cNvSpPr/>
          <p:nvPr/>
        </p:nvSpPr>
        <p:spPr>
          <a:xfrm>
            <a:off x="1670739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2431651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48" name="Google Shape;648;p20"/>
          <p:cNvSpPr/>
          <p:nvPr/>
        </p:nvSpPr>
        <p:spPr>
          <a:xfrm>
            <a:off x="2363071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3123982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0" name="Google Shape;650;p20"/>
          <p:cNvSpPr/>
          <p:nvPr/>
        </p:nvSpPr>
        <p:spPr>
          <a:xfrm>
            <a:off x="3055402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3816314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2" name="Google Shape;652;p20"/>
          <p:cNvSpPr/>
          <p:nvPr/>
        </p:nvSpPr>
        <p:spPr>
          <a:xfrm>
            <a:off x="3747734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4508645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4" name="Google Shape;654;p20"/>
          <p:cNvSpPr/>
          <p:nvPr/>
        </p:nvSpPr>
        <p:spPr>
          <a:xfrm>
            <a:off x="4440065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5200977" y="2894076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2700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6" name="Google Shape;656;p20"/>
          <p:cNvSpPr/>
          <p:nvPr/>
        </p:nvSpPr>
        <p:spPr>
          <a:xfrm>
            <a:off x="5132397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5893308" y="2894076"/>
            <a:ext cx="100584" cy="100584"/>
          </a:xfrm>
          <a:prstGeom prst="ellipse">
            <a:avLst/>
          </a:prstGeom>
          <a:solidFill>
            <a:srgbClr val="279771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20"/>
          <p:cNvSpPr/>
          <p:nvPr/>
        </p:nvSpPr>
        <p:spPr>
          <a:xfrm>
            <a:off x="5824728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6585639" y="2894076"/>
            <a:ext cx="100584" cy="100584"/>
          </a:xfrm>
          <a:prstGeom prst="ellipse">
            <a:avLst/>
          </a:prstGeom>
          <a:solidFill>
            <a:srgbClr val="279771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0" name="Google Shape;660;p20"/>
          <p:cNvSpPr/>
          <p:nvPr/>
        </p:nvSpPr>
        <p:spPr>
          <a:xfrm>
            <a:off x="6517059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7277971" y="2894076"/>
            <a:ext cx="100584" cy="100584"/>
          </a:xfrm>
          <a:prstGeom prst="ellipse">
            <a:avLst/>
          </a:prstGeom>
          <a:solidFill>
            <a:srgbClr val="279771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2" name="Google Shape;662;p20"/>
          <p:cNvSpPr/>
          <p:nvPr/>
        </p:nvSpPr>
        <p:spPr>
          <a:xfrm>
            <a:off x="7209391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7970302" y="2894076"/>
            <a:ext cx="100584" cy="100584"/>
          </a:xfrm>
          <a:prstGeom prst="ellipse">
            <a:avLst/>
          </a:prstGeom>
          <a:solidFill>
            <a:srgbClr val="279771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4" name="Google Shape;664;p20"/>
          <p:cNvSpPr/>
          <p:nvPr/>
        </p:nvSpPr>
        <p:spPr>
          <a:xfrm>
            <a:off x="7901722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8662634" y="2894076"/>
            <a:ext cx="100584" cy="100584"/>
          </a:xfrm>
          <a:prstGeom prst="ellipse">
            <a:avLst/>
          </a:prstGeom>
          <a:solidFill>
            <a:srgbClr val="279771"/>
          </a:solidFill>
          <a:ln cap="flat" cmpd="sng" w="12700">
            <a:solidFill>
              <a:srgbClr val="2797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6" name="Google Shape;666;p20"/>
          <p:cNvSpPr/>
          <p:nvPr/>
        </p:nvSpPr>
        <p:spPr>
          <a:xfrm>
            <a:off x="8594054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9354965" y="2894076"/>
            <a:ext cx="100584" cy="100584"/>
          </a:xfrm>
          <a:prstGeom prst="ellipse">
            <a:avLst/>
          </a:prstGeom>
          <a:solidFill>
            <a:srgbClr val="E69C31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68" name="Google Shape;668;p20"/>
          <p:cNvSpPr/>
          <p:nvPr/>
        </p:nvSpPr>
        <p:spPr>
          <a:xfrm>
            <a:off x="9286385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10047297" y="2894076"/>
            <a:ext cx="100584" cy="100584"/>
          </a:xfrm>
          <a:prstGeom prst="ellipse">
            <a:avLst/>
          </a:prstGeom>
          <a:solidFill>
            <a:srgbClr val="E69C31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0" name="Google Shape;670;p20"/>
          <p:cNvSpPr/>
          <p:nvPr/>
        </p:nvSpPr>
        <p:spPr>
          <a:xfrm>
            <a:off x="9978717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10739628" y="2894076"/>
            <a:ext cx="100584" cy="100584"/>
          </a:xfrm>
          <a:prstGeom prst="ellipse">
            <a:avLst/>
          </a:prstGeom>
          <a:solidFill>
            <a:srgbClr val="E69C31"/>
          </a:solidFill>
          <a:ln cap="flat" cmpd="sng" w="12700">
            <a:solidFill>
              <a:srgbClr val="E69C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72" name="Google Shape;672;p20"/>
          <p:cNvSpPr/>
          <p:nvPr/>
        </p:nvSpPr>
        <p:spPr>
          <a:xfrm>
            <a:off x="10671048" y="3127248"/>
            <a:ext cx="237744" cy="11887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1097280" y="2322576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Weeks 1-7: core lectures and foundations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6080760" y="352044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Weeks 8-15: guided implementation, reviews, demos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0"/>
          <p:cNvSpPr/>
          <p:nvPr/>
        </p:nvSpPr>
        <p:spPr>
          <a:xfrm>
            <a:off x="1143000" y="5742432"/>
            <a:ext cx="9921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30"/>
              <a:buFont typeface="Arial"/>
              <a:buNone/>
            </a:pPr>
            <a:r>
              <a:rPr b="1" lang="en-US" sz="103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The lecture sequence is short; the lab evidence trail continues all semester.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1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PROJECT STANDARD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lang="en-US" sz="2450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Project Direction: Model or System?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21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21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19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960120" y="1627632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The difference is whether the team can explain the complete decision path.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7" name="Google Shape;687;p21"/>
          <p:cNvCxnSpPr/>
          <p:nvPr/>
        </p:nvCxnSpPr>
        <p:spPr>
          <a:xfrm>
            <a:off x="1234440" y="2514600"/>
            <a:ext cx="9692640" cy="0"/>
          </a:xfrm>
          <a:prstGeom prst="straightConnector1">
            <a:avLst/>
          </a:prstGeom>
          <a:noFill/>
          <a:ln cap="flat" cmpd="sng" w="1395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p21"/>
          <p:cNvSpPr/>
          <p:nvPr/>
        </p:nvSpPr>
        <p:spPr>
          <a:xfrm>
            <a:off x="1234440" y="2660904"/>
            <a:ext cx="3010205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474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CC4747"/>
                </a:solidFill>
                <a:latin typeface="Arial"/>
                <a:ea typeface="Arial"/>
                <a:cs typeface="Arial"/>
                <a:sym typeface="Arial"/>
              </a:rPr>
              <a:t>Weak direction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1"/>
          <p:cNvSpPr/>
          <p:nvPr/>
        </p:nvSpPr>
        <p:spPr>
          <a:xfrm>
            <a:off x="4473245" y="2660904"/>
            <a:ext cx="6453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230"/>
              <a:buFont typeface="Arial"/>
              <a:buNone/>
            </a:pPr>
            <a:r>
              <a:rPr lang="en-US" sz="12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We trained a fire/smoke classifier.</a:t>
            </a:r>
            <a:endParaRPr sz="12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p21"/>
          <p:cNvCxnSpPr/>
          <p:nvPr/>
        </p:nvCxnSpPr>
        <p:spPr>
          <a:xfrm>
            <a:off x="1234440" y="3410712"/>
            <a:ext cx="96926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21"/>
          <p:cNvSpPr/>
          <p:nvPr/>
        </p:nvSpPr>
        <p:spPr>
          <a:xfrm>
            <a:off x="1234440" y="3483864"/>
            <a:ext cx="3010205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Strong direction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4473245" y="3483864"/>
            <a:ext cx="64538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230"/>
              <a:buFont typeface="Arial"/>
              <a:buNone/>
            </a:pPr>
            <a:r>
              <a:rPr lang="en-US" sz="123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We built FireWatch: validated input, alert policy, logs, fallback, and an owner.</a:t>
            </a:r>
            <a:endParaRPr sz="12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p21"/>
          <p:cNvCxnSpPr/>
          <p:nvPr/>
        </p:nvCxnSpPr>
        <p:spPr>
          <a:xfrm>
            <a:off x="1234440" y="4233672"/>
            <a:ext cx="96926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21"/>
          <p:cNvSpPr/>
          <p:nvPr/>
        </p:nvSpPr>
        <p:spPr>
          <a:xfrm>
            <a:off x="1097280" y="5650992"/>
            <a:ext cx="100126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14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695" name="Google Shape;695;p21"/>
          <p:cNvSpPr/>
          <p:nvPr/>
        </p:nvSpPr>
        <p:spPr>
          <a:xfrm>
            <a:off x="1325880" y="5769864"/>
            <a:ext cx="9555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A strong project explains behavior, evidence, operations, and limits.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2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LAB 1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2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lang="en-US" sz="2450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Lab 1: Frame the System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p22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22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20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22"/>
          <p:cNvCxnSpPr/>
          <p:nvPr/>
        </p:nvCxnSpPr>
        <p:spPr>
          <a:xfrm>
            <a:off x="1143000" y="1783080"/>
            <a:ext cx="9921240" cy="0"/>
          </a:xfrm>
          <a:prstGeom prst="straightConnector1">
            <a:avLst/>
          </a:prstGeom>
          <a:noFill/>
          <a:ln cap="flat" cmpd="sng" w="1395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22"/>
          <p:cNvSpPr/>
          <p:nvPr/>
        </p:nvSpPr>
        <p:spPr>
          <a:xfrm>
            <a:off x="1143000" y="1929384"/>
            <a:ext cx="268650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Team setup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2"/>
          <p:cNvSpPr/>
          <p:nvPr/>
        </p:nvSpPr>
        <p:spPr>
          <a:xfrm>
            <a:off x="4058107" y="1929384"/>
            <a:ext cx="700613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repository and working collaboration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22"/>
          <p:cNvCxnSpPr/>
          <p:nvPr/>
        </p:nvCxnSpPr>
        <p:spPr>
          <a:xfrm>
            <a:off x="1143000" y="2514600"/>
            <a:ext cx="9921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22"/>
          <p:cNvSpPr/>
          <p:nvPr/>
        </p:nvSpPr>
        <p:spPr>
          <a:xfrm>
            <a:off x="1143000" y="2587752"/>
            <a:ext cx="268650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Candidate system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2"/>
          <p:cNvSpPr/>
          <p:nvPr/>
        </p:nvSpPr>
        <p:spPr>
          <a:xfrm>
            <a:off x="4058107" y="2587752"/>
            <a:ext cx="700613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user, decision, model output, and system boundary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22"/>
          <p:cNvCxnSpPr/>
          <p:nvPr/>
        </p:nvCxnSpPr>
        <p:spPr>
          <a:xfrm>
            <a:off x="1143000" y="3172968"/>
            <a:ext cx="9921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p22"/>
          <p:cNvSpPr/>
          <p:nvPr/>
        </p:nvSpPr>
        <p:spPr>
          <a:xfrm>
            <a:off x="1143000" y="3246120"/>
            <a:ext cx="268650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9C3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69C31"/>
                </a:solidFill>
                <a:latin typeface="Arial"/>
                <a:ea typeface="Arial"/>
                <a:cs typeface="Arial"/>
                <a:sym typeface="Arial"/>
              </a:rPr>
              <a:t>AI justification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4058107" y="3246120"/>
            <a:ext cx="700613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why learned behavior is needed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p22"/>
          <p:cNvCxnSpPr/>
          <p:nvPr/>
        </p:nvCxnSpPr>
        <p:spPr>
          <a:xfrm>
            <a:off x="1143000" y="3831336"/>
            <a:ext cx="9921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22"/>
          <p:cNvSpPr/>
          <p:nvPr/>
        </p:nvSpPr>
        <p:spPr>
          <a:xfrm>
            <a:off x="1143000" y="3904488"/>
            <a:ext cx="2686507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977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79771"/>
                </a:solidFill>
                <a:latin typeface="Arial"/>
                <a:ea typeface="Arial"/>
                <a:cs typeface="Arial"/>
                <a:sym typeface="Arial"/>
              </a:rPr>
              <a:t>Feasibility + risk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4058107" y="3904488"/>
            <a:ext cx="700613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real data; wrong, late, or missing outcome; initial risks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22"/>
          <p:cNvCxnSpPr/>
          <p:nvPr/>
        </p:nvCxnSpPr>
        <p:spPr>
          <a:xfrm>
            <a:off x="1143000" y="4489704"/>
            <a:ext cx="9921240" cy="0"/>
          </a:xfrm>
          <a:prstGeom prst="straightConnector1">
            <a:avLst/>
          </a:prstGeom>
          <a:noFill/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p22"/>
          <p:cNvSpPr/>
          <p:nvPr/>
        </p:nvSpPr>
        <p:spPr>
          <a:xfrm>
            <a:off x="1143000" y="5742432"/>
            <a:ext cx="9921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30"/>
              <a:buFont typeface="Arial"/>
              <a:buNone/>
            </a:pPr>
            <a:r>
              <a:rPr b="1" lang="en-US" sz="103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Frame the system before choosing the model.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3"/>
          <p:cNvSpPr/>
          <p:nvPr/>
        </p:nvSpPr>
        <p:spPr>
          <a:xfrm>
            <a:off x="530352" y="219456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9"/>
              <a:buFont typeface="Arial"/>
              <a:buNone/>
            </a:pPr>
            <a:r>
              <a:rPr b="1" lang="en-US" sz="84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 sz="1800"/>
          </a:p>
        </p:txBody>
      </p:sp>
      <p:sp>
        <p:nvSpPr>
          <p:cNvPr id="726" name="Google Shape;726;p23"/>
          <p:cNvSpPr/>
          <p:nvPr/>
        </p:nvSpPr>
        <p:spPr>
          <a:xfrm>
            <a:off x="530352" y="493776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Arial"/>
              <a:buNone/>
            </a:pPr>
            <a:r>
              <a:rPr b="1" lang="en-US" sz="245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Course Mantra</a:t>
            </a:r>
            <a:endParaRPr sz="1800"/>
          </a:p>
        </p:txBody>
      </p:sp>
      <p:cxnSp>
        <p:nvCxnSpPr>
          <p:cNvPr id="727" name="Google Shape;727;p23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CD5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28" name="Google Shape;728;p23"/>
          <p:cNvSpPr/>
          <p:nvPr/>
        </p:nvSpPr>
        <p:spPr>
          <a:xfrm>
            <a:off x="530352" y="6455664"/>
            <a:ext cx="3200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1800"/>
          </a:p>
        </p:txBody>
      </p:sp>
      <p:sp>
        <p:nvSpPr>
          <p:cNvPr id="729" name="Google Shape;729;p23"/>
          <p:cNvSpPr/>
          <p:nvPr/>
        </p:nvSpPr>
        <p:spPr>
          <a:xfrm>
            <a:off x="10378440" y="6455664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b="0"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21</a:t>
            </a:r>
            <a:endParaRPr sz="1800"/>
          </a:p>
        </p:txBody>
      </p:sp>
      <p:sp>
        <p:nvSpPr>
          <p:cNvPr id="730" name="Google Shape;730;p23"/>
          <p:cNvSpPr/>
          <p:nvPr/>
        </p:nvSpPr>
        <p:spPr>
          <a:xfrm>
            <a:off x="768096" y="133502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SE4AI QUALITY GOALS / NATIVE REDRAW</a:t>
            </a:r>
            <a:endParaRPr sz="1800"/>
          </a:p>
        </p:txBody>
      </p:sp>
      <p:sp>
        <p:nvSpPr>
          <p:cNvPr id="731" name="Google Shape;731;p23"/>
          <p:cNvSpPr/>
          <p:nvPr/>
        </p:nvSpPr>
        <p:spPr>
          <a:xfrm>
            <a:off x="685800" y="1700784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 sz="1800"/>
          </a:p>
        </p:txBody>
      </p:sp>
      <p:sp>
        <p:nvSpPr>
          <p:cNvPr id="732" name="Google Shape;732;p23"/>
          <p:cNvSpPr/>
          <p:nvPr/>
        </p:nvSpPr>
        <p:spPr>
          <a:xfrm>
            <a:off x="2057400" y="1719072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2057400" y="1719072"/>
            <a:ext cx="3340989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5471541" y="1691639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74</a:t>
            </a:r>
            <a:endParaRPr sz="1800"/>
          </a:p>
        </p:txBody>
      </p:sp>
      <p:sp>
        <p:nvSpPr>
          <p:cNvPr id="735" name="Google Shape;735;p23"/>
          <p:cNvSpPr/>
          <p:nvPr/>
        </p:nvSpPr>
        <p:spPr>
          <a:xfrm>
            <a:off x="685800" y="203911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functional correctness</a:t>
            </a:r>
            <a:endParaRPr sz="1800"/>
          </a:p>
        </p:txBody>
      </p:sp>
      <p:sp>
        <p:nvSpPr>
          <p:cNvPr id="736" name="Google Shape;736;p23"/>
          <p:cNvSpPr/>
          <p:nvPr/>
        </p:nvSpPr>
        <p:spPr>
          <a:xfrm>
            <a:off x="2057400" y="2057400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2057400" y="2057400"/>
            <a:ext cx="1805940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3936491" y="202996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/>
          </a:p>
        </p:txBody>
      </p:sp>
      <p:sp>
        <p:nvSpPr>
          <p:cNvPr id="739" name="Google Shape;739;p23"/>
          <p:cNvSpPr/>
          <p:nvPr/>
        </p:nvSpPr>
        <p:spPr>
          <a:xfrm>
            <a:off x="685800" y="2377440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sz="1800"/>
          </a:p>
        </p:txBody>
      </p:sp>
      <p:sp>
        <p:nvSpPr>
          <p:cNvPr id="740" name="Google Shape;740;p23"/>
          <p:cNvSpPr/>
          <p:nvPr/>
        </p:nvSpPr>
        <p:spPr>
          <a:xfrm>
            <a:off x="2057400" y="2395728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2057400" y="2395728"/>
            <a:ext cx="1805940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3936491" y="2368296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1800"/>
          </a:p>
        </p:txBody>
      </p:sp>
      <p:sp>
        <p:nvSpPr>
          <p:cNvPr id="743" name="Google Shape;743;p23"/>
          <p:cNvSpPr/>
          <p:nvPr/>
        </p:nvSpPr>
        <p:spPr>
          <a:xfrm>
            <a:off x="685800" y="2715768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 sz="1800"/>
          </a:p>
        </p:txBody>
      </p:sp>
      <p:sp>
        <p:nvSpPr>
          <p:cNvPr id="744" name="Google Shape;744;p23"/>
          <p:cNvSpPr/>
          <p:nvPr/>
        </p:nvSpPr>
        <p:spPr>
          <a:xfrm>
            <a:off x="2057400" y="2734056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2057400" y="2734056"/>
            <a:ext cx="1128712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3259264" y="2706624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800"/>
          </a:p>
        </p:txBody>
      </p:sp>
      <p:sp>
        <p:nvSpPr>
          <p:cNvPr id="747" name="Google Shape;747;p23"/>
          <p:cNvSpPr/>
          <p:nvPr/>
        </p:nvSpPr>
        <p:spPr>
          <a:xfrm>
            <a:off x="685800" y="3054096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sz="1800"/>
          </a:p>
        </p:txBody>
      </p:sp>
      <p:sp>
        <p:nvSpPr>
          <p:cNvPr id="748" name="Google Shape;748;p23"/>
          <p:cNvSpPr/>
          <p:nvPr/>
        </p:nvSpPr>
        <p:spPr>
          <a:xfrm>
            <a:off x="2057400" y="3072384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2057400" y="3072384"/>
            <a:ext cx="857821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2988373" y="3044952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800"/>
          </a:p>
        </p:txBody>
      </p:sp>
      <p:sp>
        <p:nvSpPr>
          <p:cNvPr id="751" name="Google Shape;751;p23"/>
          <p:cNvSpPr/>
          <p:nvPr/>
        </p:nvSpPr>
        <p:spPr>
          <a:xfrm>
            <a:off x="685800" y="3392424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1800"/>
          </a:p>
        </p:txBody>
      </p:sp>
      <p:sp>
        <p:nvSpPr>
          <p:cNvPr id="752" name="Google Shape;752;p23"/>
          <p:cNvSpPr/>
          <p:nvPr/>
        </p:nvSpPr>
        <p:spPr>
          <a:xfrm>
            <a:off x="2057400" y="3410712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3"/>
          <p:cNvSpPr/>
          <p:nvPr/>
        </p:nvSpPr>
        <p:spPr>
          <a:xfrm>
            <a:off x="2057400" y="3410712"/>
            <a:ext cx="722376" cy="201168"/>
          </a:xfrm>
          <a:prstGeom prst="rect">
            <a:avLst/>
          </a:prstGeom>
          <a:solidFill>
            <a:srgbClr val="E69C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3"/>
          <p:cNvSpPr/>
          <p:nvPr/>
        </p:nvSpPr>
        <p:spPr>
          <a:xfrm>
            <a:off x="2852928" y="3383280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800"/>
          </a:p>
        </p:txBody>
      </p:sp>
      <p:sp>
        <p:nvSpPr>
          <p:cNvPr id="755" name="Google Shape;755;p23"/>
          <p:cNvSpPr/>
          <p:nvPr/>
        </p:nvSpPr>
        <p:spPr>
          <a:xfrm>
            <a:off x="685800" y="3730752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testability</a:t>
            </a:r>
            <a:endParaRPr sz="1800"/>
          </a:p>
        </p:txBody>
      </p:sp>
      <p:sp>
        <p:nvSpPr>
          <p:cNvPr id="756" name="Google Shape;756;p23"/>
          <p:cNvSpPr/>
          <p:nvPr/>
        </p:nvSpPr>
        <p:spPr>
          <a:xfrm>
            <a:off x="2057400" y="3749039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3"/>
          <p:cNvSpPr/>
          <p:nvPr/>
        </p:nvSpPr>
        <p:spPr>
          <a:xfrm>
            <a:off x="2057400" y="3749039"/>
            <a:ext cx="541782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3"/>
          <p:cNvSpPr/>
          <p:nvPr/>
        </p:nvSpPr>
        <p:spPr>
          <a:xfrm>
            <a:off x="2672334" y="3721607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800"/>
          </a:p>
        </p:txBody>
      </p:sp>
      <p:sp>
        <p:nvSpPr>
          <p:cNvPr id="759" name="Google Shape;759;p23"/>
          <p:cNvSpPr/>
          <p:nvPr/>
        </p:nvSpPr>
        <p:spPr>
          <a:xfrm>
            <a:off x="685800" y="4069080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explainability</a:t>
            </a:r>
            <a:endParaRPr sz="1800"/>
          </a:p>
        </p:txBody>
      </p:sp>
      <p:sp>
        <p:nvSpPr>
          <p:cNvPr id="760" name="Google Shape;760;p23"/>
          <p:cNvSpPr/>
          <p:nvPr/>
        </p:nvSpPr>
        <p:spPr>
          <a:xfrm>
            <a:off x="2057400" y="4087368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3"/>
          <p:cNvSpPr/>
          <p:nvPr/>
        </p:nvSpPr>
        <p:spPr>
          <a:xfrm>
            <a:off x="2057400" y="4087368"/>
            <a:ext cx="496633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3"/>
          <p:cNvSpPr/>
          <p:nvPr/>
        </p:nvSpPr>
        <p:spPr>
          <a:xfrm>
            <a:off x="2627185" y="4059935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/>
          </a:p>
        </p:txBody>
      </p:sp>
      <p:sp>
        <p:nvSpPr>
          <p:cNvPr id="763" name="Google Shape;763;p23"/>
          <p:cNvSpPr/>
          <p:nvPr/>
        </p:nvSpPr>
        <p:spPr>
          <a:xfrm>
            <a:off x="685800" y="4407408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maintainability</a:t>
            </a:r>
            <a:endParaRPr sz="1800"/>
          </a:p>
        </p:txBody>
      </p:sp>
      <p:sp>
        <p:nvSpPr>
          <p:cNvPr id="764" name="Google Shape;764;p23"/>
          <p:cNvSpPr/>
          <p:nvPr/>
        </p:nvSpPr>
        <p:spPr>
          <a:xfrm>
            <a:off x="2057400" y="4425696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3"/>
          <p:cNvSpPr/>
          <p:nvPr/>
        </p:nvSpPr>
        <p:spPr>
          <a:xfrm>
            <a:off x="2057400" y="4425696"/>
            <a:ext cx="496633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3"/>
          <p:cNvSpPr/>
          <p:nvPr/>
        </p:nvSpPr>
        <p:spPr>
          <a:xfrm>
            <a:off x="2627185" y="4398264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800"/>
          </a:p>
        </p:txBody>
      </p:sp>
      <p:sp>
        <p:nvSpPr>
          <p:cNvPr id="767" name="Google Shape;767;p23"/>
          <p:cNvSpPr/>
          <p:nvPr/>
        </p:nvSpPr>
        <p:spPr>
          <a:xfrm>
            <a:off x="685800" y="4745736"/>
            <a:ext cx="12435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780"/>
              <a:buFont typeface="Arial"/>
              <a:buNone/>
            </a:pPr>
            <a:r>
              <a:rPr b="0" lang="en-US" sz="78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sz="1800"/>
          </a:p>
        </p:txBody>
      </p:sp>
      <p:sp>
        <p:nvSpPr>
          <p:cNvPr id="768" name="Google Shape;768;p23"/>
          <p:cNvSpPr/>
          <p:nvPr/>
        </p:nvSpPr>
        <p:spPr>
          <a:xfrm>
            <a:off x="2057400" y="4764024"/>
            <a:ext cx="361188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3"/>
          <p:cNvSpPr/>
          <p:nvPr/>
        </p:nvSpPr>
        <p:spPr>
          <a:xfrm>
            <a:off x="2057400" y="4764024"/>
            <a:ext cx="406336" cy="201168"/>
          </a:xfrm>
          <a:prstGeom prst="rect">
            <a:avLst/>
          </a:prstGeom>
          <a:solidFill>
            <a:srgbClr val="2A6FC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3"/>
          <p:cNvSpPr/>
          <p:nvPr/>
        </p:nvSpPr>
        <p:spPr>
          <a:xfrm>
            <a:off x="2536888" y="4736592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18"/>
              <a:buFont typeface="Arial"/>
              <a:buNone/>
            </a:pPr>
            <a:r>
              <a:rPr b="1" lang="en-US" sz="819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800"/>
          </a:p>
        </p:txBody>
      </p:sp>
      <p:sp>
        <p:nvSpPr>
          <p:cNvPr id="771" name="Google Shape;771;p23"/>
          <p:cNvSpPr/>
          <p:nvPr/>
        </p:nvSpPr>
        <p:spPr>
          <a:xfrm>
            <a:off x="3200400" y="5212080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50"/>
              <a:buFont typeface="Arial"/>
              <a:buNone/>
            </a:pPr>
            <a:r>
              <a:rPr b="0" lang="en-US" sz="75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papers mentioning goal</a:t>
            </a:r>
            <a:endParaRPr sz="1800"/>
          </a:p>
        </p:txBody>
      </p:sp>
      <p:sp>
        <p:nvSpPr>
          <p:cNvPr id="772" name="Google Shape;772;p23"/>
          <p:cNvSpPr/>
          <p:nvPr/>
        </p:nvSpPr>
        <p:spPr>
          <a:xfrm>
            <a:off x="6446520" y="1691640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COURSE MANTRA</a:t>
            </a:r>
            <a:endParaRPr sz="1800"/>
          </a:p>
        </p:txBody>
      </p:sp>
      <p:sp>
        <p:nvSpPr>
          <p:cNvPr id="773" name="Google Shape;773;p23"/>
          <p:cNvSpPr/>
          <p:nvPr/>
        </p:nvSpPr>
        <p:spPr>
          <a:xfrm>
            <a:off x="6446520" y="2148840"/>
            <a:ext cx="4526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Model quality</a:t>
            </a:r>
            <a:endParaRPr sz="1800"/>
          </a:p>
        </p:txBody>
      </p:sp>
      <p:sp>
        <p:nvSpPr>
          <p:cNvPr id="774" name="Google Shape;774;p23"/>
          <p:cNvSpPr/>
          <p:nvPr/>
        </p:nvSpPr>
        <p:spPr>
          <a:xfrm>
            <a:off x="6446520" y="2688336"/>
            <a:ext cx="4983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is not system quality.</a:t>
            </a:r>
            <a:endParaRPr sz="1800"/>
          </a:p>
        </p:txBody>
      </p:sp>
      <p:sp>
        <p:nvSpPr>
          <p:cNvPr id="775" name="Google Shape;775;p23"/>
          <p:cNvSpPr/>
          <p:nvPr/>
        </p:nvSpPr>
        <p:spPr>
          <a:xfrm>
            <a:off x="6446520" y="3547872"/>
            <a:ext cx="461772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3"/>
          <p:cNvSpPr/>
          <p:nvPr/>
        </p:nvSpPr>
        <p:spPr>
          <a:xfrm>
            <a:off x="6711696" y="3749039"/>
            <a:ext cx="407822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72533"/>
                </a:solidFill>
                <a:latin typeface="Arial"/>
                <a:ea typeface="Arial"/>
                <a:cs typeface="Arial"/>
                <a:sym typeface="Arial"/>
              </a:rPr>
              <a:t>The chart reports frequency in reviewed papers—not an importance ranking.</a:t>
            </a:r>
            <a:endParaRPr sz="1800"/>
          </a:p>
        </p:txBody>
      </p:sp>
      <p:sp>
        <p:nvSpPr>
          <p:cNvPr id="777" name="Google Shape;777;p23"/>
          <p:cNvSpPr/>
          <p:nvPr/>
        </p:nvSpPr>
        <p:spPr>
          <a:xfrm>
            <a:off x="868680" y="5669280"/>
            <a:ext cx="10469880" cy="4754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3"/>
          <p:cNvSpPr/>
          <p:nvPr/>
        </p:nvSpPr>
        <p:spPr>
          <a:xfrm>
            <a:off x="1078992" y="5779008"/>
            <a:ext cx="45720" cy="256032"/>
          </a:xfrm>
          <a:prstGeom prst="rect">
            <a:avLst/>
          </a:prstGeom>
          <a:solidFill>
            <a:srgbClr val="1E4F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3"/>
          <p:cNvSpPr/>
          <p:nvPr/>
        </p:nvSpPr>
        <p:spPr>
          <a:xfrm>
            <a:off x="1298448" y="5715000"/>
            <a:ext cx="9738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30"/>
              <a:buFont typeface="Arial"/>
              <a:buNone/>
            </a:pPr>
            <a:r>
              <a:rPr b="1" lang="en-US" sz="11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Accuracy is one system-quality concern, not the whole quality argument.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5" name="Google Shape;785;p24"/>
          <p:cNvCxnSpPr/>
          <p:nvPr/>
        </p:nvCxnSpPr>
        <p:spPr>
          <a:xfrm>
            <a:off x="841248" y="368808"/>
            <a:ext cx="2222100" cy="0"/>
          </a:xfrm>
          <a:prstGeom prst="straightConnector1">
            <a:avLst/>
          </a:prstGeom>
          <a:noFill/>
          <a:ln cap="flat" cmpd="sng" w="25400">
            <a:solidFill>
              <a:srgbClr val="1E4F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24"/>
          <p:cNvSpPr/>
          <p:nvPr/>
        </p:nvSpPr>
        <p:spPr>
          <a:xfrm>
            <a:off x="841248" y="507754"/>
            <a:ext cx="2011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1150"/>
              <a:buFont typeface="Arial"/>
              <a:buNone/>
            </a:pPr>
            <a:r>
              <a:rPr b="1" i="0" lang="en-US" sz="1150" u="none" cap="none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15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11422018" y="368797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D5DF"/>
              </a:buClr>
              <a:buSzPts val="1700"/>
              <a:buFont typeface="Arial"/>
              <a:buNone/>
            </a:pPr>
            <a:r>
              <a:rPr b="1" i="0" lang="en-US" sz="1700" u="none" cap="none">
                <a:solidFill>
                  <a:srgbClr val="CCD5D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1700" u="non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8" name="Google Shape;788;p24" title="lecture_01_summary_film_narrated_v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339" y="899874"/>
            <a:ext cx="10206302" cy="574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5"/>
          <p:cNvSpPr/>
          <p:nvPr/>
        </p:nvSpPr>
        <p:spPr>
          <a:xfrm>
            <a:off x="530352" y="24688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830"/>
              <a:buFont typeface="Arial"/>
              <a:buNone/>
            </a:pPr>
            <a:r>
              <a:rPr b="1" lang="en-US" sz="83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5"/>
          <p:cNvSpPr/>
          <p:nvPr/>
        </p:nvSpPr>
        <p:spPr>
          <a:xfrm>
            <a:off x="530352" y="530352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3"/>
              </a:buClr>
              <a:buSzPts val="2450"/>
              <a:buFont typeface="Play"/>
              <a:buNone/>
            </a:pPr>
            <a:r>
              <a:rPr b="1" lang="en-US" sz="2450">
                <a:solidFill>
                  <a:srgbClr val="172533"/>
                </a:solidFill>
                <a:latin typeface="Play"/>
                <a:ea typeface="Play"/>
                <a:cs typeface="Play"/>
                <a:sym typeface="Play"/>
              </a:rPr>
              <a:t>Next Lecture</a:t>
            </a:r>
            <a:endParaRPr sz="2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p25"/>
          <p:cNvCxnSpPr/>
          <p:nvPr/>
        </p:nvCxnSpPr>
        <p:spPr>
          <a:xfrm>
            <a:off x="566928" y="1124712"/>
            <a:ext cx="10515600" cy="0"/>
          </a:xfrm>
          <a:prstGeom prst="straightConnector1">
            <a:avLst/>
          </a:prstGeom>
          <a:noFill/>
          <a:ln cap="flat" cmpd="sng" w="101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7" name="Google Shape;797;p25"/>
          <p:cNvSpPr/>
          <p:nvPr/>
        </p:nvSpPr>
        <p:spPr>
          <a:xfrm>
            <a:off x="10378440" y="6473952"/>
            <a:ext cx="1234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Lecture 1 | 23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530352" y="6473952"/>
            <a:ext cx="32004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AI Implementation Technologies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1828800" y="1920240"/>
            <a:ext cx="8549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F91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1E4F91"/>
                </a:solidFill>
                <a:latin typeface="Arial"/>
                <a:ea typeface="Arial"/>
                <a:cs typeface="Arial"/>
                <a:sym typeface="Arial"/>
              </a:rPr>
              <a:t>Next: ML Lifecycle and Pipeline Artifacts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0" name="Google Shape;800;p25"/>
          <p:cNvCxnSpPr/>
          <p:nvPr/>
        </p:nvCxnSpPr>
        <p:spPr>
          <a:xfrm>
            <a:off x="2057400" y="3090672"/>
            <a:ext cx="8092440" cy="0"/>
          </a:xfrm>
          <a:prstGeom prst="straightConnector1">
            <a:avLst/>
          </a:prstGeom>
          <a:noFill/>
          <a:ln cap="flat" cmpd="sng" w="13950">
            <a:solidFill>
              <a:srgbClr val="CCD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25"/>
          <p:cNvSpPr/>
          <p:nvPr/>
        </p:nvSpPr>
        <p:spPr>
          <a:xfrm>
            <a:off x="2007108" y="3040380"/>
            <a:ext cx="100584" cy="100584"/>
          </a:xfrm>
          <a:prstGeom prst="ellipse">
            <a:avLst/>
          </a:prstGeom>
          <a:solidFill>
            <a:srgbClr val="2A6FC5"/>
          </a:solidFill>
          <a:ln cap="flat" cmpd="sng" w="11425">
            <a:solidFill>
              <a:srgbClr val="2A6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2" name="Google Shape;802;p25"/>
          <p:cNvSpPr/>
          <p:nvPr/>
        </p:nvSpPr>
        <p:spPr>
          <a:xfrm>
            <a:off x="1618488" y="3236976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6FC5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2A6FC5"/>
                </a:solidFill>
                <a:latin typeface="Arial"/>
                <a:ea typeface="Arial"/>
                <a:cs typeface="Arial"/>
                <a:sym typeface="Arial"/>
              </a:rPr>
              <a:t>system view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4704588" y="3040380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4" name="Google Shape;804;p25"/>
          <p:cNvSpPr/>
          <p:nvPr/>
        </p:nvSpPr>
        <p:spPr>
          <a:xfrm>
            <a:off x="4315968" y="3236976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explicit pipeline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5"/>
          <p:cNvSpPr/>
          <p:nvPr/>
        </p:nvSpPr>
        <p:spPr>
          <a:xfrm>
            <a:off x="7402068" y="3040380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6" name="Google Shape;806;p25"/>
          <p:cNvSpPr/>
          <p:nvPr/>
        </p:nvSpPr>
        <p:spPr>
          <a:xfrm>
            <a:off x="7013448" y="3236976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artifacts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10099548" y="3040380"/>
            <a:ext cx="100584" cy="100584"/>
          </a:xfrm>
          <a:prstGeom prst="ellipse">
            <a:avLst/>
          </a:prstGeom>
          <a:solidFill>
            <a:srgbClr val="FFFFFF"/>
          </a:solidFill>
          <a:ln cap="flat" cmpd="sng" w="11425">
            <a:solidFill>
              <a:srgbClr val="5D70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808" name="Google Shape;808;p25"/>
          <p:cNvSpPr/>
          <p:nvPr/>
        </p:nvSpPr>
        <p:spPr>
          <a:xfrm>
            <a:off x="9710928" y="3236976"/>
            <a:ext cx="8778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reproducible run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5"/>
          <p:cNvSpPr/>
          <p:nvPr/>
        </p:nvSpPr>
        <p:spPr>
          <a:xfrm>
            <a:off x="1143000" y="5742432"/>
            <a:ext cx="9921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083"/>
              </a:buClr>
              <a:buSzPts val="1030"/>
              <a:buFont typeface="Arial"/>
              <a:buNone/>
            </a:pPr>
            <a:r>
              <a:rPr b="1" lang="en-US" sz="1030">
                <a:solidFill>
                  <a:srgbClr val="5D7083"/>
                </a:solidFill>
                <a:latin typeface="Arial"/>
                <a:ea typeface="Arial"/>
                <a:cs typeface="Arial"/>
                <a:sym typeface="Arial"/>
              </a:rPr>
              <a:t>We move from notebook experiments to reproducible, testable AI pipelines.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